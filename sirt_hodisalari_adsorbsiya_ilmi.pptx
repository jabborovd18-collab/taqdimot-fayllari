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400800" y="640080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00800" y="1298448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800" y="1956815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00800" y="2615184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3273552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00800" y="3931920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0" y="4590288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5248656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943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5D2C2"/>
                </a:solidFill>
                <a:latin typeface="Times New Roman"/>
              </a:rPr>
              <a:t>KOLLOID KIMYO  /  ILMIY TAQDIMOT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1078992"/>
            <a:ext cx="512064" cy="502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1426464"/>
            <a:ext cx="5394960" cy="15361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37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154680"/>
            <a:ext cx="4983480" cy="9326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0">
                <a:solidFill>
                  <a:srgbClr val="DCE8ED"/>
                </a:solidFill>
                <a:latin typeface="Times New Roman"/>
              </a:rPr>
              <a:t>Sirt energiyasi, adsorbsiya qonuniyatlari va g‘ovakli materiallar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370832"/>
            <a:ext cx="1828800" cy="283464"/>
          </a:xfrm>
          <a:prstGeom prst="roundRect">
            <a:avLst/>
          </a:prstGeom>
          <a:solidFill>
            <a:srgbClr val="0C4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384548"/>
            <a:ext cx="17556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u="none">
                <a:solidFill>
                  <a:srgbClr val="65D2C2"/>
                </a:solidFill>
                <a:latin typeface="Times New Roman"/>
              </a:rPr>
              <a:t>ILMIY TAQDIMOT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074920"/>
            <a:ext cx="50292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DCE8ED"/>
                </a:solidFill>
                <a:latin typeface="Times New Roman"/>
              </a:rPr>
              <a:t>Muallif: [F.I.Sh.]  •  [Tashkilot]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5321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9AB1BF"/>
                </a:solidFill>
                <a:latin typeface="Times New Roman"/>
              </a:rPr>
              <a:t>2026  |  O‘zbek tilida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6236208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AB1BF"/>
                </a:solidFill>
                <a:latin typeface="Times New Roman"/>
              </a:rPr>
              <a:t>Sxema; tajriba tasviri emas</a:t>
            </a:r>
          </a:p>
        </p:txBody>
      </p:sp>
      <p:pic>
        <p:nvPicPr>
          <p:cNvPr id="95" name="Picture 94" descr="interface_hero.png"/>
          <p:cNvPicPr>
            <a:picLocks noChangeAspect="1"/>
          </p:cNvPicPr>
          <p:nvPr/>
        </p:nvPicPr>
        <p:blipFill>
          <a:blip r:embed="rId2"/>
          <a:srcRect l="909" r="909"/>
          <a:stretch>
            <a:fillRect/>
          </a:stretch>
        </p:blipFill>
        <p:spPr>
          <a:xfrm>
            <a:off x="6537960" y="978408"/>
            <a:ext cx="4937760" cy="5029200"/>
          </a:xfrm>
          <a:prstGeom prst="rect">
            <a:avLst/>
          </a:prstGeom>
        </p:spPr>
      </p:pic>
      <p:sp>
        <p:nvSpPr>
          <p:cNvPr id="96" name="Rectangle 95"/>
          <p:cNvSpPr/>
          <p:nvPr/>
        </p:nvSpPr>
        <p:spPr>
          <a:xfrm>
            <a:off x="6537960" y="5532120"/>
            <a:ext cx="4937760" cy="475488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0" y="5632704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Times New Roman"/>
              </a:rPr>
              <a:t>SIRT-FAOL MODDANING BIR QATLAMI  •  SXEMA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7960" y="978408"/>
            <a:ext cx="4937760" cy="5029200"/>
          </a:xfrm>
          <a:prstGeom prst="rect">
            <a:avLst/>
          </a:prstGeom>
          <a:noFill/>
          <a:ln w="12700">
            <a:solidFill>
              <a:srgbClr val="2D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01 / YO‘NALISH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hodisalarini to‘rtta savol bilan tushunamiz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Yo‘nalish: energiya → sirt tarkibi → adsorbsiya modeli → ishonchli tajriba.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0292" cy="23957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2075688"/>
            <a:ext cx="438912" cy="438912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ENERGIYA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Sirt hosil qilishga qancha energiya kerak?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6968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24658A"/>
                </a:solidFill>
                <a:latin typeface="Times New Roman"/>
              </a:rPr>
              <a:t>Birlik maydon hosil qilish ishi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874519"/>
            <a:ext cx="50292" cy="23957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85032" y="2075688"/>
            <a:ext cx="438912" cy="43891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TAQSIMOT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Modda sirtga yig‘iladimi?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85032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85032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BA6A6"/>
                </a:solidFill>
                <a:latin typeface="Times New Roman"/>
              </a:rPr>
              <a:t>Sirt ortiqchasi va tarkib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1928" y="1874519"/>
            <a:ext cx="50292" cy="23957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3096" y="2075688"/>
            <a:ext cx="438912" cy="43891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1736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Bir qavatmi yoki ko‘p qavatmi?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83096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83096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E79B4B"/>
                </a:solidFill>
                <a:latin typeface="Times New Roman"/>
              </a:rPr>
              <a:t>Langmuir • Freundlich •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79992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9992" y="1874519"/>
            <a:ext cx="50292" cy="2395728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281160" y="2075688"/>
            <a:ext cx="438912" cy="438912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DALIL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Model ma’lumotga
mos keladimi?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81160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81160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D96C5F"/>
                </a:solidFill>
                <a:latin typeface="Times New Roman"/>
              </a:rPr>
              <a:t>Takroriy o‘lchov + xatolik + tekshiruv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944" y="4617720"/>
            <a:ext cx="10835640" cy="1078992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4944" y="4617720"/>
            <a:ext cx="50292" cy="107899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4809744"/>
            <a:ext cx="15910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658A"/>
                </a:solidFill>
                <a:latin typeface="Times New Roman"/>
              </a:rPr>
              <a:t>ASOSIY MAQSAD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4764024"/>
            <a:ext cx="8641080" cy="59436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400" b="0">
                <a:solidFill>
                  <a:srgbClr val="172B3A"/>
                </a:solidFill>
                <a:latin typeface="Times New Roman"/>
              </a:rPr>
              <a:t>Sirt hodisalarining sababini tushuntirish, adsorbsiya modellarini farqlash va o‘lchov natijalarini ehtiyotkor talqin qilish.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Asosiy tushunchalar: [1], [5], [7].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02 / TERMODINAMIKA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qatlamida kuchlar muvozanati buziladi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Suyuqlik ichidagi molekulaga kuchlar deyarli teng ta’sir qiladi. Sirt molekulasini esa suyuqlik ichkarisiga kuchliroq tortadi.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673352"/>
            <a:ext cx="516636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673352"/>
            <a:ext cx="50292" cy="452628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0195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9" name="Oval 8"/>
          <p:cNvSpPr/>
          <p:nvPr/>
        </p:nvSpPr>
        <p:spPr>
          <a:xfrm>
            <a:off x="1600200" y="2962656"/>
            <a:ext cx="502920" cy="502920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1847088" y="2719425"/>
            <a:ext cx="0" cy="49011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47088" y="3209544"/>
            <a:ext cx="0" cy="490118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356969" y="3209544"/>
            <a:ext cx="490119" cy="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47088" y="3209544"/>
            <a:ext cx="490118" cy="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497878" y="2860334"/>
            <a:ext cx="349210" cy="34921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47088" y="2860334"/>
            <a:ext cx="349209" cy="34921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97878" y="3209544"/>
            <a:ext cx="349210" cy="34920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47088" y="3209544"/>
            <a:ext cx="349209" cy="34920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87552" y="372160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10283F"/>
                </a:solidFill>
                <a:latin typeface="Times New Roman"/>
              </a:rPr>
              <a:t>HAJMDA
kuchlar tenglashadi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2624328"/>
            <a:ext cx="2423160" cy="2029968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62656" y="2798064"/>
            <a:ext cx="2423160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858768" y="2496312"/>
            <a:ext cx="475488" cy="47548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529584" y="2350008"/>
            <a:ext cx="566928" cy="384048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96512" y="2350008"/>
            <a:ext cx="566928" cy="384048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456432" y="2734056"/>
            <a:ext cx="640080" cy="13716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96512" y="2734056"/>
            <a:ext cx="640080" cy="13716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96512" y="2862072"/>
            <a:ext cx="0" cy="475488"/>
          </a:xfrm>
          <a:prstGeom prst="line">
            <a:avLst/>
          </a:prstGeom>
          <a:ln w="3302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90672" y="3968496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D96C5F"/>
                </a:solidFill>
                <a:latin typeface="Times New Roman"/>
              </a:rPr>
              <a:t>SIRTDA
yig‘indi kuch ichkariga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4626864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0">
                <a:solidFill>
                  <a:srgbClr val="536879"/>
                </a:solidFill>
                <a:latin typeface="Times New Roman"/>
              </a:rPr>
              <a:t>Sirt yuzasini kengaytirish uchun erkin energiya sarflanadi.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1673352"/>
            <a:ext cx="5349240" cy="182880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9385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5D2C2"/>
                </a:solidFill>
                <a:latin typeface="Times New Roman"/>
              </a:rPr>
              <a:t>ERKIN ENERGIYANING O‘ZGARISHI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23957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Cambria Math"/>
              </a:rPr>
              <a:t>dG = -S dT + V dP + Σ μ_i dn_i + γ 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2953512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70" b="1">
                <a:solidFill>
                  <a:srgbClr val="DCE8ED"/>
                </a:solidFill>
                <a:latin typeface="Cambria Math"/>
              </a:rPr>
              <a:t>T, P va tarkib o‘zgarmas bo‘lsa: dG_s = γ 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3730752"/>
            <a:ext cx="5349240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730752"/>
            <a:ext cx="50292" cy="24688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86784"/>
            <a:ext cx="4700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MUHIM TALQIN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407408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10283F"/>
                </a:solidFill>
                <a:latin typeface="Cambria Math"/>
              </a:rPr>
              <a:t>γ = (∂G/∂A)_(T,P,n)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92240" y="5138928"/>
            <a:ext cx="461772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37376" y="5330952"/>
            <a:ext cx="466344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>
                <a:latin typeface="Times New Roman"/>
              </a:rPr>
              <a:t>Suyuqlik–gaz chegarasida sirt tarangligi N/m bilan o‘lchanadi. Muvozanatdagi suyuqlik sirti uchun bu birlik J/m^2 ga teng.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Termodinamik ta’rif va sirt ortiqchasi: [1], [6].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03 / SIRT TARANGLIGI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Yangi sirt hosil qilish uchun energiya kerak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va eritma tarkibi suyuqlik sirtining xossalarini o‘zgartiradi; qattiq jismning namlanishi esa alohida xususiyatdir.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0784"/>
            <a:ext cx="55778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54772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4652010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456971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61872" y="3744468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366217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61872" y="2836926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8" y="275463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61872" y="1929384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18470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61872" y="1929384"/>
            <a:ext cx="0" cy="363016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61872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64308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26563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4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29000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69179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31436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71616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33872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5797296"/>
            <a:ext cx="5257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>
                <a:solidFill>
                  <a:srgbClr val="536879"/>
                </a:solidFill>
                <a:latin typeface="Times New Roman"/>
              </a:rPr>
              <a:t>Harorat / kritik harorat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110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36879"/>
                </a:solidFill>
                <a:latin typeface="Cambria Math"/>
              </a:rPr>
              <a:t>γ/γ0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61872" y="1929384"/>
            <a:ext cx="117310" cy="6573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79182" y="1995114"/>
            <a:ext cx="117311" cy="661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96493" y="2061272"/>
            <a:ext cx="117311" cy="6660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3804" y="2127873"/>
            <a:ext cx="117311" cy="6705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1115" y="2194932"/>
            <a:ext cx="117311" cy="6753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48426" y="2262464"/>
            <a:ext cx="117310" cy="6802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65736" y="2330485"/>
            <a:ext cx="117311" cy="6852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047" y="2399013"/>
            <a:ext cx="117311" cy="69055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00358" y="2468068"/>
            <a:ext cx="117311" cy="6960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17669" y="2537668"/>
            <a:ext cx="117311" cy="7016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34980" y="2607837"/>
            <a:ext cx="117311" cy="7076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52291" y="2678597"/>
            <a:ext cx="117310" cy="7137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69601" y="2749973"/>
            <a:ext cx="117311" cy="7201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86912" y="2821992"/>
            <a:ext cx="117311" cy="7269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04223" y="2894683"/>
            <a:ext cx="117311" cy="7339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21534" y="2968077"/>
            <a:ext cx="117311" cy="7413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38845" y="3042209"/>
            <a:ext cx="117311" cy="7490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56156" y="3117117"/>
            <a:ext cx="117310" cy="7572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73466" y="3192840"/>
            <a:ext cx="117311" cy="76585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90777" y="3269425"/>
            <a:ext cx="117311" cy="7749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08088" y="3346921"/>
            <a:ext cx="117311" cy="7846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25399" y="3425382"/>
            <a:ext cx="117311" cy="7948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2710" y="3504871"/>
            <a:ext cx="117311" cy="8058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60021" y="3585455"/>
            <a:ext cx="117310" cy="817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077331" y="3667213"/>
            <a:ext cx="117311" cy="8301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94642" y="3750231"/>
            <a:ext cx="117311" cy="8438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953" y="3834611"/>
            <a:ext cx="117311" cy="8585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29264" y="3920467"/>
            <a:ext cx="117311" cy="8746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46575" y="4007934"/>
            <a:ext cx="117311" cy="8923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63886" y="4097170"/>
            <a:ext cx="117310" cy="9119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781196" y="4188363"/>
            <a:ext cx="117311" cy="9337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8507" y="4281740"/>
            <a:ext cx="117311" cy="9584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015818" y="4377582"/>
            <a:ext cx="117311" cy="986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3129" y="4476240"/>
            <a:ext cx="117311" cy="10192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250440" y="4578167"/>
            <a:ext cx="117311" cy="10579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67751" y="4683966"/>
            <a:ext cx="117310" cy="11051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485061" y="4794476"/>
            <a:ext cx="117311" cy="11645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02372" y="4910930"/>
            <a:ext cx="117311" cy="12437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719683" y="5035304"/>
            <a:ext cx="117311" cy="13589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836994" y="5171197"/>
            <a:ext cx="117311" cy="15583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954305" y="5327028"/>
            <a:ext cx="117311" cy="23252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016752" y="5504688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1938528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36879"/>
                </a:solidFill>
                <a:latin typeface="Times New Roman"/>
              </a:rPr>
              <a:t>Sifat jihatdan ko‘rsatilgan; o‘lchov natijasi emas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47104" y="1700784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47104" y="1700784"/>
            <a:ext cx="50292" cy="10241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93992" y="1883664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HARORAT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3992" y="2203704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72B3A"/>
                </a:solidFill>
                <a:latin typeface="Times New Roman"/>
              </a:rPr>
              <a:t>Ko‘p suyuqliklarda qizdirish sirt tarangligini kamaytiradi; kritik haroratda u nolga intiladi.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47104" y="2898648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2898648"/>
            <a:ext cx="50292" cy="10241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3072384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658A"/>
                </a:solidFill>
                <a:latin typeface="Times New Roman"/>
              </a:rPr>
              <a:t>NAMLANISH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93992" y="340156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172B3A"/>
                </a:solidFill>
                <a:latin typeface="Cambria Math"/>
              </a:rPr>
              <a:t>γ_SV - γ_SL = γ_LV cos(θ)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547104" y="4096512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47104" y="4096512"/>
            <a:ext cx="50292" cy="10241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93992" y="4270248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ANTONOV QOIDASI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92" y="4599432"/>
            <a:ext cx="43891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72B3A"/>
                </a:solidFill>
                <a:latin typeface="Times New Roman"/>
              </a:rPr>
              <a:t>Antonov qoidasi ayrim, cheklangan aralashuvchi suyuqliklar uchun taxminiy yaqinlashuvdir; u universal qonun emas.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565392" y="5385816"/>
            <a:ext cx="4892040" cy="5120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57416" y="5522976"/>
            <a:ext cx="450799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36879"/>
                </a:solidFill>
                <a:latin typeface="Times New Roman"/>
              </a:rPr>
              <a:t>20 °C da suv–havo sirt tarangligi taxminan 72,8 mN/m.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Nazariy manbalar: [3], [6].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04 / EGRI SIRTLAR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Egrilik tomchi va g‘ovak ichidagi bosimga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Egrilik bosimlar farqini yuzaga keltiradi; g‘ovak ichidagi bug‘ning kondensatsiyasi ham shu ta’sir bilan izohlanadi.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9928"/>
            <a:ext cx="4645152" cy="44622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09928"/>
            <a:ext cx="50292" cy="446227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4114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658A"/>
                </a:solidFill>
                <a:latin typeface="Times New Roman"/>
              </a:rPr>
              <a:t>LAPLAS BOSIMI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13432"/>
            <a:ext cx="41330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10283F"/>
                </a:solidFill>
                <a:latin typeface="Cambria Math"/>
              </a:rPr>
              <a:t>Δp = γ(1/R1 + 1/R2)</a:t>
            </a:r>
          </a:p>
        </p:txBody>
      </p:sp>
      <p:sp>
        <p:nvSpPr>
          <p:cNvPr id="10" name="Oval 9"/>
          <p:cNvSpPr/>
          <p:nvPr/>
        </p:nvSpPr>
        <p:spPr>
          <a:xfrm>
            <a:off x="1325880" y="3127248"/>
            <a:ext cx="1078992" cy="1078992"/>
          </a:xfrm>
          <a:prstGeom prst="ellipse">
            <a:avLst/>
          </a:prstGeom>
          <a:solidFill>
            <a:srgbClr val="E9F2F6"/>
          </a:solidFill>
          <a:ln w="1651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36776" y="3438144"/>
            <a:ext cx="457200" cy="45720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65376" y="3666744"/>
            <a:ext cx="621792" cy="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79576" y="4334256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1">
                <a:solidFill>
                  <a:srgbClr val="10283F"/>
                </a:solidFill>
                <a:latin typeface="Times New Roman"/>
              </a:rPr>
              <a:t>Tomchi ichida bosim katta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36976" y="3063240"/>
            <a:ext cx="1133856" cy="1572768"/>
          </a:xfrm>
          <a:prstGeom prst="rect">
            <a:avLst/>
          </a:prstGeom>
          <a:solidFill>
            <a:srgbClr val="F4F7F8"/>
          </a:solidFill>
          <a:ln w="1270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3703320"/>
            <a:ext cx="877824" cy="804672"/>
          </a:xfrm>
          <a:prstGeom prst="rect">
            <a:avLst/>
          </a:prstGeom>
          <a:solidFill>
            <a:srgbClr val="B7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64992" y="3712463"/>
            <a:ext cx="155448" cy="109728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3822191"/>
            <a:ext cx="246888" cy="54865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67328" y="3822191"/>
            <a:ext cx="256032" cy="54865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23360" y="3712463"/>
            <a:ext cx="219456" cy="109728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454456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0283F"/>
                </a:solidFill>
                <a:latin typeface="Times New Roman"/>
              </a:rPr>
              <a:t>Botiq menisk
kapillyar ko‘tarilish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5330952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Pufakda ikki sirt bor: bosim farqi tomchinikidan ikki baravar katta. Kapillyar ko‘tarilish sirt tarangligi, kontakt burchagi va naycha radiusiga bog‘liq.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1709928"/>
            <a:ext cx="5870448" cy="1947672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956816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5D2C2"/>
                </a:solidFill>
                <a:latin typeface="Times New Roman"/>
              </a:rPr>
              <a:t>KELVIN MUNOSABATI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239572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 Math"/>
              </a:rPr>
              <a:t>ln(p/p_sat) = (γ V_m/RT)(1/R1 + 1/R2)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99232"/>
            <a:ext cx="528523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CE8ED"/>
                </a:solidFill>
                <a:latin typeface="Times New Roman"/>
              </a:rPr>
              <a:t>Sirt qavariq yoki botiq bo‘lishiga qarab bug‘ bosimi ortadi yoki kamayadi.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3904487"/>
            <a:ext cx="5870448" cy="2267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3904487"/>
            <a:ext cx="50292" cy="226771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25312" y="4133087"/>
            <a:ext cx="5230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NAMLOVCHI SILINDRSIMON G‘OVAK UCHUN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0448" y="4535424"/>
            <a:ext cx="532180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10283F"/>
                </a:solidFill>
                <a:latin typeface="Cambria Math"/>
              </a:rPr>
              <a:t>ln(p/p_sat) ≈ -2γV_m cos(θ)/(r_p RT)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75504"/>
            <a:ext cx="52578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36879"/>
                </a:solidFill>
                <a:latin typeface="Times New Roman"/>
              </a:rPr>
              <a:t>Namlanadigan silindrsimon g‘ovakda bug‘ to‘yingan bosimga yetmasdan suyuqlikka aylanishi mumkin. G‘ovak tarmog‘i murakkab bo‘lsa, to‘lish va bo‘shash yo‘llari farqlanadi.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Kapillyarlik va sirt kuchlari: [3], [6].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05 / 18</a:t>
            </a:r>
          </a:p>
        </p:txBody>
      </p:sp>
      <p:pic>
        <p:nvPicPr>
          <p:cNvPr id="34" name="Picture 33" descr="curvature_wetting.png"/>
          <p:cNvPicPr>
            <a:picLocks noChangeAspect="1"/>
          </p:cNvPicPr>
          <p:nvPr/>
        </p:nvPicPr>
        <p:blipFill>
          <a:blip r:embed="rId2"/>
          <a:srcRect l="8120" r="8120"/>
          <a:stretch>
            <a:fillRect/>
          </a:stretch>
        </p:blipFill>
        <p:spPr>
          <a:xfrm>
            <a:off x="914400" y="2990088"/>
            <a:ext cx="4224528" cy="2139696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914400" y="2990088"/>
            <a:ext cx="4224528" cy="2139696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05 / GIBBS ADSORBSIYASI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Gibbs sirt ortiqchasi sirtga boyishni ko‘rsatadi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Gibbsning shartli ajratuvchi sirti bo‘yicha hisoblanadigan ortiqcha miqdor; bu adsorblangan molekulalarning mutlaq soni emas.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28216"/>
            <a:ext cx="5074920" cy="134416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29384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>
                <a:solidFill>
                  <a:srgbClr val="65D2C2"/>
                </a:solidFill>
                <a:latin typeface="Times New Roman"/>
              </a:rPr>
              <a:t>IONLARGA AJRALMAYDIGAN MODDA; T, p O‘ZGARMAS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13432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 Math"/>
              </a:rPr>
              <a:t>Γ_2 = -(1/RT) ∂γ/∂ln(a_2)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10128"/>
            <a:ext cx="5074920" cy="2697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3310128"/>
            <a:ext cx="50292" cy="26974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387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A6A6"/>
                </a:solidFill>
                <a:latin typeface="Times New Roman"/>
              </a:rPr>
              <a:t>BU TENGLAMA NIMANI BILDIRADI?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950208"/>
            <a:ext cx="4526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70" b="0">
                <a:solidFill>
                  <a:srgbClr val="172B3A"/>
                </a:solidFill>
                <a:latin typeface="Times New Roman"/>
              </a:rPr>
              <a:t>•  Γ_2 &gt; 0 bo‘lsa, modda sirt qatlamida ko‘proq bo‘ladi.
•  Sirt-faol modda ko‘payganda sirt tarangligi odatda kamayadi.
•  Suyultirilgan eritmada konsentratsiya hosilasi qo‘llanadi.
•  Tuzli eritmada ionlarning ajralishi va zaryadi hisobga olinadi.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728216"/>
            <a:ext cx="539496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728216"/>
            <a:ext cx="50292" cy="42793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938528"/>
            <a:ext cx="48006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9B4B"/>
                </a:solidFill>
                <a:latin typeface="Times New Roman"/>
              </a:rPr>
              <a:t>SIRT-FAOL MOLEKULANING TUZILISHI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3849624"/>
            <a:ext cx="4572000" cy="1618488"/>
          </a:xfrm>
          <a:prstGeom prst="roundRect">
            <a:avLst/>
          </a:prstGeom>
          <a:solidFill>
            <a:srgbClr val="E8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55664" y="3849624"/>
            <a:ext cx="4572000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0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6967728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858000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967728" y="3310128"/>
            <a:ext cx="109728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671816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7781544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7671816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81544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85632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8595360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485632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95360" y="3310128"/>
            <a:ext cx="109728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299448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409176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9299448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409176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13264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10222992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0113264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222992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726783" y="4645152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812280" y="4645152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769531" y="4602403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694093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0115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7577175" y="5166360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62672" y="5166360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619923" y="5123611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44485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20507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8528151" y="4599432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13648" y="4599432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570899" y="4556683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95461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71483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9469983" y="5138928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555480" y="5138928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12731" y="5096179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37293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13315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10420959" y="4617720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06456" y="4617720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463707" y="4574971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388269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64291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47104" y="276148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172B3A"/>
                </a:solidFill>
                <a:latin typeface="Times New Roman"/>
              </a:rPr>
              <a:t>Suvga moyil bosh qism suvda qoladi, suvdan qochuvchi zanjir esa havoga qaraydi; shu bois molekula sirtga yig‘iladi.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5596128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Traube qoidasi — empirik: gomologik qatorda CH2 zanjiri uzaysa, sirt-faollik ortishi mumkin.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Gibbs sirt ortiqchasi ta’rifi: [1].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06 / MEXANIZMLAR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Sorbsiya — sirtga yig‘ilish va hajmga yutilishni qamrab oladi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Jarayonni faqat egri chiziq shakliga qarab aniqlab bo‘lmaydi: faza, bog‘lanish va qaytarilish ham tekshiriladi.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47088"/>
            <a:ext cx="50292" cy="35387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3352" y="2139696"/>
            <a:ext cx="694944" cy="694944"/>
          </a:xfrm>
          <a:prstGeom prst="ellipse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19656" y="2532888"/>
            <a:ext cx="557784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42516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61972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1427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2808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12264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039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0" b="1">
                <a:solidFill>
                  <a:srgbClr val="10283F"/>
                </a:solidFill>
                <a:latin typeface="Times New Roman"/>
              </a:rPr>
              <a:t>FIZIKAVIY
ADSORBSIYA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Modda fazalar chegarasida to‘planadi. Odatda kuchsiz molekulalararo tortishishlar ustun; jarayon qaytar bo‘lishi mumkin.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4892040"/>
            <a:ext cx="1892807" cy="283464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24658A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1847088"/>
            <a:ext cx="50292" cy="35387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2139696"/>
            <a:ext cx="694944" cy="694944"/>
          </a:xfrm>
          <a:prstGeom prst="ellipse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82312" y="2331720"/>
            <a:ext cx="164592" cy="16459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38928" y="2331720"/>
            <a:ext cx="164592" cy="164592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414016"/>
            <a:ext cx="201168" cy="0"/>
          </a:xfrm>
          <a:prstGeom prst="line">
            <a:avLst/>
          </a:prstGeom>
          <a:ln w="2540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3075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0283F"/>
                </a:solidFill>
                <a:latin typeface="Times New Roman"/>
              </a:rPr>
              <a:t>KIMYOVIY ADSORBSIYA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Adsorbat sirt markazi bilan kimyoviy bog‘ hosil qilishi mumkin; tanlab birikish muhim.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59352" y="4892040"/>
            <a:ext cx="1892807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592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E79B4B"/>
                </a:solidFill>
                <a:latin typeface="Times New Roman"/>
              </a:rPr>
              <a:t>Kimyoviy bog‘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1847088"/>
            <a:ext cx="50292" cy="35387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34071" y="2139696"/>
            <a:ext cx="694944" cy="694944"/>
          </a:xfrm>
          <a:prstGeom prst="ellipse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53527" y="2359152"/>
            <a:ext cx="256032" cy="25603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27848" y="2359152"/>
            <a:ext cx="256032" cy="256032"/>
          </a:xfrm>
          <a:prstGeom prst="ellipse">
            <a:avLst/>
          </a:prstGeom>
          <a:solidFill>
            <a:srgbClr val="6AC8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29016" y="2359152"/>
            <a:ext cx="256032" cy="256032"/>
          </a:xfrm>
          <a:prstGeom prst="ellipse">
            <a:avLst/>
          </a:prstGeom>
          <a:solidFill>
            <a:srgbClr val="A7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ABSORBSIYA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Yutilayotgan modda ikkinchi fazaning ichiga kirib, hajm bo‘ylab tarqaladi.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39712" y="4892040"/>
            <a:ext cx="1892807" cy="283464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1BA6A6"/>
                </a:solidFill>
                <a:latin typeface="Times New Roman"/>
              </a:rPr>
              <a:t>Hajm bo‘ylab yutilish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2688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1847088"/>
            <a:ext cx="50292" cy="3538728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14432" y="2139696"/>
            <a:ext cx="694944" cy="694944"/>
          </a:xfrm>
          <a:prstGeom prst="ellipse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06455" y="2286000"/>
            <a:ext cx="384048" cy="301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6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25328" y="2359152"/>
            <a:ext cx="146304" cy="146304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KAPILLYAR
KONDENSATSIYA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719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Bug‘ g‘ovak ichida suyuqlikka aylanib, bo‘shliqni to‘ldiradi; egrilik va g‘ovak o‘lchami muhim.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20072" y="4892040"/>
            <a:ext cx="1892807" cy="283464"/>
          </a:xfrm>
          <a:prstGeom prst="roundRect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6647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>
                <a:solidFill>
                  <a:srgbClr val="D96C5F"/>
                </a:solidFill>
                <a:latin typeface="Times New Roman"/>
              </a:rPr>
              <a:t>G‘ovakni suyuqlik to‘ldiradi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" y="5660136"/>
            <a:ext cx="10771632" cy="438912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769864"/>
            <a:ext cx="10378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40" b="1">
                <a:solidFill>
                  <a:srgbClr val="10283F"/>
                </a:solidFill>
                <a:latin typeface="Times New Roman"/>
              </a:rPr>
              <a:t>Farqi: kimyoviy adsorbsiya sirtning o‘zida sodir bo‘ladi; absorbsiya esa moddaning faza ichiga kirishidir.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Atamalar va mexanizmlar: [1], [5], [6].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07 / ADSORBSIYA MODELLARI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Izoterma adsorblangan miqdorni konsentratsiyaga bog‘laydi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o‘zgarmaganda adsorblangan miqdorning eritma konsentratsiyasi yoki nisbiy bosimga bog‘liqligi izoterma deyiladi.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67128" y="1828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FIZIK TASAVVUR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1828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ASOSIY SHAKL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182880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FOYDA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8" y="1828800"/>
            <a:ext cx="1965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CHEKLOV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50008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LANGMUIR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0008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Chegaralangan faol markazlar;
bir molekula qavati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2350008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050" b="1">
                <a:solidFill>
                  <a:srgbClr val="10283F"/>
                </a:solidFill>
                <a:latin typeface="Cambria Math"/>
              </a:rPr>
              <a:t>q_e = q_m b C_e/(1+b C_e)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350008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BA6A6"/>
                </a:solidFill>
                <a:latin typeface="Times New Roman"/>
              </a:rPr>
              <a:t>Bir qavat sig‘imi, q_m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39" y="2350008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Teng markazlar; raqobatsiz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246120"/>
            <a:ext cx="10808208" cy="905256"/>
          </a:xfrm>
          <a:prstGeom prst="roundRect">
            <a:avLst/>
          </a:prstGeom>
          <a:solidFill>
            <a:srgbClr val="F0F4F6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383279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FREUNDLICH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3383279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Energetik jihatdan turli sirtlar;
tajriba ma’lumotiga mos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3383279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050" b="1">
                <a:solidFill>
                  <a:srgbClr val="10283F"/>
                </a:solidFill>
                <a:latin typeface="Cambria Math"/>
              </a:rPr>
              <a:t>q_e = K_F C_e^(1/n)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3383279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BA6A6"/>
                </a:solidFill>
                <a:latin typeface="Times New Roman"/>
              </a:rPr>
              <a:t>Faqat o‘rganilgan oraliqda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39" y="3383279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To‘yinish chegarasi yo‘q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79392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16552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4416552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Gazning ko‘p qavati;
sirt maydonini baholash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4416552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050" b="1">
                <a:solidFill>
                  <a:srgbClr val="10283F"/>
                </a:solidFill>
                <a:latin typeface="Cambria Math"/>
              </a:rPr>
              <a:t>v/v_m = f(p/p_0)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19" y="4416552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BA6A6"/>
                </a:solidFill>
                <a:latin typeface="Times New Roman"/>
              </a:rPr>
              <a:t>Bir qavat sig‘imi, v_m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4416552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G‘ovak turi va diapazon muhim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248656"/>
            <a:ext cx="10789920" cy="758952"/>
          </a:xfrm>
          <a:prstGeom prst="roundRect">
            <a:avLst/>
          </a:prstGeom>
          <a:solidFill>
            <a:srgbClr val="FFF4E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248656"/>
            <a:ext cx="50292" cy="75895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413248"/>
            <a:ext cx="1024128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Model farazlari, o‘lchov sharoiti, qoldiq xatolari va mustaqil tekshiruv birgalikda baholanadi. R^2 ning kattaligi yolg‘iz o‘zi yetarli dalil emas.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Izoterma modellarini qiyoslash: [5], [7].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A6A6"/>
                </a:solidFill>
                <a:latin typeface="Times New Roman"/>
              </a:rPr>
              <a:t>08 / BIR QAVAT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Langmuir: sirt markazlarida bir molekula qavati hosil bo‘ladi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Model dastlab gazlar uchun yaratilgan. Eritmada esa erituvchi, pH va raqobatdosh moddalar ham ta’sir qiladi.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19072"/>
            <a:ext cx="5074920" cy="129844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65D2C2"/>
                </a:solidFill>
                <a:latin typeface="Times New Roman"/>
              </a:rPr>
              <a:t>LANGMUIR IZOTERMASI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67712"/>
            <a:ext cx="4590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20" b="1">
                <a:solidFill>
                  <a:srgbClr val="FFFFFF"/>
                </a:solidFill>
                <a:latin typeface="Cambria Math"/>
              </a:rPr>
              <a:t>q_e = q_m b C_e/(1 + b C_e)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3273552"/>
            <a:ext cx="5084064" cy="2670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53492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71016" y="4949190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486689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71016" y="4466844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438454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71016" y="3984498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8952" y="390220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1016" y="3502152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58952" y="34198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71016" y="3502152"/>
            <a:ext cx="0" cy="1929384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71016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33272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50008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12264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91256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07992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86984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49240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2456" y="5669280"/>
            <a:ext cx="4764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Cambria Math"/>
              </a:rPr>
              <a:t>b*C_e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3483864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36879"/>
                </a:solidFill>
                <a:latin typeface="Cambria Math"/>
              </a:rPr>
              <a:t>q_e/q_m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271016" y="5270754"/>
            <a:ext cx="98090" cy="16078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69106" y="5134707"/>
            <a:ext cx="98090" cy="13604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67196" y="5018096"/>
            <a:ext cx="98090" cy="11661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65286" y="4917033"/>
            <a:ext cx="98090" cy="10106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63376" y="4828603"/>
            <a:ext cx="98090" cy="8843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61466" y="4750576"/>
            <a:ext cx="98091" cy="7802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59557" y="4681220"/>
            <a:ext cx="98090" cy="6935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57647" y="4619163"/>
            <a:ext cx="98090" cy="6205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55737" y="4563313"/>
            <a:ext cx="98090" cy="5585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3827" y="4512781"/>
            <a:ext cx="98090" cy="5053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251917" y="4466844"/>
            <a:ext cx="98091" cy="4593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0008" y="4424900"/>
            <a:ext cx="98090" cy="41944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48098" y="4386453"/>
            <a:ext cx="98090" cy="3844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46188" y="4351080"/>
            <a:ext cx="98090" cy="3537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44278" y="4318429"/>
            <a:ext cx="98090" cy="3265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42368" y="4288197"/>
            <a:ext cx="98090" cy="3023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0458" y="4260124"/>
            <a:ext cx="98091" cy="2807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38549" y="4233987"/>
            <a:ext cx="98090" cy="2613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36639" y="4209592"/>
            <a:ext cx="98090" cy="243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34729" y="4186772"/>
            <a:ext cx="98090" cy="2282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32819" y="4165377"/>
            <a:ext cx="98090" cy="213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30909" y="4145280"/>
            <a:ext cx="98091" cy="2009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429000" y="4126364"/>
            <a:ext cx="98090" cy="1891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27090" y="4108529"/>
            <a:ext cx="98090" cy="1783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625180" y="4091686"/>
            <a:ext cx="98090" cy="1684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23270" y="4075752"/>
            <a:ext cx="98090" cy="15934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21360" y="4060657"/>
            <a:ext cx="98090" cy="150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919450" y="4046337"/>
            <a:ext cx="98091" cy="1432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17541" y="4032732"/>
            <a:ext cx="98090" cy="1360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115631" y="4019791"/>
            <a:ext cx="98090" cy="1294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13721" y="4007466"/>
            <a:ext cx="98090" cy="1232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311811" y="3995715"/>
            <a:ext cx="98090" cy="1175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409901" y="3984498"/>
            <a:ext cx="98091" cy="1121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507992" y="3973779"/>
            <a:ext cx="98090" cy="10719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606082" y="3963526"/>
            <a:ext cx="98090" cy="1025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04172" y="3953709"/>
            <a:ext cx="98090" cy="981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802262" y="3944302"/>
            <a:ext cx="98090" cy="94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00352" y="3935279"/>
            <a:ext cx="98090" cy="902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98442" y="3926616"/>
            <a:ext cx="98091" cy="866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096533" y="3918293"/>
            <a:ext cx="98090" cy="832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194623" y="3910290"/>
            <a:ext cx="98090" cy="800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292713" y="3902590"/>
            <a:ext cx="98090" cy="770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0803" y="3895174"/>
            <a:ext cx="98090" cy="741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488893" y="3888028"/>
            <a:ext cx="98091" cy="714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6099048" y="1719072"/>
            <a:ext cx="5404104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99048" y="1719072"/>
            <a:ext cx="50292" cy="13075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55080" y="188366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SIRT TO‘LISH DARAJASI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27648" y="2231136"/>
            <a:ext cx="4837176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10283F"/>
                </a:solidFill>
                <a:latin typeface="Cambria Math"/>
              </a:rPr>
              <a:t>θ = q_e/q_m = b C_e/(1 + b C_e)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3264408"/>
            <a:ext cx="5404104" cy="12710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99048" y="3264408"/>
            <a:ext cx="50292" cy="1271016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64224" y="3438144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1BA6A6"/>
                </a:solidFill>
                <a:latin typeface="Times New Roman"/>
              </a:rPr>
              <a:t>FAOL MARKAZLAR: BO‘SH VA EGALLANGAN</a:t>
            </a:r>
          </a:p>
        </p:txBody>
      </p:sp>
      <p:sp>
        <p:nvSpPr>
          <p:cNvPr id="85" name="Oval 84"/>
          <p:cNvSpPr/>
          <p:nvPr/>
        </p:nvSpPr>
        <p:spPr>
          <a:xfrm>
            <a:off x="645566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94575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V="1">
            <a:off x="6995159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7333488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7434071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772400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11312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8311896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65022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89136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9189719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9528048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9628632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9966959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405872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0506455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437376" y="4736592"/>
            <a:ext cx="47274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536879"/>
                </a:solidFill>
                <a:latin typeface="Times New Roman"/>
              </a:rPr>
              <a:t>b — muvozanat doimiysi; birligi C_e ga teskari.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099048" y="5138928"/>
            <a:ext cx="5404104" cy="786384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99048" y="5138928"/>
            <a:ext cx="50292" cy="786384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36792" y="5294376"/>
            <a:ext cx="4882896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172B3A"/>
                </a:solidFill>
                <a:latin typeface="Times New Roman"/>
              </a:rPr>
              <a:t>Farazlar: faol markazlar teng, o‘zaro mustaqil va faqat bir qavat hosil qiladi. Notekis sirtlarda bu shartlar bajarilmasligi mumkin.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Langmuir modeli: [2]; qo‘llanish chegaralari: [5], [7].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09 / GETEROGEN SIRT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Freundlich: sirt xossalari bir xil bo‘lmaganda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Bu tajribaviy tenglama notekis sirtlar uchun muayyan konsentratsiya oralig‘ida qo‘llanadi; parametrlar shu oraliq va birliklar bilan beriladi.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55648"/>
            <a:ext cx="3950208" cy="1316736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" y="1755648"/>
            <a:ext cx="50292" cy="1316736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47672"/>
            <a:ext cx="34564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BA6A6"/>
                </a:solidFill>
                <a:latin typeface="Times New Roman"/>
              </a:rPr>
              <a:t>FREUNDLICH IZOTERMASI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34930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0283F"/>
                </a:solidFill>
                <a:latin typeface="Cambria Math"/>
              </a:rPr>
              <a:t>q_e = K_F C_e^(1/n)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3337560"/>
            <a:ext cx="395020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" y="3337560"/>
            <a:ext cx="50292" cy="248716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341071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24658A"/>
                </a:solidFill>
                <a:latin typeface="Times New Roman"/>
              </a:rPr>
              <a:t>LOGARIFMLANGAN KO‘RINISH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913632"/>
            <a:ext cx="346557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40" b="1">
                <a:solidFill>
                  <a:srgbClr val="10283F"/>
                </a:solidFill>
                <a:latin typeface="Cambria Math"/>
              </a:rPr>
              <a:t>ln(q_e)=ln(K_F)+(1/n)ln(C_e)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" y="4526280"/>
            <a:ext cx="338328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" y="4709160"/>
            <a:ext cx="340156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990" b="0">
                <a:solidFill>
                  <a:srgbClr val="536879"/>
                </a:solidFill>
                <a:latin typeface="Times New Roman"/>
              </a:rPr>
              <a:t>•  1/n — tajribaviy qiyalik ko‘rsatkichi.
•  K_F birligi tanlangan konsentratsiya birligiga bog‘liq.
•  Tenglama to‘yinish chegarasini bermaydi.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65192" y="1755648"/>
            <a:ext cx="6501384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0055" y="523036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4480560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0055" y="43982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3648456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0055" y="356616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32120" y="2816352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0055" y="27340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32120" y="1984248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0055" y="190195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32120" y="1984248"/>
            <a:ext cx="0" cy="3328416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2120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94376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65442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27698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98763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61019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2085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594341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265407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27663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59" y="5550408"/>
            <a:ext cx="6181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Cambria Math"/>
              </a:rPr>
              <a:t>C_e/C_ref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196596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36879"/>
                </a:solidFill>
                <a:latin typeface="Cambria Math"/>
              </a:rPr>
              <a:t>q_e/q_ref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5532120" y="5090769"/>
            <a:ext cx="139836" cy="22189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671956" y="4887307"/>
            <a:ext cx="139836" cy="20346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811792" y="4700072"/>
            <a:ext cx="139836" cy="18723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951628" y="4527197"/>
            <a:ext cx="139837" cy="17287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91465" y="4367091"/>
            <a:ext cx="139836" cy="16010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31301" y="4218390"/>
            <a:ext cx="139836" cy="148701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71137" y="4079917"/>
            <a:ext cx="139837" cy="13847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510974" y="3950652"/>
            <a:ext cx="139836" cy="12926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650810" y="3829706"/>
            <a:ext cx="139836" cy="12094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790646" y="3716301"/>
            <a:ext cx="139836" cy="11340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930482" y="3609753"/>
            <a:ext cx="139837" cy="10654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070319" y="3509458"/>
            <a:ext cx="139836" cy="10029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210155" y="3414882"/>
            <a:ext cx="139836" cy="9457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349991" y="3325549"/>
            <a:ext cx="139837" cy="8933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489828" y="3241035"/>
            <a:ext cx="139836" cy="84514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629664" y="3160960"/>
            <a:ext cx="139836" cy="8007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769500" y="3084984"/>
            <a:ext cx="139836" cy="7597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909336" y="3012798"/>
            <a:ext cx="139837" cy="7218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49173" y="2944128"/>
            <a:ext cx="139836" cy="6867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189009" y="2878721"/>
            <a:ext cx="139836" cy="65407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28845" y="2816351"/>
            <a:ext cx="139837" cy="6237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468682" y="2756812"/>
            <a:ext cx="139836" cy="5953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608518" y="2699914"/>
            <a:ext cx="139836" cy="5689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48354" y="2645485"/>
            <a:ext cx="139837" cy="5442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88191" y="2593369"/>
            <a:ext cx="139836" cy="5211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028027" y="2543421"/>
            <a:ext cx="139836" cy="4994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67863" y="2495509"/>
            <a:ext cx="139836" cy="4791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307699" y="2449510"/>
            <a:ext cx="139837" cy="4599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447536" y="2405312"/>
            <a:ext cx="139836" cy="4419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87372" y="2362812"/>
            <a:ext cx="139836" cy="4250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727208" y="2321913"/>
            <a:ext cx="139837" cy="4089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867045" y="2282527"/>
            <a:ext cx="139836" cy="3938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006881" y="2244571"/>
            <a:ext cx="139836" cy="3795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146717" y="2207968"/>
            <a:ext cx="139836" cy="3660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286553" y="2172648"/>
            <a:ext cx="139837" cy="3532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426390" y="2138545"/>
            <a:ext cx="139836" cy="3410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566226" y="2105596"/>
            <a:ext cx="139836" cy="3294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706062" y="2073744"/>
            <a:ext cx="139837" cy="3185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45899" y="2042935"/>
            <a:ext cx="139836" cy="3080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985735" y="2013119"/>
            <a:ext cx="139836" cy="2981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1125571" y="1984248"/>
            <a:ext cx="139836" cy="28871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32120" y="4792852"/>
            <a:ext cx="139836" cy="51981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71956" y="4577539"/>
            <a:ext cx="139836" cy="21531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811792" y="4412324"/>
            <a:ext cx="139836" cy="16521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951628" y="4273041"/>
            <a:ext cx="139837" cy="13928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091465" y="4150330"/>
            <a:ext cx="139836" cy="12271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231301" y="4039391"/>
            <a:ext cx="139836" cy="11093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371137" y="3937372"/>
            <a:ext cx="139837" cy="10201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510974" y="3842415"/>
            <a:ext cx="139836" cy="9495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650810" y="3753230"/>
            <a:ext cx="139836" cy="8918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790646" y="3668876"/>
            <a:ext cx="139836" cy="843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930482" y="3588645"/>
            <a:ext cx="139837" cy="8023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070319" y="3511985"/>
            <a:ext cx="139836" cy="7666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7210155" y="3438457"/>
            <a:ext cx="139836" cy="73528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7349991" y="3367708"/>
            <a:ext cx="139837" cy="7074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489828" y="3299443"/>
            <a:ext cx="139836" cy="6826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629664" y="3233419"/>
            <a:ext cx="139836" cy="6602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769500" y="3169427"/>
            <a:ext cx="139836" cy="6399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909336" y="3107291"/>
            <a:ext cx="139837" cy="6213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049173" y="3046859"/>
            <a:ext cx="139836" cy="6043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8189009" y="2987997"/>
            <a:ext cx="139836" cy="5886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8328845" y="2930589"/>
            <a:ext cx="139837" cy="57408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468682" y="2874533"/>
            <a:ext cx="139836" cy="5605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8608518" y="2819736"/>
            <a:ext cx="139836" cy="5479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8748354" y="2766119"/>
            <a:ext cx="139837" cy="5361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8888191" y="2713607"/>
            <a:ext cx="139836" cy="5251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028027" y="2662136"/>
            <a:ext cx="139836" cy="5147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167863" y="2611645"/>
            <a:ext cx="139836" cy="5049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9307699" y="2562081"/>
            <a:ext cx="139837" cy="4956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9447536" y="2513394"/>
            <a:ext cx="139836" cy="4868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9587372" y="2465540"/>
            <a:ext cx="139836" cy="478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9727208" y="2418477"/>
            <a:ext cx="139837" cy="4706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867045" y="2372167"/>
            <a:ext cx="139836" cy="4631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0006881" y="2326575"/>
            <a:ext cx="139836" cy="4559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0146717" y="2281669"/>
            <a:ext cx="139836" cy="4490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0286553" y="2237419"/>
            <a:ext cx="139837" cy="4425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0426390" y="2193796"/>
            <a:ext cx="139836" cy="4362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0566226" y="2150775"/>
            <a:ext cx="139836" cy="4302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0706062" y="2108332"/>
            <a:ext cx="139837" cy="4244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0845899" y="2066443"/>
            <a:ext cx="139836" cy="4188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0985735" y="2025089"/>
            <a:ext cx="139836" cy="413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1125571" y="1984248"/>
            <a:ext cx="139836" cy="4084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321040" y="2084831"/>
            <a:ext cx="402336" cy="0"/>
          </a:xfrm>
          <a:prstGeom prst="line">
            <a:avLst/>
          </a:prstGeom>
          <a:ln w="2794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8787384" y="199339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24658A"/>
                </a:solidFill>
                <a:latin typeface="Times New Roman"/>
              </a:rPr>
              <a:t>Langmuir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9893808" y="2084831"/>
            <a:ext cx="402336" cy="0"/>
          </a:xfrm>
          <a:prstGeom prst="line">
            <a:avLst/>
          </a:prstGeom>
          <a:ln w="2794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41864" y="1993392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E79B4B"/>
                </a:solidFill>
                <a:latin typeface="Times New Roman"/>
              </a:rPr>
              <a:t>Freundlich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59552" y="5477256"/>
            <a:ext cx="5303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0" b="0">
                <a:solidFill>
                  <a:srgbClr val="536879"/>
                </a:solidFill>
                <a:latin typeface="Times New Roman"/>
              </a:rPr>
              <a:t>Model shakllari ko‘rsatilgan; o‘lchov natijalari emas.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Modellarning qo‘llanish chegaralari: [5], [7].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10 / KO‘P QATLAM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BET: ko‘p molekula qavati va sirt maydoni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BET modelida birinchi qavat adsorbent bilan ta’sirlashadi; keyingi qavatlar suyuqlikdagi kabi kondensatsiyalanadi.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19072"/>
            <a:ext cx="5541264" cy="138988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5047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65D2C2"/>
                </a:solidFill>
                <a:latin typeface="Times New Roman"/>
              </a:rPr>
              <a:t>BET IZOTERMASI  (x = p/p_0)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67712"/>
            <a:ext cx="51389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mbria Math"/>
              </a:rPr>
              <a:t>v/v_m = Cx/[(1-x)(1+(C-1)x)]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3337560"/>
            <a:ext cx="5541264" cy="2578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3337560"/>
            <a:ext cx="50292" cy="257860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5478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BET CHIZIQLI KO‘RINISHI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50932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0283F"/>
                </a:solidFill>
                <a:latin typeface="Cambria Math"/>
              </a:rPr>
              <a:t>x/[v(1-x)] = 1/(v_m C) + [(C-1)/(v_m C)]x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6696" y="4553712"/>
            <a:ext cx="493776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87552" y="4754880"/>
            <a:ext cx="4919472" cy="8686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0">
                <a:solidFill>
                  <a:srgbClr val="536879"/>
                </a:solidFill>
                <a:latin typeface="Times New Roman"/>
              </a:rPr>
              <a:t>Chiziqli tenglamadan v_m va C topiladi; so‘ng bir qavatga mos gaz miqdoridan sirt maydoni hisoblanadi. N2 (77 K) uchun molekula kesimining qabul qilingan qiymati 0,162 nm^2.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8816" y="1719072"/>
            <a:ext cx="4956048" cy="41970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79" y="532180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4539996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79" y="445770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95744" y="3675887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79" y="3593591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2811780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79" y="272948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4" y="1947672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79" y="186537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95744" y="1947672"/>
            <a:ext cx="0" cy="3456432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0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42731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04988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89719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51976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236707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998963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283695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45951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3" y="5641848"/>
            <a:ext cx="46360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Cambria Math"/>
              </a:rPr>
              <a:t>x = p/p_0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192938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36879"/>
                </a:solidFill>
                <a:latin typeface="Cambria Math"/>
              </a:rPr>
              <a:t>y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095744" y="4891860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50853" y="482895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405962" y="4766046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561071" y="4703139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16181" y="4640232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71290" y="4577325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026399" y="4514418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181509" y="4451511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36618" y="4388604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91727" y="4325697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46837" y="4262790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801946" y="419988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957055" y="4136976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112165" y="4074068"/>
            <a:ext cx="155109" cy="62908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67274" y="4011161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422383" y="3948254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577493" y="3885347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732602" y="3822440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887712" y="375953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42821" y="3696626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197930" y="3633719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353039" y="3570812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508149" y="3507905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663258" y="3444998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18367" y="3382091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973477" y="3319184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128586" y="3256277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095744" y="3209131"/>
            <a:ext cx="380722" cy="47146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76466" y="3154796"/>
            <a:ext cx="380723" cy="54335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57189" y="3093271"/>
            <a:ext cx="380723" cy="61525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37912" y="3024557"/>
            <a:ext cx="380723" cy="68714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618635" y="2948654"/>
            <a:ext cx="380723" cy="75903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999358" y="2865562"/>
            <a:ext cx="380723" cy="8309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380081" y="2775280"/>
            <a:ext cx="380723" cy="9028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760804" y="2677808"/>
            <a:ext cx="380723" cy="9747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141527" y="2573147"/>
            <a:ext cx="380723" cy="104661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522250" y="2461297"/>
            <a:ext cx="380723" cy="111850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902973" y="2342258"/>
            <a:ext cx="380723" cy="119039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168896" y="2176272"/>
            <a:ext cx="2194560" cy="310896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32904" y="2249424"/>
            <a:ext cx="20665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1BA6A6"/>
                </a:solidFill>
                <a:latin typeface="Times New Roman"/>
              </a:rPr>
              <a:t>tanlangan chiziqli soha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442569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D96C5F"/>
                </a:solidFill>
                <a:latin typeface="Times New Roman"/>
              </a:rPr>
              <a:t>yuqori x da og‘ish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6288" y="560527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90" b="0">
                <a:solidFill>
                  <a:srgbClr val="536879"/>
                </a:solidFill>
                <a:latin typeface="Times New Roman"/>
              </a:rPr>
              <a:t>BET tenglamasining sxematik ko‘rinishi; tajriba ma’lumoti emas.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BET modeli: [3]; o‘lchash usuli va cheklovlar: [4].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11 / G‘OVAKLAR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IUPAC tasnifi g‘ovak kengligiga asoslanadi; ko‘ndalang kesimlar sxematik, masshtabda emas.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G‘ovak tasnifi va gaz-fizisorbsiya metodikasi: [4].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12 / 18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1572768"/>
            <a:ext cx="11064240" cy="4864608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1682496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36879"/>
                </a:solidFill>
                <a:latin typeface="Times New Roman"/>
              </a:rPr>
              <a:t>IUPAC TASNIFI  •  G‘OVAK KENGLIGI, w (nm)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" y="2002536"/>
            <a:ext cx="3182112" cy="512064"/>
          </a:xfrm>
          <a:prstGeom prst="round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2084831"/>
            <a:ext cx="30358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MIKROG‘OVAK  &lt; 2 nm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32504" y="2002536"/>
            <a:ext cx="3529584" cy="512064"/>
          </a:xfrm>
          <a:prstGeom prst="round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05656" y="2084831"/>
            <a:ext cx="338327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MEZOG‘OVAK  2–50 nm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6096" y="2002536"/>
            <a:ext cx="3621024" cy="512064"/>
          </a:xfrm>
          <a:prstGeom prst="round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084831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MAKROG‘OVAK  &gt; 50 nm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" y="2734056"/>
            <a:ext cx="6583680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42415" y="2916936"/>
            <a:ext cx="384048" cy="384048"/>
          </a:xfrm>
          <a:prstGeom prst="round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2415" y="296265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1912" y="2889504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24658A"/>
                </a:solidFill>
                <a:latin typeface="Times New Roman"/>
              </a:rPr>
              <a:t>MIKROG‘OVAK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81912" y="3145536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Qarama-qarshi devorlarning potensial maydonlari ustma-ust tushadi; g‘ovakni to‘ldirish muhim.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1" y="3675888"/>
            <a:ext cx="6080760" cy="10972"/>
          </a:xfrm>
          <a:prstGeom prst="rect">
            <a:avLst/>
          </a:prstGeom>
          <a:solidFill>
            <a:srgbClr val="D8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42415" y="3813048"/>
            <a:ext cx="384048" cy="384048"/>
          </a:xfrm>
          <a:prstGeom prst="round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2415" y="385876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81912" y="3785615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1BA6A6"/>
                </a:solidFill>
                <a:latin typeface="Times New Roman"/>
              </a:rPr>
              <a:t>MEZOG‘OVAK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1912" y="4041648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Menisk va kapillyar kondensatsiya yuz berishi mumkin; Kelvin egriligi muhim.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3271" y="4572000"/>
            <a:ext cx="6080760" cy="10972"/>
          </a:xfrm>
          <a:prstGeom prst="rect">
            <a:avLst/>
          </a:prstGeom>
          <a:solidFill>
            <a:srgbClr val="D8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415" y="4709159"/>
            <a:ext cx="384048" cy="384048"/>
          </a:xfrm>
          <a:prstGeom prst="round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415" y="475487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1912" y="4681727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E79B4B"/>
                </a:solidFill>
                <a:latin typeface="Times New Roman"/>
              </a:rPr>
              <a:t>MAKROG‘OVAK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81912" y="4937759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Yirik kanallar oqim va massa uzatish yo‘llarini ta’minlaydi.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2734056"/>
            <a:ext cx="3675887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orous_adsorbent.png"/>
          <p:cNvPicPr>
            <a:picLocks noChangeAspect="1"/>
          </p:cNvPicPr>
          <p:nvPr/>
        </p:nvPicPr>
        <p:blipFill>
          <a:blip r:embed="rId2"/>
          <a:srcRect t="3704" b="3704"/>
          <a:stretch>
            <a:fillRect/>
          </a:stretch>
        </p:blipFill>
        <p:spPr>
          <a:xfrm>
            <a:off x="7946136" y="2816352"/>
            <a:ext cx="2962656" cy="274320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7946136" y="5202936"/>
            <a:ext cx="2962656" cy="35661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4152" y="5276088"/>
            <a:ext cx="270662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Times New Roman"/>
              </a:rPr>
              <a:t>3D SXEMA  •  HAQIQIY MIKROSKOP SURATI EMAS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" y="5760720"/>
            <a:ext cx="10479024" cy="384048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76" y="5843016"/>
            <a:ext cx="10149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9" b="0" i="0">
                <a:solidFill>
                  <a:srgbClr val="172B3A"/>
                </a:solidFill>
                <a:latin typeface="Times New Roman"/>
              </a:rPr>
              <a:t>BET sirt maydoni adsorbtiv, model va o‘lchash sharoitiga bog‘liq; barcha g‘ovakli materiallarga bir xil talqin qo‘llanmaydi.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12 / SIRT KIMYOSI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zaryadi va namlanish tanlab yutilishga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Suvli eritmada yutilish pH, tuz miqdori, sirt guruhlari va raqobatdosh ionlarga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46504"/>
            <a:ext cx="5102352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46504"/>
            <a:ext cx="50292" cy="423367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4658A"/>
                </a:solidFill>
                <a:latin typeface="Times New Roman"/>
              </a:rPr>
              <a:t>NAMLANISH VA TOMCHI SHAKLI</a:t>
            </a:r>
          </a:p>
        </p:txBody>
      </p:sp>
      <p:sp>
        <p:nvSpPr>
          <p:cNvPr id="9" name="Oval 8"/>
          <p:cNvSpPr/>
          <p:nvPr/>
        </p:nvSpPr>
        <p:spPr>
          <a:xfrm>
            <a:off x="2377440" y="2697480"/>
            <a:ext cx="1591056" cy="1591056"/>
          </a:xfrm>
          <a:prstGeom prst="ellipse">
            <a:avLst/>
          </a:prstGeom>
          <a:solidFill>
            <a:srgbClr val="B9E6E2"/>
          </a:solidFill>
          <a:ln w="1397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8448" y="3465576"/>
            <a:ext cx="3776472" cy="384048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465576"/>
            <a:ext cx="1591056" cy="0"/>
          </a:xfrm>
          <a:prstGeom prst="line">
            <a:avLst/>
          </a:prstGeom>
          <a:ln w="1397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65376" y="3904487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E79B4B"/>
                </a:solidFill>
                <a:latin typeface="Times New Roman"/>
              </a:rPr>
              <a:t>Kontakt burchagi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4379976"/>
            <a:ext cx="44439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0283F"/>
                </a:solidFill>
                <a:latin typeface="Cambria Math"/>
              </a:rPr>
              <a:t>γ_SV - γ_SL = γ_LV cos(θ)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448056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Sirtning suv bilan ho‘llanishi kimyoviy tarkib va kontakt burchagiga bog‘liq.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746504"/>
            <a:ext cx="5394960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1746504"/>
            <a:ext cx="50292" cy="423367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96596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1BA6A6"/>
                </a:solidFill>
                <a:latin typeface="Times New Roman"/>
              </a:rPr>
              <a:t>QATTIQ–SUYUQLIK CHEGARASIDAGI ELEKTR QO‘SH QAVAT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977639"/>
            <a:ext cx="4663440" cy="1106424"/>
          </a:xfrm>
          <a:prstGeom prst="roundRect">
            <a:avLst/>
          </a:prstGeom>
          <a:solidFill>
            <a:srgbClr val="EA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145536"/>
            <a:ext cx="4663440" cy="832104"/>
          </a:xfrm>
          <a:prstGeom prst="rect">
            <a:avLst/>
          </a:prstGeom>
          <a:solidFill>
            <a:srgbClr val="DE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843784"/>
            <a:ext cx="1033271" cy="30175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89864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Times New Roman"/>
              </a:rPr>
              <a:t>MANFIY SIRT</a:t>
            </a:r>
          </a:p>
        </p:txBody>
      </p:sp>
      <p:sp>
        <p:nvSpPr>
          <p:cNvPr id="22" name="Oval 21"/>
          <p:cNvSpPr/>
          <p:nvPr/>
        </p:nvSpPr>
        <p:spPr>
          <a:xfrm>
            <a:off x="7662672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36992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0456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68512" y="3364992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4312" y="3611880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0" y="3282696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35056" y="3767328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75904" y="4133087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47504" y="4261104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60736" y="4480560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296265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Stern qatlami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5984" y="3182112"/>
            <a:ext cx="1783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tarqoq qatlam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330952"/>
            <a:ext cx="4498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36879"/>
                </a:solidFill>
                <a:latin typeface="Times New Roman"/>
              </a:rPr>
              <a:t>Panet–Fayans qoidasi tarixiy yo‘riqdir; ionlarning tanlab birikishi pH, gidratlanish va sirt tarkibiga ham bog‘liq.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Sirt termodinamikasi va ionlar: [1], [6].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13 / AJRATISH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Xromatografiyada moddalar fazalarga moyilligiga ko‘ra ajraladi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Moddaning erituvchi oqimi va ustun sirtiga moyilligi uning chiqish vaqtini o‘zgartiradi.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46504"/>
            <a:ext cx="5065776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46504"/>
            <a:ext cx="50292" cy="431596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65960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USTUN ICHIDAGI AJRALISH (SXEMA)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16736" y="2496312"/>
            <a:ext cx="1060704" cy="2871216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18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281635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38528" y="2944368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331927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9112" y="359359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3941063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7672" y="4315968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45920" y="4663440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48256" y="4992624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91056" y="3246120"/>
            <a:ext cx="109728" cy="10972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8800" y="3310128"/>
            <a:ext cx="109728" cy="10972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36776" y="4297680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01952" y="4325112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4208" y="4937760"/>
            <a:ext cx="109728" cy="10972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20240" y="4965192"/>
            <a:ext cx="109728" cy="10972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56231" y="2249424"/>
            <a:ext cx="0" cy="201168"/>
          </a:xfrm>
          <a:prstGeom prst="line">
            <a:avLst/>
          </a:prstGeom>
          <a:ln w="203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32888" y="274320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96C5F"/>
                </a:solidFill>
                <a:latin typeface="Times New Roman"/>
              </a:rPr>
              <a:t>C — sirtga kuchliroq birikadi
kechroq chiqadi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2888" y="3749039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9B4B"/>
                </a:solidFill>
                <a:latin typeface="Times New Roman"/>
              </a:rPr>
              <a:t>B — o‘rtacha ushlanadi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6634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A6A6"/>
                </a:solidFill>
                <a:latin typeface="Times New Roman"/>
              </a:rPr>
              <a:t>A — sirtga kuchsizroq birikadi
tezroq chiqadi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746504"/>
            <a:ext cx="5376672" cy="196596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98424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5D2C2"/>
                </a:solidFill>
                <a:latin typeface="Times New Roman"/>
              </a:rPr>
              <a:t>USHLANISH OMILI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2395728"/>
            <a:ext cx="491947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50" b="1">
                <a:solidFill>
                  <a:srgbClr val="FFFFFF"/>
                </a:solidFill>
                <a:latin typeface="Cambria Math"/>
              </a:rPr>
              <a:t>k' = (t_R - t_M)/t_M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35808"/>
            <a:ext cx="477316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70" b="0">
                <a:solidFill>
                  <a:srgbClr val="DCE8ED"/>
                </a:solidFill>
                <a:latin typeface="Times New Roman"/>
              </a:rPr>
              <a:t>t_R — moddaning chiqish vaqti; t_M — modda ushlanmay o‘tadigan vaqt.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9048" y="3941063"/>
            <a:ext cx="5376672" cy="2121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9048" y="3941063"/>
            <a:ext cx="50292" cy="212140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160520"/>
            <a:ext cx="47731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9B4B"/>
                </a:solidFill>
                <a:latin typeface="Times New Roman"/>
              </a:rPr>
              <a:t>DETEKTOR JAVOBI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4480560"/>
            <a:ext cx="4800600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519379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12864" y="4992624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0" y="491032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12864" y="4709160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0800" y="46268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4709160"/>
            <a:ext cx="0" cy="56692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912864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675120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0990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3246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29116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691372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937242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699498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945368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707624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04304" y="551383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Vaqt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69087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>
                <a:solidFill>
                  <a:srgbClr val="536879"/>
                </a:solidFill>
                <a:latin typeface="Times New Roman"/>
              </a:rPr>
              <a:t>Javob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6912864" y="5276086"/>
            <a:ext cx="68347" cy="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81211" y="5276083"/>
            <a:ext cx="68348" cy="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049559" y="5276074"/>
            <a:ext cx="68347" cy="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117906" y="5276049"/>
            <a:ext cx="68348" cy="2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186254" y="5275982"/>
            <a:ext cx="68347" cy="6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254601" y="5275813"/>
            <a:ext cx="68348" cy="16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22949" y="5275413"/>
            <a:ext cx="68347" cy="40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391296" y="5274526"/>
            <a:ext cx="68348" cy="8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59644" y="5272676"/>
            <a:ext cx="68347" cy="185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527991" y="5269058"/>
            <a:ext cx="68348" cy="361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96339" y="5262429"/>
            <a:ext cx="68347" cy="662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664686" y="5251059"/>
            <a:ext cx="68348" cy="1137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33034" y="5232837"/>
            <a:ext cx="68347" cy="1822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01381" y="5205604"/>
            <a:ext cx="68348" cy="2723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869729" y="5167764"/>
            <a:ext cx="68347" cy="3784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38076" y="5119088"/>
            <a:ext cx="68348" cy="4867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006424" y="5061493"/>
            <a:ext cx="68347" cy="575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074771" y="4999465"/>
            <a:ext cx="68348" cy="6202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143119" y="4939800"/>
            <a:ext cx="68347" cy="5966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211466" y="4890513"/>
            <a:ext cx="68348" cy="492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279814" y="4859107"/>
            <a:ext cx="68348" cy="3140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348162" y="4850676"/>
            <a:ext cx="68347" cy="843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416509" y="4850676"/>
            <a:ext cx="68348" cy="1581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84857" y="4866495"/>
            <a:ext cx="68347" cy="3711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53204" y="4903606"/>
            <a:ext cx="68348" cy="5195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621552" y="4955556"/>
            <a:ext cx="68347" cy="5843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689899" y="5013995"/>
            <a:ext cx="68348" cy="5654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758247" y="5070543"/>
            <a:ext cx="68347" cy="4778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826594" y="5118327"/>
            <a:ext cx="68348" cy="3447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894942" y="5152803"/>
            <a:ext cx="68347" cy="1901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963289" y="5171816"/>
            <a:ext cx="68348" cy="332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31637" y="5163854"/>
            <a:ext cx="68347" cy="1128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99984" y="5139791"/>
            <a:ext cx="68348" cy="2406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8332" y="5105287"/>
            <a:ext cx="68347" cy="3450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236679" y="5063114"/>
            <a:ext cx="68348" cy="4217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9305027" y="5016526"/>
            <a:ext cx="68347" cy="4658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373374" y="4969256"/>
            <a:ext cx="68348" cy="4727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9441722" y="4925361"/>
            <a:ext cx="68347" cy="438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510069" y="4888889"/>
            <a:ext cx="68348" cy="3647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9578417" y="4863418"/>
            <a:ext cx="68348" cy="2547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646765" y="4851561"/>
            <a:ext cx="68347" cy="1185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715112" y="4851561"/>
            <a:ext cx="68348" cy="300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83460" y="4854567"/>
            <a:ext cx="68347" cy="1756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851807" y="4872132"/>
            <a:ext cx="68348" cy="3032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920155" y="4902453"/>
            <a:ext cx="68347" cy="400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988502" y="4942540"/>
            <a:ext cx="68348" cy="4616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056850" y="4988701"/>
            <a:ext cx="68347" cy="4840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125197" y="5037101"/>
            <a:ext cx="68348" cy="4717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93545" y="5084275"/>
            <a:ext cx="68347" cy="4322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261892" y="5127502"/>
            <a:ext cx="68348" cy="374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330240" y="5164997"/>
            <a:ext cx="68347" cy="3092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98587" y="5195925"/>
            <a:ext cx="68348" cy="2433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466935" y="5220258"/>
            <a:ext cx="68347" cy="1830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535282" y="5238560"/>
            <a:ext cx="68348" cy="1318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603630" y="5251741"/>
            <a:ext cx="68347" cy="910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671977" y="5260842"/>
            <a:ext cx="68348" cy="603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740325" y="5266874"/>
            <a:ext cx="68347" cy="384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808672" y="5270714"/>
            <a:ext cx="68348" cy="234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77020" y="5273062"/>
            <a:ext cx="68348" cy="138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6519672" y="5852160"/>
            <a:ext cx="4434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Times New Roman"/>
              </a:rPr>
              <a:t>Chiqish tartibi moddalarning ikki fazaga moyilligiga bog‘liq.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Xromatografiya va adsorbsiya: [5].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14 / 18</a:t>
            </a:r>
          </a:p>
        </p:txBody>
      </p:sp>
      <p:pic>
        <p:nvPicPr>
          <p:cNvPr id="119" name="Picture 118" descr="chromatography_column.png"/>
          <p:cNvPicPr>
            <a:picLocks noChangeAspect="1"/>
          </p:cNvPicPr>
          <p:nvPr/>
        </p:nvPicPr>
        <p:blipFill>
          <a:blip r:embed="rId2"/>
          <a:srcRect l="11525" r="11525"/>
          <a:stretch>
            <a:fillRect/>
          </a:stretch>
        </p:blipFill>
        <p:spPr>
          <a:xfrm>
            <a:off x="1179576" y="2487168"/>
            <a:ext cx="1225296" cy="2852928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1179576" y="2487168"/>
            <a:ext cx="1225296" cy="2852928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14 / METODIKA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Ishonchli izoterma uchun tajriba shart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Harorat, pH, muvozanat vaqti, takrorlar soni hamda o‘lchash usulini oldindan belgilang.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1929384"/>
            <a:ext cx="384048" cy="384048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79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6" y="1874519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53896" y="1874519"/>
            <a:ext cx="50292" cy="59436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4208" y="1965960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TIZIMNI TANLANG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65960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Yutuvchi jism, yutiluvchi modda va erituvchini belgilang; pH, harorat, tuz miqdorini qayd eting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331720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86968" y="2679191"/>
            <a:ext cx="384048" cy="38404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61487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53896" y="2624327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2624327"/>
            <a:ext cx="50292" cy="59436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4208" y="2715768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MUVOZANATNI TEKSHIRING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715768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Konsentratsiya vaqt o‘tishi bilan o‘zgarmasligini tekshiring; nazorat namunasi qo‘ying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78992" y="3081527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86968" y="3428999"/>
            <a:ext cx="384048" cy="38404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511295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3896" y="3374135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53896" y="3374135"/>
            <a:ext cx="50292" cy="594360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4208" y="3465575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MASSA BALANSI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65575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30" b="1">
                <a:solidFill>
                  <a:srgbClr val="536879"/>
                </a:solidFill>
                <a:latin typeface="Cambria Math"/>
              </a:rPr>
              <a:t>q_e = (C_0 - C_e)V/m; birliklarni yozing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78992" y="3831335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86968" y="4178807"/>
            <a:ext cx="384048" cy="38404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261104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53896" y="4123944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3896" y="4123944"/>
            <a:ext cx="50292" cy="594360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4215383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MODELNI TANLANG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4215383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Tenglamani o‘lchovlarga moslang; qoldiq va noaniqlikni tekshiring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8992" y="4581144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6968" y="4928616"/>
            <a:ext cx="384048" cy="384048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010912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3896" y="4873752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3896" y="4873752"/>
            <a:ext cx="50292" cy="59436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496519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MUSTAQIL TEKSHIRUV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4965192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Takroriy tajriba va boshqa sharoitda tekshirish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4968" y="1865376"/>
            <a:ext cx="3694176" cy="1965960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4968" y="1865376"/>
            <a:ext cx="50292" cy="196596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2084831"/>
            <a:ext cx="3182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DAVRIY TAJRIBA UCHUN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2505456"/>
            <a:ext cx="3218688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10283F"/>
                </a:solidFill>
                <a:latin typeface="Cambria Math"/>
              </a:rPr>
              <a:t>q_e = (C_0 - C_e)V/m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3127248"/>
            <a:ext cx="31455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q_e — adsorbentning bir grammiga to‘g‘ri keladigan yutilgan modda miqdori; nazorat namunasi va hajm o‘zgarishini hisobga oling.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44968" y="4041648"/>
            <a:ext cx="3694176" cy="1764792"/>
          </a:xfrm>
          <a:prstGeom prst="roundRect">
            <a:avLst/>
          </a:prstGeom>
          <a:solidFill>
            <a:srgbClr val="FFF4E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44968" y="4041648"/>
            <a:ext cx="50292" cy="17647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01000" y="4261104"/>
            <a:ext cx="3182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NATIJANI HISOBOT QILISH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626864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19" b="0">
                <a:solidFill>
                  <a:srgbClr val="172B3A"/>
                </a:solidFill>
                <a:latin typeface="Times New Roman"/>
              </a:rPr>
              <a:t>•  dastlabki o‘lchovlar va birliklar
•  takrorlar soni, o‘rtacha qiymat va tarqalish
•  qoldiq va ishonch oralig‘i
•  muvozanat va tezlikni ajrating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Metodologik tavsiyalar: [4], [7].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15 / QO‘LLANISH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Adsorbsiya amalda: suv, gaz va kataliz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Natija yutilish sig‘imidan tashqari tanlab yutish, tezlik, qayta tiklash va raqobatdosh moddalarga ham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50292" cy="162763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93976"/>
            <a:ext cx="420624" cy="420624"/>
          </a:xfrm>
          <a:prstGeom prst="ellipse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78992" y="2194560"/>
            <a:ext cx="0" cy="219456"/>
          </a:xfrm>
          <a:prstGeom prst="line">
            <a:avLst/>
          </a:prstGeom>
          <a:ln w="2286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8720" y="2194560"/>
            <a:ext cx="0" cy="219456"/>
          </a:xfrm>
          <a:prstGeom prst="line">
            <a:avLst/>
          </a:prstGeom>
          <a:ln w="2286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27048" y="2130552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4658A"/>
                </a:solidFill>
                <a:latin typeface="Times New Roman"/>
              </a:rPr>
              <a:t>SUVNI TOZALASH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450592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Faollashtirilgan ko‘mir va boshqa yutuvchilar suvdagi bo‘yoq, organik moddalar yoki ionlarni ushlaydi.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072384"/>
            <a:ext cx="2267712" cy="283464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3624" y="3086100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4658A"/>
                </a:solidFill>
                <a:latin typeface="Times New Roman"/>
              </a:rPr>
              <a:t>Raqobatdosh moddalar + qayta tiklash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50292" cy="162763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2093976"/>
            <a:ext cx="420624" cy="420624"/>
          </a:xfrm>
          <a:prstGeom prst="ellipse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7688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48272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1736" y="2130552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BA6A6"/>
                </a:solidFill>
                <a:latin typeface="Times New Roman"/>
              </a:rPr>
              <a:t>GAZ VA HAVO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2450592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Molekulyar elak va g‘ovak uglerod gazni quritish hamda ajratishda ishlatiladi.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31736" y="3072384"/>
            <a:ext cx="2267712" cy="283464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086100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BA6A6"/>
                </a:solidFill>
                <a:latin typeface="Times New Roman"/>
              </a:rPr>
              <a:t>Namlik + foydalanish muddati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85616"/>
            <a:ext cx="50292" cy="162763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0976" y="4032504"/>
            <a:ext cx="420624" cy="420624"/>
          </a:xfrm>
          <a:prstGeom prst="ellipse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" y="4133088"/>
            <a:ext cx="164592" cy="16459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197864" y="4215384"/>
            <a:ext cx="73152" cy="0"/>
          </a:xfrm>
          <a:prstGeom prst="line">
            <a:avLst/>
          </a:prstGeom>
          <a:ln w="2032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527048" y="4069080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79B4B"/>
                </a:solidFill>
                <a:latin typeface="Times New Roman"/>
              </a:rPr>
              <a:t>KATALIZ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389120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Reaksiyaga kirishuvchi moddaning katalizator sirtiga birikishi katalitik jarayonning muhim bosqichidir.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7048" y="5010912"/>
            <a:ext cx="2267712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63624" y="5024628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E79B4B"/>
                </a:solidFill>
                <a:latin typeface="Times New Roman"/>
              </a:rPr>
              <a:t>Faol markazlar + reaksiya tezligi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785616"/>
            <a:ext cx="50292" cy="1627632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55664" y="4032504"/>
            <a:ext cx="420624" cy="420624"/>
          </a:xfrm>
          <a:prstGeom prst="ellipse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74536" y="4133088"/>
            <a:ext cx="192024" cy="192024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670548" y="4325112"/>
            <a:ext cx="96011" cy="82296"/>
          </a:xfrm>
          <a:prstGeom prst="line">
            <a:avLst/>
          </a:prstGeom>
          <a:ln w="2032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1736" y="4069080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96C5F"/>
                </a:solidFill>
                <a:latin typeface="Times New Roman"/>
              </a:rPr>
              <a:t>TIBBIYOTDA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4389120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Ayrim yutuvchilar faqat aniq tibbiy ko‘rsatma va mutaxassis nazorati ostida qo‘llanadi.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31736" y="5010912"/>
            <a:ext cx="2267712" cy="283464"/>
          </a:xfrm>
          <a:prstGeom prst="roundRect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68312" y="5024628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D96C5F"/>
                </a:solidFill>
                <a:latin typeface="Times New Roman"/>
              </a:rPr>
              <a:t>Shifokor nazorati zarur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5852160"/>
            <a:ext cx="10634472" cy="320040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934456"/>
            <a:ext cx="10222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>
                <a:solidFill>
                  <a:srgbClr val="172B3A"/>
                </a:solidFill>
                <a:latin typeface="Times New Roman"/>
              </a:rPr>
              <a:t>Ko‘p yutish doim ham yaxshi natija emas: tanlab yutish, yutuvchini qayta ishlatish va chiqindini boshqarish ham muhim.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Amaliy qo‘llanishlar: [4], [5].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16 / ILMIY XULOSA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Yakun: uchta ilmiy qoida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Nazariya, o‘lchov va ehtiyotkor xulosa bir-birini to‘ldiradi.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2376" y="1828800"/>
            <a:ext cx="50292" cy="224028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57400"/>
            <a:ext cx="438912" cy="438912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24658A"/>
                </a:solidFill>
                <a:latin typeface="Times New Roman"/>
              </a:rPr>
              <a:t>SIRT ENERGIYASI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Sirt tarangligi yangi sirt hosil qilish ishini ko‘rsatadi; Gibbs ortiqchasi esa chegarada modda ko‘payganini bildiradi.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828800"/>
            <a:ext cx="50292" cy="22402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26864" y="2057400"/>
            <a:ext cx="438912" cy="43891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1BA6A6"/>
                </a:solidFill>
                <a:latin typeface="Times New Roman"/>
              </a:rPr>
              <a:t>MODEL CHEGARASI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Langmuir, Freundlich va BET turli shartlarga asoslanadi. Yaxshi moslikning o‘zi mexanizmni isbotlamaydi.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1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4151" y="1828800"/>
            <a:ext cx="50292" cy="2240280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1" y="2057400"/>
            <a:ext cx="438912" cy="43891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1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1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E79B4B"/>
                </a:solidFill>
                <a:latin typeface="Times New Roman"/>
              </a:rPr>
              <a:t>ISHONCHLI DALIL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3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Muvozanat, birlik, takror, o‘lchov xatosi va qayta tekshiruvni ko‘rsatmasdan sig‘im haqida qat’iy xulosa qilib bo‘lmaydi.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407408"/>
            <a:ext cx="10762488" cy="141732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0857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5D2C2"/>
                </a:solidFill>
                <a:latin typeface="Times New Roman"/>
              </a:rPr>
              <a:t>ESLAB QOLING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003536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20" b="0">
                <a:solidFill>
                  <a:srgbClr val="FFFFFF"/>
                </a:solidFill>
                <a:latin typeface="Times New Roman"/>
              </a:rPr>
              <a:t>Sirt xossasini aniq o‘lchang → mos adsorbsiya modelini tanlang → o‘lchov xatosini tekshiring → xulosani faqat dalil ko‘rsatgan doirada bering.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6089904"/>
            <a:ext cx="10149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536879"/>
                </a:solidFill>
                <a:latin typeface="Times New Roman"/>
              </a:rPr>
              <a:t>Taqdimot yakuni: har bir ilmiy xulosa o‘lchov va manba bilan asoslanishi kerak.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>
                <a:solidFill>
                  <a:srgbClr val="536879"/>
                </a:solidFill>
                <a:latin typeface="Times New Roman"/>
              </a:rPr>
              <a:t>Izotermalarni talqin qilish uchun: [4], [5], [7].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MANBALAR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Foydalanilgan ilmiy manbalar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Slaydlardagi [raqam] ishoralar quyidagi manbalarga tegishli.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73352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73352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728216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723644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>
                <a:solidFill>
                  <a:srgbClr val="536879"/>
                </a:solidFill>
                <a:latin typeface="Times New Roman"/>
              </a:rPr>
              <a:t>IUPAC Gold Book: “Gibbs adsorption” (Gibbs adsorbsiyasi, G02627); “surface excess” (sirt ortiqchasi, S06171). Onlayn terminlar.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723644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goldbook.iupac.org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286000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2340864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2336292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Langmuir, I. The adsorption of gases on plane surfaces of glass, mica and platinum. J. Am. Chem. Soc. 40 (9), 1361–1403 (1918).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336292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doi:10.1021/ja02242a004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98648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898648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2953512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" y="2948940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Brunauer, S.; Emmett, P. H.; Teller, E. Adsorption of gases in multimolecular layers. J. Am. Chem. Soc. 60 (2), 309–319 (1938).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48940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doi:10.1021/ja01269a023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511296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511296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566160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" y="3561588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Thommes, M. et al. Physisorption of gases… (IUPAC Technical Report). Pure Appl. Chem. 87, 1051–1069 (2015).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561588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doi:10.1515/pac-2014-1117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123944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123944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4178807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[5]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" y="4174235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Dąbrowski, A. Adsorption—from theory to practice. Adv. Colloid Interface Sci. 93 (1–3), 135–224 (2001).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4174235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doi:10.1016/S0001-8686(00)00082-8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736592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4736592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" y="4791455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4786883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Adamson, A. W.; Gast, A. P. Physical Chemistry of Surfaces. 6th ed. Wiley (1997).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86883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>
                <a:solidFill>
                  <a:srgbClr val="536879"/>
                </a:solidFill>
                <a:latin typeface="Times New Roman"/>
              </a:rPr>
              <a:t>Asosiy darslik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349240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5349240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" y="5404103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[7]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1016" y="5399531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Foo, K. Y.; Hameed, B. H. Insights into the modeling of adsorption isotherm systems. Chem. Eng. J. 156 (1), 2–10 (2010).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399531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doi:10.1016/j.cej.2009.09.013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6053328"/>
            <a:ext cx="10789920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6099048"/>
            <a:ext cx="10424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536879"/>
                </a:solidFill>
                <a:latin typeface="Times New Roman"/>
              </a:rPr>
              <a:t>Adabiyotlar asl nomi va nashr ma’lumotlari bilan berildi.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Sirt hodisalari va adsorbsiya — ilmiy sharh</dc:title>
  <dc:subject>Kolloid kimyo: sirt termodinamikasi, adsorbsiya izotermalari, BET va g‘ovaklar</dc:subject>
  <dc:creator>Muallif: tahrir uchun to‘ldiring</dc:creator>
  <cp:keywords>adsorbsiya, Gibbs, Langmuir, Freundlich, BET, sirt hodisalari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