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537960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123176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08392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293608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878824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64040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49256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634472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219688" y="411480"/>
            <a:ext cx="0" cy="589788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00800" y="640080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00800" y="1298448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800" y="1956815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00800" y="2615184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3273552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00800" y="3931920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0" y="4590288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5248656"/>
            <a:ext cx="5349240" cy="0"/>
          </a:xfrm>
          <a:prstGeom prst="line">
            <a:avLst/>
          </a:prstGeom>
          <a:ln w="5715">
            <a:solidFill>
              <a:srgbClr val="1A39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943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u="none">
                <a:solidFill>
                  <a:srgbClr val="65D2C2"/>
                </a:solidFill>
                <a:latin typeface="Times New Roman"/>
              </a:rPr>
              <a:t>KOLLOID KIMYO  /  ILMIY SHARH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1078992"/>
            <a:ext cx="512064" cy="502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1426464"/>
            <a:ext cx="5394960" cy="153619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37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154680"/>
            <a:ext cx="4983480" cy="9326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0" i="0" u="none">
                <a:solidFill>
                  <a:srgbClr val="DCE8ED"/>
                </a:solidFill>
                <a:latin typeface="Times New Roman"/>
              </a:rPr>
              <a:t>Gibbs termodinamikasidan g‘ovakli materiallar tahliligacha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370832"/>
            <a:ext cx="1828800" cy="283464"/>
          </a:xfrm>
          <a:prstGeom prst="roundRect">
            <a:avLst/>
          </a:prstGeom>
          <a:solidFill>
            <a:srgbClr val="0C4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384548"/>
            <a:ext cx="17556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u="none">
                <a:solidFill>
                  <a:srgbClr val="65D2C2"/>
                </a:solidFill>
                <a:latin typeface="Times New Roman"/>
              </a:rPr>
              <a:t>ILMIY TAQDIMOT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074920"/>
            <a:ext cx="50292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DCE8ED"/>
                </a:solidFill>
                <a:latin typeface="Times New Roman"/>
              </a:rPr>
              <a:t>Muallif: [F.I.Sh.]  •  [Tashkilot]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53212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9AB1BF"/>
                </a:solidFill>
                <a:latin typeface="Times New Roman"/>
              </a:rPr>
              <a:t>2026  |  O‘zbek tilida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978408"/>
            <a:ext cx="4937760" cy="5029200"/>
          </a:xfrm>
          <a:prstGeom prst="roundRect">
            <a:avLst/>
          </a:prstGeom>
          <a:solidFill>
            <a:srgbClr val="16364C"/>
          </a:solidFill>
          <a:ln w="12700">
            <a:solidFill>
              <a:srgbClr val="2D57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123444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A7C1CC"/>
                </a:solidFill>
                <a:latin typeface="Times New Roman"/>
              </a:rPr>
              <a:t>GAZ FAZASI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4050791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A7C1CC"/>
                </a:solidFill>
                <a:latin typeface="Times New Roman"/>
              </a:rPr>
              <a:t>SUYUQLIK FAZASI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03720" y="3236976"/>
            <a:ext cx="4233672" cy="0"/>
          </a:xfrm>
          <a:prstGeom prst="line">
            <a:avLst/>
          </a:prstGeom>
          <a:ln w="2794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351776" y="3273552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7452360" y="2688336"/>
            <a:ext cx="0" cy="585216"/>
          </a:xfrm>
          <a:prstGeom prst="line">
            <a:avLst/>
          </a:prstGeom>
          <a:ln w="3048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7333488" y="2825496"/>
            <a:ext cx="118872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452360" y="2734056"/>
            <a:ext cx="109728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156448" y="3310128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8257031" y="2724912"/>
            <a:ext cx="0" cy="585216"/>
          </a:xfrm>
          <a:prstGeom prst="line">
            <a:avLst/>
          </a:prstGeom>
          <a:ln w="3048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8138159" y="2862072"/>
            <a:ext cx="118872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257031" y="2770632"/>
            <a:ext cx="109728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961120" y="3273552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9061704" y="2688336"/>
            <a:ext cx="0" cy="585216"/>
          </a:xfrm>
          <a:prstGeom prst="line">
            <a:avLst/>
          </a:prstGeom>
          <a:ln w="3048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8942832" y="2825496"/>
            <a:ext cx="118872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061704" y="2734056"/>
            <a:ext cx="109728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9765792" y="3310128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 flipV="1">
            <a:off x="9866376" y="2724912"/>
            <a:ext cx="0" cy="585216"/>
          </a:xfrm>
          <a:prstGeom prst="line">
            <a:avLst/>
          </a:prstGeom>
          <a:ln w="3048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9747503" y="2862072"/>
            <a:ext cx="118873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9866376" y="2770632"/>
            <a:ext cx="109727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570464" y="3273552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 flipV="1">
            <a:off x="10671048" y="2688336"/>
            <a:ext cx="0" cy="585216"/>
          </a:xfrm>
          <a:prstGeom prst="line">
            <a:avLst/>
          </a:prstGeom>
          <a:ln w="3048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10552176" y="2825496"/>
            <a:ext cx="118872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0671048" y="2734056"/>
            <a:ext cx="109728" cy="128016"/>
          </a:xfrm>
          <a:prstGeom prst="line">
            <a:avLst/>
          </a:prstGeom>
          <a:ln w="13970">
            <a:solidFill>
              <a:srgbClr val="F1C3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07920" y="4526280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98079" y="4526280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7453000" y="4481200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73447" y="457401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59070" y="457401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H="1">
            <a:off x="8139440" y="5074920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229600" y="5074920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8184520" y="5029840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104967" y="51226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290590" y="51226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H="1">
            <a:off x="9145280" y="4507992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235440" y="4507992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9190360" y="4462912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10807" y="4555723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96430" y="4555723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H="1">
            <a:off x="9968240" y="5074920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058400" y="5074920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0013320" y="5029840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33767" y="51226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119390" y="51226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H="1">
            <a:off x="10718048" y="4517136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0808208" y="4517136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763128" y="4472056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683575" y="4564867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869198" y="4564867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7956560" y="5532120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46720" y="5532120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8001640" y="5487040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922087" y="55798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107710" y="557985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H="1">
            <a:off x="9053840" y="5440680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9144000" y="5440680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9098920" y="5395600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019367" y="548841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204990" y="5488411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H="1">
            <a:off x="10151120" y="5559552"/>
            <a:ext cx="90160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0241280" y="5559552"/>
            <a:ext cx="90159" cy="63642"/>
          </a:xfrm>
          <a:prstGeom prst="line">
            <a:avLst/>
          </a:prstGeom>
          <a:ln w="17780">
            <a:solidFill>
              <a:srgbClr val="65D2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0196200" y="5514472"/>
            <a:ext cx="90159" cy="90159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116647" y="5607283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302270" y="5607283"/>
            <a:ext cx="63642" cy="63642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903720" y="1975104"/>
            <a:ext cx="3977639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1" i="0" u="none">
                <a:solidFill>
                  <a:srgbClr val="FFFFFF"/>
                </a:solidFill>
                <a:latin typeface="Times New Roman"/>
              </a:rPr>
              <a:t>Molekulalararo kuchlar
va sirt ortiqchasi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260336" y="2670048"/>
            <a:ext cx="3502152" cy="0"/>
          </a:xfrm>
          <a:prstGeom prst="line">
            <a:avLst/>
          </a:prstGeom>
          <a:ln w="8890">
            <a:solidFill>
              <a:srgbClr val="49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7040880" y="6236208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 u="none">
                <a:solidFill>
                  <a:srgbClr val="9AB1BF"/>
                </a:solidFill>
                <a:latin typeface="Times New Roman"/>
              </a:rPr>
              <a:t>Sxematik tasvir — o‘lchov ma’lumoti emas</a:t>
            </a:r>
          </a:p>
        </p:txBody>
      </p:sp>
      <p:pic>
        <p:nvPicPr>
          <p:cNvPr id="95" name="Picture 94" descr="interface_hero.png"/>
          <p:cNvPicPr>
            <a:picLocks noChangeAspect="1"/>
          </p:cNvPicPr>
          <p:nvPr/>
        </p:nvPicPr>
        <p:blipFill>
          <a:blip r:embed="rId2"/>
          <a:srcRect l="909" r="909"/>
          <a:stretch>
            <a:fillRect/>
          </a:stretch>
        </p:blipFill>
        <p:spPr>
          <a:xfrm>
            <a:off x="6537960" y="978408"/>
            <a:ext cx="4937760" cy="5029200"/>
          </a:xfrm>
          <a:prstGeom prst="rect">
            <a:avLst/>
          </a:prstGeom>
        </p:spPr>
      </p:pic>
      <p:sp>
        <p:nvSpPr>
          <p:cNvPr id="96" name="Rectangle 95"/>
          <p:cNvSpPr/>
          <p:nvPr/>
        </p:nvSpPr>
        <p:spPr>
          <a:xfrm>
            <a:off x="6537960" y="5532120"/>
            <a:ext cx="4937760" cy="475488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0" y="5632704"/>
            <a:ext cx="4480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</a:rPr>
              <a:t>SURFAKTANT MONOQAVATI  •  SXEMATIK MOLEKULYAR VIZUAL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7960" y="978408"/>
            <a:ext cx="4937760" cy="5029200"/>
          </a:xfrm>
          <a:prstGeom prst="rect">
            <a:avLst/>
          </a:prstGeom>
          <a:noFill/>
          <a:ln w="12700">
            <a:solidFill>
              <a:srgbClr val="2D5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01 / YO‘NALISH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Sirtni o‘rganish — to‘rtta bog‘langan savol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Taqdimot nazariy asos → matematik model → tajriba → qo‘llanish zanjiri bo‘yicha tuzilgan.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74519"/>
            <a:ext cx="50292" cy="23957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6968" y="2075688"/>
            <a:ext cx="438912" cy="438912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ENERGIYA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Sirtni yaratish
uchun qancha ish?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6968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24658A"/>
                </a:solidFill>
                <a:latin typeface="Times New Roman"/>
              </a:rPr>
              <a:t>γ = (∂G/∂A)ₜ,ₚ,ₙ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874519"/>
            <a:ext cx="50292" cy="23957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85032" y="2075688"/>
            <a:ext cx="438912" cy="43891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85032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TAQSIMOT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5032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Komponent sirtga
boyiydimi yoki yo‘q?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85032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85032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1BA6A6"/>
                </a:solidFill>
                <a:latin typeface="Times New Roman"/>
              </a:rPr>
              <a:t>Gibbs: Γ ↔ dγ/dμ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1928" y="1874519"/>
            <a:ext cx="50292" cy="23957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83096" y="2075688"/>
            <a:ext cx="438912" cy="43891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1736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3096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Monoqavatmi,
ko‘p qatlammi?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83096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83096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E79B4B"/>
                </a:solidFill>
                <a:latin typeface="Times New Roman"/>
              </a:rPr>
              <a:t>Langmuir • Freundlich •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816352"/>
            <a:ext cx="1645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79992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9992" y="1874519"/>
            <a:ext cx="50292" cy="2395728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281160" y="2075688"/>
            <a:ext cx="438912" cy="438912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2148840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2112264"/>
            <a:ext cx="16824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DALIL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2724912"/>
            <a:ext cx="223113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Model ma’lumotga
mos keladimi?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81160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81160" y="3584448"/>
            <a:ext cx="22494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D96C5F"/>
                </a:solidFill>
                <a:latin typeface="Times New Roman"/>
              </a:rPr>
              <a:t>Tajriba + xatolik + validatsiya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944" y="4617720"/>
            <a:ext cx="10835640" cy="1078992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4944" y="4617720"/>
            <a:ext cx="50292" cy="107899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4809744"/>
            <a:ext cx="15910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ILMIY MAQSAD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4764024"/>
            <a:ext cx="8641080" cy="59436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Sirt hodisalarining termodinamik sabablarini tushuntirish, adsorbsiya izotermalarini shartlari bilan qiyoslash va tajriba natijasini ehtiyotkor talqin qilish.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Asosiy tushunchalar: [1], [5], [7].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02 / TERMODINAMIKA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Interfeys — termodinamik tizimning faol qismi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Hajmdagi molekula kuchlari taxminan kompensatsiyalanadi; fazalar chegarasida simmetriya buzilib, qo‘shimcha erkin energiya paydo bo‘ladi.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673352"/>
            <a:ext cx="516636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673352"/>
            <a:ext cx="50292" cy="452628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0195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9" name="Oval 8"/>
          <p:cNvSpPr/>
          <p:nvPr/>
        </p:nvSpPr>
        <p:spPr>
          <a:xfrm>
            <a:off x="1600200" y="2962656"/>
            <a:ext cx="502920" cy="502920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1847088" y="2719425"/>
            <a:ext cx="0" cy="49011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47088" y="3209544"/>
            <a:ext cx="0" cy="490118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356969" y="3209544"/>
            <a:ext cx="490119" cy="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47088" y="3209544"/>
            <a:ext cx="490118" cy="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497878" y="2860334"/>
            <a:ext cx="349210" cy="34921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47088" y="2860334"/>
            <a:ext cx="349209" cy="349210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97878" y="3209544"/>
            <a:ext cx="349210" cy="34920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47088" y="3209544"/>
            <a:ext cx="349209" cy="349209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87552" y="372160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u="none">
                <a:solidFill>
                  <a:srgbClr val="10283F"/>
                </a:solidFill>
                <a:latin typeface="Times New Roman"/>
              </a:rPr>
              <a:t>HAJMDA
ΣF ≈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2624328"/>
            <a:ext cx="2423160" cy="2029968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62656" y="2798064"/>
            <a:ext cx="2423160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858768" y="2496312"/>
            <a:ext cx="475488" cy="47548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529584" y="2350008"/>
            <a:ext cx="566928" cy="384048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96512" y="2350008"/>
            <a:ext cx="566928" cy="384048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456432" y="2734056"/>
            <a:ext cx="640080" cy="13716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96512" y="2734056"/>
            <a:ext cx="640080" cy="13716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96512" y="2862072"/>
            <a:ext cx="0" cy="475488"/>
          </a:xfrm>
          <a:prstGeom prst="line">
            <a:avLst/>
          </a:prstGeom>
          <a:ln w="3302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90672" y="3968496"/>
            <a:ext cx="217627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u="none">
                <a:solidFill>
                  <a:srgbClr val="D96C5F"/>
                </a:solidFill>
                <a:latin typeface="Times New Roman"/>
              </a:rPr>
              <a:t>SIRTDA
net kuch ichkariga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4626864" cy="5943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0" i="0" u="none">
                <a:solidFill>
                  <a:srgbClr val="536879"/>
                </a:solidFill>
                <a:latin typeface="Times New Roman"/>
              </a:rPr>
              <a:t>Sirtni kattalashtirish uchun molekulalararo tortishishlarga qarshi ish bajariladi.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1673352"/>
            <a:ext cx="5349240" cy="182880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938528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65D2C2"/>
                </a:solidFill>
                <a:latin typeface="Times New Roman"/>
              </a:rPr>
              <a:t>SIRT YARATISHNING QAYTAR ISHI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23957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Times New Roman"/>
              </a:rPr>
              <a:t>dG = −S dT + V dP + Σ μᵢ dnᵢ + γ 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2953512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DCE8ED"/>
                </a:solidFill>
                <a:latin typeface="Times New Roman"/>
              </a:rPr>
              <a:t>T, P va tarkib o‘zgarmasa:  dGₛ = γ 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3730752"/>
            <a:ext cx="5349240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730752"/>
            <a:ext cx="50292" cy="24688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86784"/>
            <a:ext cx="4700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MUHIM TALQIN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4407408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 u="none">
                <a:solidFill>
                  <a:srgbClr val="10283F"/>
                </a:solidFill>
                <a:latin typeface="Times New Roman"/>
              </a:rPr>
              <a:t>γ = (∂G/∂A)ₜ,ₚ,ₙ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92240" y="5138928"/>
            <a:ext cx="461772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37376" y="5330952"/>
            <a:ext cx="466344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Toza suyuqlik–gaz chegarasida γ ning birliklari N·m⁻¹; son jihatdan J·m⁻² ga teng. Bu tenglik muvozanatdagi qaytar sirt ishi ta’rifidan kelib chiqadi.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Termodinamik ta’rif va sirt eksessi: [1], [6].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03 / SIRT TARANGLIGI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Sirt tarangligi — sirtni yaratish narxi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Kimyoviy tarkib, harorat, eritma tarkibi va qattiq sirtning namlanishi o‘zaro bog‘liq, lekin alohida kattaliklardir.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0784"/>
            <a:ext cx="55778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54772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4652010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456971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61872" y="3744468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366217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61872" y="2836926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8" y="275463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61872" y="1929384"/>
            <a:ext cx="480974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184708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61872" y="1929384"/>
            <a:ext cx="0" cy="363016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61872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64308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26563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4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29000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69179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31436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71616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33872" y="5632704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5797296"/>
            <a:ext cx="5257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Harorat, T/Tc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1911096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 u="none">
                <a:solidFill>
                  <a:srgbClr val="536879"/>
                </a:solidFill>
                <a:latin typeface="Times New Roman"/>
              </a:rPr>
              <a:t>γ/γ₀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261872" y="1929384"/>
            <a:ext cx="117310" cy="6573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79182" y="1995114"/>
            <a:ext cx="117311" cy="661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96493" y="2061272"/>
            <a:ext cx="117311" cy="6660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3804" y="2127873"/>
            <a:ext cx="117311" cy="6705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1115" y="2194932"/>
            <a:ext cx="117311" cy="6753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48426" y="2262464"/>
            <a:ext cx="117310" cy="6802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65736" y="2330485"/>
            <a:ext cx="117311" cy="6852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047" y="2399013"/>
            <a:ext cx="117311" cy="69055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00358" y="2468068"/>
            <a:ext cx="117311" cy="6960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17669" y="2537668"/>
            <a:ext cx="117311" cy="7016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34980" y="2607837"/>
            <a:ext cx="117311" cy="7076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52291" y="2678597"/>
            <a:ext cx="117310" cy="7137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69601" y="2749973"/>
            <a:ext cx="117311" cy="7201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86912" y="2821992"/>
            <a:ext cx="117311" cy="7269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04223" y="2894683"/>
            <a:ext cx="117311" cy="7339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21534" y="2968077"/>
            <a:ext cx="117311" cy="7413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38845" y="3042209"/>
            <a:ext cx="117311" cy="7490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56156" y="3117117"/>
            <a:ext cx="117310" cy="7572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73466" y="3192840"/>
            <a:ext cx="117311" cy="76585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90777" y="3269425"/>
            <a:ext cx="117311" cy="7749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08088" y="3346921"/>
            <a:ext cx="117311" cy="7846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25399" y="3425382"/>
            <a:ext cx="117311" cy="7948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2710" y="3504871"/>
            <a:ext cx="117311" cy="8058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60021" y="3585455"/>
            <a:ext cx="117310" cy="817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077331" y="3667213"/>
            <a:ext cx="117311" cy="8301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94642" y="3750231"/>
            <a:ext cx="117311" cy="8438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953" y="3834611"/>
            <a:ext cx="117311" cy="8585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29264" y="3920467"/>
            <a:ext cx="117311" cy="8746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46575" y="4007934"/>
            <a:ext cx="117311" cy="89236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63886" y="4097170"/>
            <a:ext cx="117310" cy="9119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781196" y="4188363"/>
            <a:ext cx="117311" cy="9337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8507" y="4281740"/>
            <a:ext cx="117311" cy="95842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015818" y="4377582"/>
            <a:ext cx="117311" cy="98658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3129" y="4476240"/>
            <a:ext cx="117311" cy="101927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250440" y="4578167"/>
            <a:ext cx="117311" cy="105799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67751" y="4683966"/>
            <a:ext cx="117310" cy="110510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485061" y="4794476"/>
            <a:ext cx="117311" cy="11645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02372" y="4910930"/>
            <a:ext cx="117311" cy="12437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719683" y="5035304"/>
            <a:ext cx="117311" cy="135893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836994" y="5171197"/>
            <a:ext cx="117311" cy="155831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954305" y="5327028"/>
            <a:ext cx="117311" cy="232524"/>
          </a:xfrm>
          <a:prstGeom prst="line">
            <a:avLst/>
          </a:prstGeom>
          <a:ln w="3556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016752" y="5504688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1938528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 u="none">
                <a:solidFill>
                  <a:srgbClr val="536879"/>
                </a:solidFill>
                <a:latin typeface="Times New Roman"/>
              </a:rPr>
              <a:t>Sxematik trend; o‘lchov nuqtalari emas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47104" y="1700784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47104" y="1700784"/>
            <a:ext cx="50292" cy="10241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93992" y="1883664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HARORAT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3992" y="2203704"/>
            <a:ext cx="4389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 u="none">
                <a:solidFill>
                  <a:srgbClr val="172B3A"/>
                </a:solidFill>
                <a:latin typeface="Times New Roman"/>
              </a:rPr>
              <a:t>Ko‘p suyuqliklarda T ↑ → γ ↓; kritik nuqtada γ → 0.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47104" y="2898648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2898648"/>
            <a:ext cx="50292" cy="10241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3072384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NAMLANISH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93992" y="340156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172B3A"/>
                </a:solidFill>
                <a:latin typeface="Times New Roman"/>
              </a:rPr>
              <a:t>Young tenglamasi: γSV − γSL = γLV cos θ  (ideal tekis sirt).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547104" y="4096512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47104" y="4096512"/>
            <a:ext cx="50292" cy="10241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93992" y="4270248"/>
            <a:ext cx="4407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ANTONOV QOIDASI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92" y="4599432"/>
            <a:ext cx="438912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172B3A"/>
                </a:solidFill>
                <a:latin typeface="Times New Roman"/>
              </a:rPr>
              <a:t>γ₁₂ ≈ |γ₁ − γ₂| — faqat ayrim, cheklangan aralashuvchi suyuqliklar uchun empirik yaqinlashuv.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565392" y="5385816"/>
            <a:ext cx="4892040" cy="5120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57416" y="5522976"/>
            <a:ext cx="450799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536879"/>
                </a:solidFill>
                <a:latin typeface="Times New Roman"/>
              </a:rPr>
              <a:t>Masalan: suv–havo, 20 °C da γ ≈ 72.8 mN·m⁻¹.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Asosiy nazariy manba: [3], [6].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04 / EGRI SIRTLAR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Egri sirt bosimni, bosim esa muvozanatni o‘zgartiradi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Suyuqlikning sirt egriligi Laplas bosimi bilan, bug‘ bosimi esa Kelvin munosabati bilan ifodalanadi.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9928"/>
            <a:ext cx="4645152" cy="44622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09928"/>
            <a:ext cx="50292" cy="446227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4114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LAPLACE BOSIMI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13432"/>
            <a:ext cx="413308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 u="none">
                <a:solidFill>
                  <a:srgbClr val="10283F"/>
                </a:solidFill>
                <a:latin typeface="Times New Roman"/>
              </a:rPr>
              <a:t>Δp = γ (1/R₁ + 1/R₂)</a:t>
            </a:r>
          </a:p>
        </p:txBody>
      </p:sp>
      <p:sp>
        <p:nvSpPr>
          <p:cNvPr id="10" name="Oval 9"/>
          <p:cNvSpPr/>
          <p:nvPr/>
        </p:nvSpPr>
        <p:spPr>
          <a:xfrm>
            <a:off x="1325880" y="3127248"/>
            <a:ext cx="1078992" cy="1078992"/>
          </a:xfrm>
          <a:prstGeom prst="ellipse">
            <a:avLst/>
          </a:prstGeom>
          <a:solidFill>
            <a:srgbClr val="E9F2F6"/>
          </a:solidFill>
          <a:ln w="1651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36776" y="3438144"/>
            <a:ext cx="457200" cy="45720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65376" y="3666744"/>
            <a:ext cx="621792" cy="0"/>
          </a:xfrm>
          <a:prstGeom prst="line">
            <a:avLst/>
          </a:prstGeom>
          <a:ln w="1778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79576" y="4334256"/>
            <a:ext cx="13716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u="none">
                <a:solidFill>
                  <a:srgbClr val="10283F"/>
                </a:solidFill>
                <a:latin typeface="Times New Roman"/>
              </a:rPr>
              <a:t>Tomchi: 2γ/r
Δp &gt;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36976" y="3063240"/>
            <a:ext cx="1133856" cy="1572768"/>
          </a:xfrm>
          <a:prstGeom prst="rect">
            <a:avLst/>
          </a:prstGeom>
          <a:solidFill>
            <a:srgbClr val="F4F7F8"/>
          </a:solidFill>
          <a:ln w="1270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3703320"/>
            <a:ext cx="877824" cy="804672"/>
          </a:xfrm>
          <a:prstGeom prst="rect">
            <a:avLst/>
          </a:prstGeom>
          <a:solidFill>
            <a:srgbClr val="B7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64992" y="3712463"/>
            <a:ext cx="155448" cy="109728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3822191"/>
            <a:ext cx="246888" cy="54865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67328" y="3822191"/>
            <a:ext cx="256032" cy="54865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23360" y="3712463"/>
            <a:ext cx="219456" cy="109728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4544568"/>
            <a:ext cx="1417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0283F"/>
                </a:solidFill>
                <a:latin typeface="Times New Roman"/>
              </a:rPr>
              <a:t>Botiq menisk
kapillyar ko‘tarilish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5330952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u="none">
                <a:solidFill>
                  <a:srgbClr val="536879"/>
                </a:solidFill>
                <a:latin typeface="Times New Roman"/>
              </a:rPr>
              <a:t>Soap pufakchada ikki sirt bor: Δp = 4γ/r. Kapillyar ko‘tarilish h = 2γ cosθ/(ρgr).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1709928"/>
            <a:ext cx="5870448" cy="1947672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956816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65D2C2"/>
                </a:solidFill>
                <a:latin typeface="Times New Roman"/>
              </a:rPr>
              <a:t>KELVIN MUNOSABATI — UMUMIY KO‘RINISH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239572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 u="none">
                <a:solidFill>
                  <a:srgbClr val="FFFFFF"/>
                </a:solidFill>
                <a:latin typeface="Times New Roman"/>
              </a:rPr>
              <a:t>ln(p/pₛₐₜ) = (γVₘ/RT)(1/R₁ + 1/R₂)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99232"/>
            <a:ext cx="528523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u="none">
                <a:solidFill>
                  <a:srgbClr val="DCE8ED"/>
                </a:solidFill>
                <a:latin typeface="Times New Roman"/>
              </a:rPr>
              <a:t>Egrilik ishorasi Kelvin bosimining oshishi yoki pasayishini belgilaydi.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3904487"/>
            <a:ext cx="5870448" cy="2267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3904487"/>
            <a:ext cx="50292" cy="226771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25312" y="4133087"/>
            <a:ext cx="5230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NAMLOVCHI SILINDRSIMON G‘OVAK UCHUN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0448" y="4535424"/>
            <a:ext cx="532180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 u="none">
                <a:solidFill>
                  <a:srgbClr val="10283F"/>
                </a:solidFill>
                <a:latin typeface="Times New Roman"/>
              </a:rPr>
              <a:t>ln(p/pₛₐₜ) ≈ −2γVₘ cosθ/(rₚRT)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75504"/>
            <a:ext cx="52578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536879"/>
                </a:solidFill>
                <a:latin typeface="Times New Roman"/>
              </a:rPr>
              <a:t>Ideal g‘ovak va muvozanat taxmini ostida p &lt; pₛₐₜ da kapillyar kondensatsiya yuz beradi; real g‘ovak tarmoqlarida gisterezis kuzatilishi mumkin.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Kapillyarlik va sirt kuchlari: [3], [6].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05 / 18</a:t>
            </a:r>
          </a:p>
        </p:txBody>
      </p:sp>
      <p:pic>
        <p:nvPicPr>
          <p:cNvPr id="34" name="Picture 33" descr="curvature_wetting.png"/>
          <p:cNvPicPr>
            <a:picLocks noChangeAspect="1"/>
          </p:cNvPicPr>
          <p:nvPr/>
        </p:nvPicPr>
        <p:blipFill>
          <a:blip r:embed="rId2"/>
          <a:srcRect l="8120" r="8120"/>
          <a:stretch>
            <a:fillRect/>
          </a:stretch>
        </p:blipFill>
        <p:spPr>
          <a:xfrm>
            <a:off x="914400" y="2990088"/>
            <a:ext cx="4224528" cy="2139696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914400" y="2990088"/>
            <a:ext cx="4224528" cy="2139696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05 / GIBBS ADSORBSIYASI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Sirt ortiqchasi — “sirtga qancha yig‘ildi?” savolining termodinamik javobi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Γ — tanlangan Gibbs ajratuvchi sirti bo‘yicha sirt ortiqchasi; uni adsorbatning mutlaq molekula soni bilan tenglashtirmaslik kerak.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28216"/>
            <a:ext cx="5074920" cy="134416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29384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 i="0" u="none">
                <a:solidFill>
                  <a:srgbClr val="65D2C2"/>
                </a:solidFill>
                <a:latin typeface="Times New Roman"/>
              </a:rPr>
              <a:t>NOIONIK ERITMA UCHUN, T VA p O‘ZGARMAS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13432"/>
            <a:ext cx="45902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 i="0" u="none">
                <a:solidFill>
                  <a:srgbClr val="FFFFFF"/>
                </a:solidFill>
                <a:latin typeface="Times New Roman"/>
              </a:rPr>
              <a:t>Γ₂ = −(1/RT) (∂γ/∂ln a₂)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10128"/>
            <a:ext cx="5074920" cy="2697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3310128"/>
            <a:ext cx="50292" cy="26974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387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MA’NO VA SHARTLAR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950208"/>
            <a:ext cx="4526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10" b="0" i="0">
                <a:solidFill>
                  <a:srgbClr val="172B3A"/>
                </a:solidFill>
                <a:latin typeface="Times New Roman"/>
              </a:rPr>
              <a:t>•  Γ₂ &gt; 0: komponent sirt qatlamida ortiqcha to‘plangan.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10" b="0" i="0">
                <a:solidFill>
                  <a:srgbClr val="172B3A"/>
                </a:solidFill>
                <a:latin typeface="Times New Roman"/>
              </a:rPr>
              <a:t>•  dγ/dln a₂ &lt; 0: odatda sirt-aktiv modda uchun.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36879"/>
                </a:solidFill>
                <a:latin typeface="Times New Roman"/>
              </a:rPr>
              <a:t>•  Ideal suyultirilgan holatda: Γ₂ = −(c₂/RT)(dγ/dc₂).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36879"/>
                </a:solidFill>
                <a:latin typeface="Times New Roman"/>
              </a:rPr>
              <a:t>•  Elektrolitda dissotsiatsiya va ionlar hisobga olinadi.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728216"/>
            <a:ext cx="539496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728216"/>
            <a:ext cx="50292" cy="42793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938528"/>
            <a:ext cx="48006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SIRT-AKTIV MOLEKULA — AMFIFIL TUZILISH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3849624"/>
            <a:ext cx="4572000" cy="1618488"/>
          </a:xfrm>
          <a:prstGeom prst="roundRect">
            <a:avLst/>
          </a:prstGeom>
          <a:solidFill>
            <a:srgbClr val="E8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55664" y="3849624"/>
            <a:ext cx="4572000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0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6967728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858000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967728" y="3310128"/>
            <a:ext cx="109728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671816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7781544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7671816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81544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85632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8595360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485632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95360" y="3310128"/>
            <a:ext cx="109728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299448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409176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9299448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409176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13264" y="3822192"/>
            <a:ext cx="219456" cy="219456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10222992" y="3236976"/>
            <a:ext cx="0" cy="566928"/>
          </a:xfrm>
          <a:prstGeom prst="line">
            <a:avLst/>
          </a:prstGeom>
          <a:ln w="2794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0113264" y="3410712"/>
            <a:ext cx="109728" cy="118872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222992" y="3310128"/>
            <a:ext cx="109727" cy="109728"/>
          </a:xfrm>
          <a:prstGeom prst="line">
            <a:avLst/>
          </a:prstGeom>
          <a:ln w="1270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726783" y="4645152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812280" y="4645152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769531" y="4602403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694093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0115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7577175" y="5166360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62672" y="5166360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619923" y="5123611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44485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20507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8528151" y="4599432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13648" y="4599432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570899" y="4556683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95461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71483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9469983" y="5138928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555480" y="5138928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12731" y="5096179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37293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13315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10420959" y="4617720"/>
            <a:ext cx="85497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06456" y="4617720"/>
            <a:ext cx="85496" cy="60350"/>
          </a:xfrm>
          <a:prstGeom prst="line">
            <a:avLst/>
          </a:prstGeom>
          <a:ln w="1778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463707" y="4574971"/>
            <a:ext cx="85496" cy="85496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388269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64291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8C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47104" y="276148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0" u="none">
                <a:solidFill>
                  <a:srgbClr val="172B3A"/>
                </a:solidFill>
                <a:latin typeface="Times New Roman"/>
              </a:rPr>
              <a:t>Sirt-aktiv moddalar γ ni kamaytirib, ko‘pincha Γ &gt; 0 hosil qiladi.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559612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0" b="0" i="1" u="none">
                <a:solidFill>
                  <a:srgbClr val="536879"/>
                </a:solidFill>
                <a:latin typeface="Times New Roman"/>
              </a:rPr>
              <a:t>Traube qoidasi — gomologik qatorlar uchun tarixiy empirik yo‘riq; universal qonun emas.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Gibbs sirt ortiqchasi va ta’rifi: [1].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06 / MEXANIZMLAR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“Sorbsiya” — turli fizik jarayonlar uchun umumiy atama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Jarayon turini faqat izoterma shaklidan emas, faza, kimyoviy bog‘lanish, vaqt va qaytarilish dalillaridan aniqlash kerak.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47088"/>
            <a:ext cx="50292" cy="353872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3352" y="2139696"/>
            <a:ext cx="694944" cy="694944"/>
          </a:xfrm>
          <a:prstGeom prst="ellipse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19656" y="2532888"/>
            <a:ext cx="557784" cy="0"/>
          </a:xfrm>
          <a:prstGeom prst="line">
            <a:avLst/>
          </a:prstGeom>
          <a:ln w="2540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42516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61972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1427" y="2359152"/>
            <a:ext cx="100584" cy="100584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2808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12264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2212848"/>
            <a:ext cx="0" cy="146304"/>
          </a:xfrm>
          <a:prstGeom prst="line">
            <a:avLst/>
          </a:prstGeom>
          <a:ln w="1651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039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FIZIKAVIY
ADSORBSIYA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80" b="0" i="0" u="none">
                <a:solidFill>
                  <a:srgbClr val="536879"/>
                </a:solidFill>
                <a:latin typeface="Times New Roman"/>
              </a:rPr>
              <a:t>Sirtga to‘planish; asosan dispersiv / elektrostatik ta’sirlar. Ko‘pincha qaytar va ko‘p qatlamli bo‘lishi mumkin.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4892040"/>
            <a:ext cx="1892807" cy="283464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 u="none">
                <a:solidFill>
                  <a:srgbClr val="24658A"/>
                </a:solidFill>
                <a:latin typeface="Times New Roman"/>
              </a:rPr>
              <a:t>Fizikaviy kuchlar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1847088"/>
            <a:ext cx="50292" cy="353872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2139696"/>
            <a:ext cx="694944" cy="694944"/>
          </a:xfrm>
          <a:prstGeom prst="ellipse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82312" y="2331720"/>
            <a:ext cx="164592" cy="16459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38928" y="2331720"/>
            <a:ext cx="164592" cy="164592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414016"/>
            <a:ext cx="201168" cy="0"/>
          </a:xfrm>
          <a:prstGeom prst="line">
            <a:avLst/>
          </a:prstGeom>
          <a:ln w="2540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3075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XEMOSORBSIYA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80" b="0" i="0" u="none">
                <a:solidFill>
                  <a:srgbClr val="536879"/>
                </a:solidFill>
                <a:latin typeface="Times New Roman"/>
              </a:rPr>
              <a:t>Sirt markazlari bilan kimyoviy bog‘ hosil bo‘lishi mumkin; selektivlik va aktivlanish energiyasi muhim.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59352" y="4892040"/>
            <a:ext cx="1892807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592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 u="none">
                <a:solidFill>
                  <a:srgbClr val="E79B4B"/>
                </a:solidFill>
                <a:latin typeface="Times New Roman"/>
              </a:rPr>
              <a:t>Kimyoviy sirt bog‘i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1847088"/>
            <a:ext cx="50292" cy="353872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34071" y="2139696"/>
            <a:ext cx="694944" cy="694944"/>
          </a:xfrm>
          <a:prstGeom prst="ellipse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53527" y="2359152"/>
            <a:ext cx="256032" cy="25603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27848" y="2359152"/>
            <a:ext cx="256032" cy="256032"/>
          </a:xfrm>
          <a:prstGeom prst="ellipse">
            <a:avLst/>
          </a:prstGeom>
          <a:solidFill>
            <a:srgbClr val="6AC8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29016" y="2359152"/>
            <a:ext cx="256032" cy="256032"/>
          </a:xfrm>
          <a:prstGeom prst="ellipse">
            <a:avLst/>
          </a:prstGeom>
          <a:solidFill>
            <a:srgbClr val="A7D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ABSORBSIYA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80" b="0" i="0" u="none">
                <a:solidFill>
                  <a:srgbClr val="536879"/>
                </a:solidFill>
                <a:latin typeface="Times New Roman"/>
              </a:rPr>
              <a:t>Modda ikkinchi fazaning hajmiga kirib, butun faza bo‘ylab taqsimlanadi.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39712" y="4892040"/>
            <a:ext cx="1892807" cy="283464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 u="none">
                <a:solidFill>
                  <a:srgbClr val="1BA6A6"/>
                </a:solidFill>
                <a:latin typeface="Times New Roman"/>
              </a:rPr>
              <a:t>Hajmiy tarqalish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2688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1847088"/>
            <a:ext cx="50292" cy="3538728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14432" y="2139696"/>
            <a:ext cx="694944" cy="694944"/>
          </a:xfrm>
          <a:prstGeom prst="ellipse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06455" y="2286000"/>
            <a:ext cx="384048" cy="301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96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25328" y="2359152"/>
            <a:ext cx="146304" cy="146304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035808"/>
            <a:ext cx="234086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KAPILLYAR
KONDENSATSIYA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7192" y="3712463"/>
            <a:ext cx="2249424" cy="9601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80" b="0" i="0" u="none">
                <a:solidFill>
                  <a:srgbClr val="536879"/>
                </a:solidFill>
                <a:latin typeface="Times New Roman"/>
              </a:rPr>
              <a:t>G‘ovakda bug‘ning suyuqlik fazasiga to‘lishi; Kelvin egriligi va g‘ovak geometriyasi muhim.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20072" y="4892040"/>
            <a:ext cx="1892807" cy="283464"/>
          </a:xfrm>
          <a:prstGeom prst="roundRect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6647" y="4905755"/>
            <a:ext cx="1819655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 u="none">
                <a:solidFill>
                  <a:srgbClr val="D96C5F"/>
                </a:solidFill>
                <a:latin typeface="Times New Roman"/>
              </a:rPr>
              <a:t>G‘ovakni to‘ldirish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" y="5660136"/>
            <a:ext cx="10771632" cy="438912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769864"/>
            <a:ext cx="10378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40" b="1" i="0" u="none">
                <a:solidFill>
                  <a:srgbClr val="10283F"/>
                </a:solidFill>
                <a:latin typeface="Times New Roman"/>
              </a:rPr>
              <a:t>Muhim farq: xemosorbsiya — adsorbsiyaning sirt bog‘lanishli turi; absorbsiya esa hajmiy yutilishdir.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Atamalar va mexanizmlar: [1], [5], [6].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07 / ADSORBSIYA MODELLARI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Izoterma — mexanizmning model orqali ifodasi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Muvozanat izotermasi harorat doimiy bo‘lganda qₑ ning Cₑ yoki p/pₛₐₜ ga bog‘liqligidir; model tanlovi tizimga mos bo‘lishi kerak.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67128" y="1828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FIZIK TASAVVUR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1828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ASOSIY SHAKL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1828800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FOYDA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8" y="1828800"/>
            <a:ext cx="1965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CHEKLOV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50008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LANGMUIR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0008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72B3A"/>
                </a:solidFill>
                <a:latin typeface="Times New Roman"/>
              </a:rPr>
              <a:t>Chekli faol markazlar;
monoqavat qoplanish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2350008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50" b="1" i="0" u="none">
                <a:solidFill>
                  <a:srgbClr val="10283F"/>
                </a:solidFill>
                <a:latin typeface="Times New Roman"/>
              </a:rPr>
              <a:t>qₑ = qₘ bCₑ/(1+bCₑ)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350008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BA6A6"/>
                </a:solidFill>
                <a:latin typeface="Times New Roman"/>
              </a:rPr>
              <a:t>Monoqavat sig‘imi, qₘ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39" y="2350008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Bir xil markazlar; raqobatsiz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246120"/>
            <a:ext cx="10808208" cy="905256"/>
          </a:xfrm>
          <a:prstGeom prst="roundRect">
            <a:avLst/>
          </a:prstGeom>
          <a:solidFill>
            <a:srgbClr val="F0F4F6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383279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FREUNDLICH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3383279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72B3A"/>
                </a:solidFill>
                <a:latin typeface="Times New Roman"/>
              </a:rPr>
              <a:t>Geterogen sirt uchun
empirik darajali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5464" y="3383279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50" b="1" i="0" u="none">
                <a:solidFill>
                  <a:srgbClr val="10283F"/>
                </a:solidFill>
                <a:latin typeface="Times New Roman"/>
              </a:rPr>
              <a:t>qₑ = K_F Cₑ^(1/n)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3383279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BA6A6"/>
                </a:solidFill>
                <a:latin typeface="Times New Roman"/>
              </a:rPr>
              <a:t>Chekli oraliqdagi trend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39" y="3383279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To‘yinish platosi yo‘q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79392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16552"/>
            <a:ext cx="129844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4658A"/>
                </a:solidFill>
                <a:latin typeface="Times New Roman"/>
              </a:rPr>
              <a:t>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4416552"/>
            <a:ext cx="261518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72B3A"/>
                </a:solidFill>
                <a:latin typeface="Times New Roman"/>
              </a:rPr>
              <a:t>Gaz fazasida ko‘p qatlam;
sirt maydonini baholash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5464" y="4416552"/>
            <a:ext cx="2706624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50" b="1" i="0" u="none">
                <a:solidFill>
                  <a:srgbClr val="10283F"/>
                </a:solidFill>
                <a:latin typeface="Times New Roman"/>
              </a:rPr>
              <a:t>v/vₘ = f(p/p₀)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19" y="4416552"/>
            <a:ext cx="1847088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1BA6A6"/>
                </a:solidFill>
                <a:latin typeface="Times New Roman"/>
              </a:rPr>
              <a:t>Monoqavat sig‘imi, vₘ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4416552"/>
            <a:ext cx="1920240" cy="612648"/>
          </a:xfrm>
          <a:prstGeom prst="rect">
            <a:avLst/>
          </a:prstGeom>
          <a:noFill/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G‘ovak turi va diapazon muhim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248656"/>
            <a:ext cx="10789920" cy="758952"/>
          </a:xfrm>
          <a:prstGeom prst="roundRect">
            <a:avLst/>
          </a:prstGeom>
          <a:solidFill>
            <a:srgbClr val="FFF4E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248656"/>
            <a:ext cx="50292" cy="75895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413248"/>
            <a:ext cx="1024128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20" b="0" i="0" u="none">
                <a:solidFill>
                  <a:srgbClr val="172B3A"/>
                </a:solidFill>
                <a:latin typeface="Times New Roman"/>
              </a:rPr>
              <a:t>Modelni tanlashda muvozanat shartlari, mexanizm, parametrlarning fizik mazmuni, qoldiq xatolar va mustaqil validatsiya birgalikda baholanadi. R² ning kattaligi o‘zi yetarli dalil emas.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Izoterma modellarini tanqidiy qiyoslash: [5], [7].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08 / MONOQAVAT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Langmuir: bo‘sh markazlar + bir qatlamli qoplanish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Model gaz adsorbsiyasini tavsiflashdan boshlangan; eritma tizimlariga qo‘llashda solvent, pH va raqobat ta’sirlari hisobga olinadi.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19072"/>
            <a:ext cx="5074920" cy="129844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65D2C2"/>
                </a:solidFill>
                <a:latin typeface="Times New Roman"/>
              </a:rPr>
              <a:t>LANGMUIR IZOTERMASI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67712"/>
            <a:ext cx="459028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 u="none">
                <a:solidFill>
                  <a:srgbClr val="FFFFFF"/>
                </a:solidFill>
                <a:latin typeface="Times New Roman"/>
              </a:rPr>
              <a:t>qₑ = qₘ bCₑ / (1 + bCₑ)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3273552"/>
            <a:ext cx="5084064" cy="2670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53492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71016" y="4949190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486689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71016" y="4466844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438454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71016" y="3984498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8952" y="390220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1016" y="3502152"/>
            <a:ext cx="4315968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58952" y="34198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71016" y="3502152"/>
            <a:ext cx="0" cy="1929384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71016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33272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50008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12264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91256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07992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86984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49240" y="5504688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2456" y="5669280"/>
            <a:ext cx="4764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bCₑ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348386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 u="none">
                <a:solidFill>
                  <a:srgbClr val="536879"/>
                </a:solidFill>
                <a:latin typeface="Times New Roman"/>
              </a:rPr>
              <a:t>qₑ/qₘ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271016" y="5270754"/>
            <a:ext cx="98090" cy="16078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69106" y="5134707"/>
            <a:ext cx="98090" cy="13604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67196" y="5018096"/>
            <a:ext cx="98090" cy="11661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65286" y="4917033"/>
            <a:ext cx="98090" cy="10106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63376" y="4828603"/>
            <a:ext cx="98090" cy="8843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61466" y="4750576"/>
            <a:ext cx="98091" cy="7802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59557" y="4681220"/>
            <a:ext cx="98090" cy="6935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57647" y="4619163"/>
            <a:ext cx="98090" cy="6205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55737" y="4563313"/>
            <a:ext cx="98090" cy="5585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3827" y="4512781"/>
            <a:ext cx="98090" cy="5053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251917" y="4466844"/>
            <a:ext cx="98091" cy="4593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0008" y="4424900"/>
            <a:ext cx="98090" cy="41944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48098" y="4386453"/>
            <a:ext cx="98090" cy="3844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46188" y="4351080"/>
            <a:ext cx="98090" cy="3537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44278" y="4318429"/>
            <a:ext cx="98090" cy="3265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42368" y="4288197"/>
            <a:ext cx="98090" cy="30232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0458" y="4260124"/>
            <a:ext cx="98091" cy="2807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38549" y="4233987"/>
            <a:ext cx="98090" cy="2613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36639" y="4209592"/>
            <a:ext cx="98090" cy="243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34729" y="4186772"/>
            <a:ext cx="98090" cy="2282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32819" y="4165377"/>
            <a:ext cx="98090" cy="213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30909" y="4145280"/>
            <a:ext cx="98091" cy="2009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429000" y="4126364"/>
            <a:ext cx="98090" cy="1891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27090" y="4108529"/>
            <a:ext cx="98090" cy="1783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625180" y="4091686"/>
            <a:ext cx="98090" cy="1684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23270" y="4075752"/>
            <a:ext cx="98090" cy="15934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21360" y="4060657"/>
            <a:ext cx="98090" cy="1509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919450" y="4046337"/>
            <a:ext cx="98091" cy="1432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17541" y="4032732"/>
            <a:ext cx="98090" cy="1360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115631" y="4019791"/>
            <a:ext cx="98090" cy="1294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13721" y="4007466"/>
            <a:ext cx="98090" cy="12325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311811" y="3995715"/>
            <a:ext cx="98090" cy="11751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409901" y="3984498"/>
            <a:ext cx="98091" cy="1121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507992" y="3973779"/>
            <a:ext cx="98090" cy="10719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606082" y="3963526"/>
            <a:ext cx="98090" cy="1025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04172" y="3953709"/>
            <a:ext cx="98090" cy="981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802262" y="3944302"/>
            <a:ext cx="98090" cy="94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00352" y="3935279"/>
            <a:ext cx="98090" cy="902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98442" y="3926616"/>
            <a:ext cx="98091" cy="866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096533" y="3918293"/>
            <a:ext cx="98090" cy="832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194623" y="3910290"/>
            <a:ext cx="98090" cy="8003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292713" y="3902590"/>
            <a:ext cx="98090" cy="7700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0803" y="3895174"/>
            <a:ext cx="98090" cy="741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488893" y="3888028"/>
            <a:ext cx="98091" cy="7146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6099048" y="1719072"/>
            <a:ext cx="5404104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99048" y="1719072"/>
            <a:ext cx="50292" cy="13075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55080" y="1883664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SIRT TO‘LISH DARAJASI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27648" y="2231136"/>
            <a:ext cx="4837176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 u="none">
                <a:solidFill>
                  <a:srgbClr val="10283F"/>
                </a:solidFill>
                <a:latin typeface="Times New Roman"/>
              </a:rPr>
              <a:t>θ = qₑ/qₘ = bCₑ/(1+bCₑ)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3264408"/>
            <a:ext cx="5404104" cy="12710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99048" y="3264408"/>
            <a:ext cx="50292" cy="1271016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64224" y="3438144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1BA6A6"/>
                </a:solidFill>
                <a:latin typeface="Times New Roman"/>
              </a:rPr>
              <a:t>FAOL MARKAZLAR: BO‘SH VA EGALLANGAN</a:t>
            </a:r>
          </a:p>
        </p:txBody>
      </p:sp>
      <p:sp>
        <p:nvSpPr>
          <p:cNvPr id="85" name="Oval 84"/>
          <p:cNvSpPr/>
          <p:nvPr/>
        </p:nvSpPr>
        <p:spPr>
          <a:xfrm>
            <a:off x="645566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94575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V="1">
            <a:off x="6995159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7333488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7434071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772400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11312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8311896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65022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89136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9189719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9528048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9628632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9966959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405872" y="3968496"/>
            <a:ext cx="201168" cy="20116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0506455" y="3749039"/>
            <a:ext cx="0" cy="219457"/>
          </a:xfrm>
          <a:prstGeom prst="line">
            <a:avLst/>
          </a:prstGeom>
          <a:ln w="1905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437376" y="4736592"/>
            <a:ext cx="4727448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 i="0" u="none">
                <a:solidFill>
                  <a:srgbClr val="536879"/>
                </a:solidFill>
                <a:latin typeface="Times New Roman"/>
              </a:rPr>
              <a:t>b — muvozanat konstantasi (Cₑ ga teskari birlikda)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099048" y="5138928"/>
            <a:ext cx="5404104" cy="786384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99048" y="5138928"/>
            <a:ext cx="50292" cy="786384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36792" y="5294376"/>
            <a:ext cx="4882896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 u="none">
                <a:solidFill>
                  <a:srgbClr val="172B3A"/>
                </a:solidFill>
                <a:latin typeface="Times New Roman"/>
              </a:rPr>
              <a:t>Farazlar: teng energiyali mustaqil markazlar, monoqavat, muvozanat. Real geterogen sirtlarda bu taxminlar buzilishi mumkin.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Langmuirning klassik modeli: [2]; talqin va cheklovlar: [5], [7].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09 / GETEROGEN SIRT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Freundlich: cheklangan oraliqdagi empirik qonuniyat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Ko‘p energiyali markazlarga ega materiallar uchun foydali yaqinlashuv; parametrlarni aynan qo‘llangan konsentratsiya va birliklar bilan berish lozim.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55648"/>
            <a:ext cx="3950208" cy="1316736"/>
          </a:xfrm>
          <a:prstGeom prst="roundRect">
            <a:avLst/>
          </a:prstGeom>
          <a:solidFill>
            <a:srgbClr val="E7F5F2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" y="1755648"/>
            <a:ext cx="50292" cy="1316736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47672"/>
            <a:ext cx="345643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BA6A6"/>
                </a:solidFill>
                <a:latin typeface="Times New Roman"/>
              </a:rPr>
              <a:t>FREUNDLICH IZOTERMASI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313432"/>
            <a:ext cx="349300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 u="none">
                <a:solidFill>
                  <a:srgbClr val="10283F"/>
                </a:solidFill>
                <a:latin typeface="Times New Roman"/>
              </a:rPr>
              <a:t>qₑ = K_F Cₑ^(1/n)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3337560"/>
            <a:ext cx="395020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" y="3337560"/>
            <a:ext cx="50292" cy="248716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341071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 i="0" u="none">
                <a:solidFill>
                  <a:srgbClr val="24658A"/>
                </a:solidFill>
                <a:latin typeface="Times New Roman"/>
              </a:rPr>
              <a:t>LOGARIFMIK KO‘RINISH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913632"/>
            <a:ext cx="346557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40" b="1" i="0" u="none">
                <a:solidFill>
                  <a:srgbClr val="10283F"/>
                </a:solidFill>
                <a:latin typeface="Times New Roman"/>
              </a:rPr>
              <a:t>ln qₑ = ln K_F + (1/n) ln Cₑ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" y="4526280"/>
            <a:ext cx="338328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" y="4709160"/>
            <a:ext cx="340156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080" b="0" i="0">
                <a:solidFill>
                  <a:srgbClr val="172B3A"/>
                </a:solidFill>
                <a:latin typeface="Times New Roman"/>
              </a:rPr>
              <a:t>•  1/n — empirik nishab parametri.</a:t>
            </a:r>
          </a:p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040" b="0" i="0">
                <a:solidFill>
                  <a:srgbClr val="536879"/>
                </a:solidFill>
                <a:latin typeface="Times New Roman"/>
              </a:rPr>
              <a:t>•  K_F birliklari 1/n va C birliklariga bog‘liq.</a:t>
            </a:r>
          </a:p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040" b="0" i="0">
                <a:solidFill>
                  <a:srgbClr val="536879"/>
                </a:solidFill>
                <a:latin typeface="Times New Roman"/>
              </a:rPr>
              <a:t>•  Cheksiz C da to‘yinishni bermaydi.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65192" y="1755648"/>
            <a:ext cx="6501384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0055" y="523036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4480560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0055" y="43982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3648456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0055" y="356616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32120" y="2816352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0055" y="273405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32120" y="1984248"/>
            <a:ext cx="5733287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0055" y="190195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32120" y="1984248"/>
            <a:ext cx="0" cy="3328416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2120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94376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65442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27698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98763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61019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2085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594341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265407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27663" y="538581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59" y="5550408"/>
            <a:ext cx="6181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Cₑ / C*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1965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 u="none">
                <a:solidFill>
                  <a:srgbClr val="536879"/>
                </a:solidFill>
                <a:latin typeface="Times New Roman"/>
              </a:rPr>
              <a:t>qₑ / q*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5532120" y="5090769"/>
            <a:ext cx="139836" cy="22189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671956" y="4887307"/>
            <a:ext cx="139836" cy="20346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811792" y="4700072"/>
            <a:ext cx="139836" cy="18723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951628" y="4527197"/>
            <a:ext cx="139837" cy="17287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91465" y="4367091"/>
            <a:ext cx="139836" cy="16010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31301" y="4218390"/>
            <a:ext cx="139836" cy="148701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71137" y="4079917"/>
            <a:ext cx="139837" cy="13847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510974" y="3950652"/>
            <a:ext cx="139836" cy="12926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650810" y="3829706"/>
            <a:ext cx="139836" cy="12094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790646" y="3716301"/>
            <a:ext cx="139836" cy="11340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930482" y="3609753"/>
            <a:ext cx="139837" cy="10654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070319" y="3509458"/>
            <a:ext cx="139836" cy="10029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210155" y="3414882"/>
            <a:ext cx="139836" cy="9457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349991" y="3325549"/>
            <a:ext cx="139837" cy="8933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489828" y="3241035"/>
            <a:ext cx="139836" cy="84514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629664" y="3160960"/>
            <a:ext cx="139836" cy="80075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769500" y="3084984"/>
            <a:ext cx="139836" cy="7597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909336" y="3012798"/>
            <a:ext cx="139837" cy="7218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49173" y="2944128"/>
            <a:ext cx="139836" cy="6867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189009" y="2878721"/>
            <a:ext cx="139836" cy="65407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28845" y="2816351"/>
            <a:ext cx="139837" cy="6237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468682" y="2756812"/>
            <a:ext cx="139836" cy="5953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608518" y="2699914"/>
            <a:ext cx="139836" cy="5689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48354" y="2645485"/>
            <a:ext cx="139837" cy="5442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88191" y="2593369"/>
            <a:ext cx="139836" cy="5211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028027" y="2543421"/>
            <a:ext cx="139836" cy="4994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67863" y="2495509"/>
            <a:ext cx="139836" cy="4791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307699" y="2449510"/>
            <a:ext cx="139837" cy="4599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447536" y="2405312"/>
            <a:ext cx="139836" cy="44198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87372" y="2362812"/>
            <a:ext cx="139836" cy="4250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727208" y="2321913"/>
            <a:ext cx="139837" cy="4089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867045" y="2282527"/>
            <a:ext cx="139836" cy="3938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006881" y="2244571"/>
            <a:ext cx="139836" cy="3795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146717" y="2207968"/>
            <a:ext cx="139836" cy="3660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286553" y="2172648"/>
            <a:ext cx="139837" cy="35320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426390" y="2138545"/>
            <a:ext cx="139836" cy="34103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566226" y="2105596"/>
            <a:ext cx="139836" cy="3294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706062" y="2073744"/>
            <a:ext cx="139837" cy="31852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45899" y="2042935"/>
            <a:ext cx="139836" cy="30809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985735" y="2013119"/>
            <a:ext cx="139836" cy="29816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1125571" y="1984248"/>
            <a:ext cx="139836" cy="28871"/>
          </a:xfrm>
          <a:prstGeom prst="line">
            <a:avLst/>
          </a:prstGeom>
          <a:ln w="29209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32120" y="4792852"/>
            <a:ext cx="139836" cy="51981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71956" y="4577539"/>
            <a:ext cx="139836" cy="21531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811792" y="4412324"/>
            <a:ext cx="139836" cy="16521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951628" y="4273041"/>
            <a:ext cx="139837" cy="13928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091465" y="4150330"/>
            <a:ext cx="139836" cy="12271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231301" y="4039391"/>
            <a:ext cx="139836" cy="11093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371137" y="3937372"/>
            <a:ext cx="139837" cy="10201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510974" y="3842415"/>
            <a:ext cx="139836" cy="9495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650810" y="3753230"/>
            <a:ext cx="139836" cy="8918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790646" y="3668876"/>
            <a:ext cx="139836" cy="843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930482" y="3588645"/>
            <a:ext cx="139837" cy="8023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070319" y="3511985"/>
            <a:ext cx="139836" cy="7666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7210155" y="3438457"/>
            <a:ext cx="139836" cy="73528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7349991" y="3367708"/>
            <a:ext cx="139837" cy="7074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489828" y="3299443"/>
            <a:ext cx="139836" cy="68265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629664" y="3233419"/>
            <a:ext cx="139836" cy="6602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769500" y="3169427"/>
            <a:ext cx="139836" cy="6399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909336" y="3107291"/>
            <a:ext cx="139837" cy="6213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049173" y="3046859"/>
            <a:ext cx="139836" cy="6043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8189009" y="2987997"/>
            <a:ext cx="139836" cy="5886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8328845" y="2930589"/>
            <a:ext cx="139837" cy="57408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468682" y="2874533"/>
            <a:ext cx="139836" cy="5605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8608518" y="2819736"/>
            <a:ext cx="139836" cy="5479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8748354" y="2766119"/>
            <a:ext cx="139837" cy="5361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8888191" y="2713607"/>
            <a:ext cx="139836" cy="5251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028027" y="2662136"/>
            <a:ext cx="139836" cy="5147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167863" y="2611645"/>
            <a:ext cx="139836" cy="5049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9307699" y="2562081"/>
            <a:ext cx="139837" cy="4956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9447536" y="2513394"/>
            <a:ext cx="139836" cy="48687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9587372" y="2465540"/>
            <a:ext cx="139836" cy="478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9727208" y="2418477"/>
            <a:ext cx="139837" cy="4706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867045" y="2372167"/>
            <a:ext cx="139836" cy="4631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0006881" y="2326575"/>
            <a:ext cx="139836" cy="45592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0146717" y="2281669"/>
            <a:ext cx="139836" cy="44906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0286553" y="2237419"/>
            <a:ext cx="139837" cy="44250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0426390" y="2193796"/>
            <a:ext cx="139836" cy="4362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0566226" y="2150775"/>
            <a:ext cx="139836" cy="4302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0706062" y="2108332"/>
            <a:ext cx="139837" cy="42443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0845899" y="2066443"/>
            <a:ext cx="139836" cy="41889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0985735" y="2025089"/>
            <a:ext cx="139836" cy="41354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1125571" y="1984248"/>
            <a:ext cx="139836" cy="40841"/>
          </a:xfrm>
          <a:prstGeom prst="line">
            <a:avLst/>
          </a:prstGeom>
          <a:ln w="29209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321040" y="2084831"/>
            <a:ext cx="402336" cy="0"/>
          </a:xfrm>
          <a:prstGeom prst="line">
            <a:avLst/>
          </a:prstGeom>
          <a:ln w="2794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8787384" y="1993392"/>
            <a:ext cx="1143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24658A"/>
                </a:solidFill>
                <a:latin typeface="Times New Roman"/>
              </a:rPr>
              <a:t>Langmuir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9893808" y="2084831"/>
            <a:ext cx="402336" cy="0"/>
          </a:xfrm>
          <a:prstGeom prst="line">
            <a:avLst/>
          </a:prstGeom>
          <a:ln w="27940">
            <a:solidFill>
              <a:srgbClr val="E79B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41864" y="1993392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E79B4B"/>
                </a:solidFill>
                <a:latin typeface="Times New Roman"/>
              </a:rPr>
              <a:t>Freundlich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59552" y="5477256"/>
            <a:ext cx="5303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0" b="0" i="1" u="none">
                <a:solidFill>
                  <a:srgbClr val="536879"/>
                </a:solidFill>
                <a:latin typeface="Times New Roman"/>
              </a:rPr>
              <a:t>Sxematik, normallangan model chiziqlari; tajriba natijasi emas.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Modellarning qo‘llanish doirasi: [5], [7].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10 / KO‘P QATLAM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BET: ko‘p qatlamli adsorbsiya orqali sirt maydoni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BET modeli gaz adsorbsiyasida birinchi qatlam energiyasini keyingi qatlamlardagi kondensatsiya bilan farqlaydi.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19072"/>
            <a:ext cx="5541264" cy="138988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5047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65D2C2"/>
                </a:solidFill>
                <a:latin typeface="Times New Roman"/>
              </a:rPr>
              <a:t>BET IZOTERMASI  (x = p/p₀)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267712"/>
            <a:ext cx="51389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50" b="1" i="0" u="none">
                <a:solidFill>
                  <a:srgbClr val="FFFFFF"/>
                </a:solidFill>
                <a:latin typeface="Times New Roman"/>
              </a:rPr>
              <a:t>v/vₘ = Cx / [(1−x)(1+(C−1)x)]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3337560"/>
            <a:ext cx="5541264" cy="2578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3337560"/>
            <a:ext cx="50292" cy="257860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5478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BET CHIZIQLI KO‘RINISHI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509320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0" b="1" i="0" u="none">
                <a:solidFill>
                  <a:srgbClr val="10283F"/>
                </a:solidFill>
                <a:latin typeface="Times New Roman"/>
              </a:rPr>
              <a:t>x/[v(1−x)] = 1/(vₘC) + [(C−1)/(vₘC)]x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6696" y="4553712"/>
            <a:ext cx="493776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87552" y="4754880"/>
            <a:ext cx="4919472" cy="8686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0" i="0" u="none">
                <a:solidFill>
                  <a:srgbClr val="536879"/>
                </a:solidFill>
                <a:latin typeface="Times New Roman"/>
              </a:rPr>
              <a:t>Chiziqdan vₘ va C aniqlanadi; so‘ng monoqavat hajmidan sirt maydoni baholanadi. N₂ (77 K) uchun molekulyar kesim maydoni ko‘pincha 0.162 nm² deb olinadi.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8816" y="1719072"/>
            <a:ext cx="4956048" cy="41970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79" y="532180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4539996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79" y="445770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95744" y="3675887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79" y="3593591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2811780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79" y="272948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4" y="1947672"/>
            <a:ext cx="4187951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79" y="1865376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95744" y="1947672"/>
            <a:ext cx="0" cy="3456432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0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42731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04988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89719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51976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236707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998963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283695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45951" y="5477256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3" y="5641848"/>
            <a:ext cx="46360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x = p/p₀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65392" y="1929384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 u="none">
                <a:solidFill>
                  <a:srgbClr val="536879"/>
                </a:solidFill>
                <a:latin typeface="Times New Roman"/>
              </a:rPr>
              <a:t>x/[v(1−x)]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095744" y="4891860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50853" y="482895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405962" y="4766046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561071" y="4703139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16181" y="4640232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71290" y="4577325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026399" y="4514418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181509" y="4451511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36618" y="4388604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91727" y="4325697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46837" y="4262790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801946" y="419988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957055" y="4136976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112165" y="4074068"/>
            <a:ext cx="155109" cy="62908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67274" y="4011161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422383" y="3948254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577493" y="3885347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732602" y="3822440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887712" y="3759533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42821" y="3696626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197930" y="3633719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353039" y="3570812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508149" y="3507905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663258" y="3444998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18367" y="3382091"/>
            <a:ext cx="155110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973477" y="3319184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128586" y="3256277"/>
            <a:ext cx="155109" cy="62907"/>
          </a:xfrm>
          <a:prstGeom prst="line">
            <a:avLst/>
          </a:prstGeom>
          <a:ln w="330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095744" y="3209131"/>
            <a:ext cx="380722" cy="47146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76466" y="3154796"/>
            <a:ext cx="380723" cy="54335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57189" y="3093271"/>
            <a:ext cx="380723" cy="61525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37912" y="3024557"/>
            <a:ext cx="380723" cy="68714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618635" y="2948654"/>
            <a:ext cx="380723" cy="75903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999358" y="2865562"/>
            <a:ext cx="380723" cy="8309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380081" y="2775280"/>
            <a:ext cx="380723" cy="9028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760804" y="2677808"/>
            <a:ext cx="380723" cy="97472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141527" y="2573147"/>
            <a:ext cx="380723" cy="104661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522250" y="2461297"/>
            <a:ext cx="380723" cy="111850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902973" y="2342258"/>
            <a:ext cx="380723" cy="119039"/>
          </a:xfrm>
          <a:prstGeom prst="line">
            <a:avLst/>
          </a:prstGeom>
          <a:ln w="3048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168896" y="2176272"/>
            <a:ext cx="2194560" cy="310896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32904" y="2249424"/>
            <a:ext cx="20665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1BA6A6"/>
                </a:solidFill>
                <a:latin typeface="Times New Roman"/>
              </a:rPr>
              <a:t>tanlangan chiziqli soha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4425696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D96C5F"/>
                </a:solidFill>
                <a:latin typeface="Times New Roman"/>
              </a:rPr>
              <a:t>yuqori x da og‘ish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6288" y="560527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90" b="0" i="1" u="none">
                <a:solidFill>
                  <a:srgbClr val="536879"/>
                </a:solidFill>
                <a:latin typeface="Times New Roman"/>
              </a:rPr>
              <a:t>Sxematik BET grafigi; tajriba ma’lumoti emas.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BET nazariyasi: [3]; metodik tavsiyalar va cheklovlar: [4].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11 / G‘OVAKLAR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IUPAC tasnifi g‘ovak kengligiga asoslanadi; ko‘ndalang kesimlar sxematik, masshtabda 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55648"/>
            <a:ext cx="10424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536879"/>
                </a:solidFill>
                <a:latin typeface="Times New Roman"/>
              </a:rPr>
              <a:t>G‘OVAK KENGLIGI, w (nm; tasnif chegaralari)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2157984"/>
            <a:ext cx="3054096" cy="621792"/>
          </a:xfrm>
          <a:prstGeom prst="round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5072" y="2157984"/>
            <a:ext cx="3675887" cy="621792"/>
          </a:xfrm>
          <a:prstGeom prst="round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0" y="2157984"/>
            <a:ext cx="3520440" cy="621792"/>
          </a:xfrm>
          <a:prstGeom prst="round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29077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Times New Roman"/>
              </a:rPr>
              <a:t>MIKROG‘OVAK  &lt; 2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2331720"/>
            <a:ext cx="34930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Times New Roman"/>
              </a:rPr>
              <a:t>MEZOG‘OVAK  2–50 nm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4696" y="2331720"/>
            <a:ext cx="33467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 u="none">
                <a:solidFill>
                  <a:srgbClr val="FFFFFF"/>
                </a:solidFill>
                <a:latin typeface="Times New Roman"/>
              </a:rPr>
              <a:t>MAKROG‘OVAK  &gt; 50 nm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" y="3054096"/>
            <a:ext cx="3520440" cy="2350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9536" y="3054096"/>
            <a:ext cx="50292" cy="235000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98448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93391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88336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83280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246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82219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80" b="1" i="0" u="none">
                <a:solidFill>
                  <a:srgbClr val="10283F"/>
                </a:solidFill>
                <a:latin typeface="Times New Roman"/>
              </a:rPr>
              <a:t>Tor tirqish / kichik kanal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334256"/>
            <a:ext cx="3044952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 i="0" u="none">
                <a:solidFill>
                  <a:srgbClr val="536879"/>
                </a:solidFill>
                <a:latin typeface="Times New Roman"/>
              </a:rPr>
              <a:t>Mikrog‘ovaklarda potensial maydonlar ustma-ust tushib, g‘ovakni to‘ldirish muhim bo‘ladi.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5072" y="3054096"/>
            <a:ext cx="3520440" cy="2350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05072" y="3054096"/>
            <a:ext cx="50292" cy="2350008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43983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38927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833871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28816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382219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80" b="1" i="0" u="none">
                <a:solidFill>
                  <a:srgbClr val="10283F"/>
                </a:solidFill>
                <a:latin typeface="Times New Roman"/>
              </a:rPr>
              <a:t>Menisk hosil bo‘lishi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4334256"/>
            <a:ext cx="3044952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 i="0" u="none">
                <a:solidFill>
                  <a:srgbClr val="536879"/>
                </a:solidFill>
                <a:latin typeface="Times New Roman"/>
              </a:rPr>
              <a:t>Mezog‘ovaklarda kapillyar kondensatsiya va Kelvin egriligi ko‘pincha kuzatiladi.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3054096"/>
            <a:ext cx="3520440" cy="23500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0" y="3054096"/>
            <a:ext cx="50292" cy="235000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E79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06256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E79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01200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E79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96144" y="3346704"/>
            <a:ext cx="320040" cy="320040"/>
          </a:xfrm>
          <a:prstGeom prst="ellipse">
            <a:avLst/>
          </a:prstGeom>
          <a:solidFill>
            <a:srgbClr val="E9F2F6"/>
          </a:solidFill>
          <a:ln w="12700">
            <a:solidFill>
              <a:srgbClr val="E79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73568" y="382219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80" b="1" i="0" u="none">
                <a:solidFill>
                  <a:srgbClr val="10283F"/>
                </a:solidFill>
                <a:latin typeface="Times New Roman"/>
              </a:rPr>
              <a:t>Oqim va transport yo‘li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4" y="4334256"/>
            <a:ext cx="3044952" cy="7955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 i="0" u="none">
                <a:solidFill>
                  <a:srgbClr val="536879"/>
                </a:solidFill>
                <a:latin typeface="Times New Roman"/>
              </a:rPr>
              <a:t>Makrog‘ovaklar ko‘pincha molekula tashilishi va yirik kanallar vazifasini bajaradi.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" y="5650992"/>
            <a:ext cx="10378440" cy="411480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5751576"/>
            <a:ext cx="10058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0" b="0" i="0" u="none">
                <a:solidFill>
                  <a:srgbClr val="172B3A"/>
                </a:solidFill>
                <a:latin typeface="Times New Roman"/>
              </a:rPr>
              <a:t>BET sirt maydoni — model, adsorbtiv va o‘lchash sharoitiga bog‘liq; barcha g‘ovakli materiallarga bir xil talqin qo‘llanmaydi.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G‘ovak tasnifi va gaz-fizisorbsiya metodikasi: [4].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12 / 18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1572768"/>
            <a:ext cx="11064240" cy="4864608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1682496"/>
            <a:ext cx="105613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36879"/>
                </a:solidFill>
                <a:latin typeface="Times New Roman"/>
              </a:rPr>
              <a:t>IUPAC TASNIFI  •  G‘OVAK KENGLIGI, w (nm)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" y="2002536"/>
            <a:ext cx="3182112" cy="512064"/>
          </a:xfrm>
          <a:prstGeom prst="round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2084831"/>
            <a:ext cx="303580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MIKROG‘OVAK  &lt; 2 nm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32504" y="2002536"/>
            <a:ext cx="3529584" cy="512064"/>
          </a:xfrm>
          <a:prstGeom prst="round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05656" y="2084831"/>
            <a:ext cx="338327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MEZOG‘OVAK  2–50 nm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6096" y="2002536"/>
            <a:ext cx="3621024" cy="512064"/>
          </a:xfrm>
          <a:prstGeom prst="round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084831"/>
            <a:ext cx="3474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MAKROG‘OVAK  &gt; 50 nm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" y="2734056"/>
            <a:ext cx="6583680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42415" y="2916936"/>
            <a:ext cx="384048" cy="384048"/>
          </a:xfrm>
          <a:prstGeom prst="round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2415" y="296265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1912" y="2889504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24658A"/>
                </a:solidFill>
                <a:latin typeface="Times New Roman"/>
              </a:rPr>
              <a:t>MIKROG‘OVAK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81912" y="3145536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Qarama-qarshi devorlarning potensial maydonlari ustma-ust tushadi; g‘ovakni to‘ldirish muhim.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1" y="3675888"/>
            <a:ext cx="6080760" cy="10972"/>
          </a:xfrm>
          <a:prstGeom prst="rect">
            <a:avLst/>
          </a:prstGeom>
          <a:solidFill>
            <a:srgbClr val="D8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42415" y="3813048"/>
            <a:ext cx="384048" cy="384048"/>
          </a:xfrm>
          <a:prstGeom prst="round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2415" y="385876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81912" y="3785615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1BA6A6"/>
                </a:solidFill>
                <a:latin typeface="Times New Roman"/>
              </a:rPr>
              <a:t>MEZOG‘OVAK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1912" y="4041648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Menisk va kapillyar kondensatsiya yuz berishi mumkin; Kelvin egriligi muhim.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3271" y="4572000"/>
            <a:ext cx="6080760" cy="10972"/>
          </a:xfrm>
          <a:prstGeom prst="rect">
            <a:avLst/>
          </a:prstGeom>
          <a:solidFill>
            <a:srgbClr val="D8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415" y="4709159"/>
            <a:ext cx="384048" cy="384048"/>
          </a:xfrm>
          <a:prstGeom prst="round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415" y="475487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1912" y="4681727"/>
            <a:ext cx="5468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E79B4B"/>
                </a:solidFill>
                <a:latin typeface="Times New Roman"/>
              </a:rPr>
              <a:t>MAKROG‘OVAK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81912" y="4937759"/>
            <a:ext cx="5468112" cy="48463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Yirik kanallar oqim va massa uzatish yo‘llarini ta’minlaydi.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2734056"/>
            <a:ext cx="3675887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orous_adsorbent.png"/>
          <p:cNvPicPr>
            <a:picLocks noChangeAspect="1"/>
          </p:cNvPicPr>
          <p:nvPr/>
        </p:nvPicPr>
        <p:blipFill>
          <a:blip r:embed="rId2"/>
          <a:srcRect t="3704" b="3704"/>
          <a:stretch>
            <a:fillRect/>
          </a:stretch>
        </p:blipFill>
        <p:spPr>
          <a:xfrm>
            <a:off x="7946136" y="2816352"/>
            <a:ext cx="2962656" cy="2743200"/>
          </a:xfrm>
          <a:prstGeom prst="rect">
            <a:avLst/>
          </a:prstGeom>
        </p:spPr>
      </p:pic>
      <p:sp>
        <p:nvSpPr>
          <p:cNvPr id="67" name="Rectangle 66"/>
          <p:cNvSpPr/>
          <p:nvPr/>
        </p:nvSpPr>
        <p:spPr>
          <a:xfrm>
            <a:off x="7946136" y="5202936"/>
            <a:ext cx="2962656" cy="356616"/>
          </a:xfrm>
          <a:prstGeom prst="rect">
            <a:avLst/>
          </a:prstGeom>
          <a:solidFill>
            <a:srgbClr val="1028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4152" y="5276088"/>
            <a:ext cx="2706624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</a:rPr>
              <a:t>3D SXEMA  •  SEM TASVIRI EMAS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" y="5760720"/>
            <a:ext cx="10479024" cy="384048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76" y="5843016"/>
            <a:ext cx="101498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9" b="0" i="0">
                <a:solidFill>
                  <a:srgbClr val="172B3A"/>
                </a:solidFill>
                <a:latin typeface="Times New Roman"/>
              </a:rPr>
              <a:t>BET sirt maydoni adsorbtiv, model va o‘lchash sharoitiga bog‘liq; barcha g‘ovakli materiallarga bir xil talqin qo‘llanmaydi.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12 / SIRT KIMYOSI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Sirt qutbliligi, zaryad va namlanish selektivlikni boshqaradi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Suvli muhitda adsorbsiya pH, ion kuchi, sirt funksional guruhlari va raqobatchi ionlarga sezgir.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46504"/>
            <a:ext cx="5102352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46504"/>
            <a:ext cx="50292" cy="423367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NAMLANISH VA KONTAKT BURCHAGI</a:t>
            </a:r>
          </a:p>
        </p:txBody>
      </p:sp>
      <p:sp>
        <p:nvSpPr>
          <p:cNvPr id="9" name="Oval 8"/>
          <p:cNvSpPr/>
          <p:nvPr/>
        </p:nvSpPr>
        <p:spPr>
          <a:xfrm>
            <a:off x="2377440" y="2697480"/>
            <a:ext cx="1591056" cy="1591056"/>
          </a:xfrm>
          <a:prstGeom prst="ellipse">
            <a:avLst/>
          </a:prstGeom>
          <a:solidFill>
            <a:srgbClr val="B9E6E2"/>
          </a:solidFill>
          <a:ln w="13970">
            <a:solidFill>
              <a:srgbClr val="1B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8448" y="3465576"/>
            <a:ext cx="3776472" cy="384048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465576"/>
            <a:ext cx="1591056" cy="0"/>
          </a:xfrm>
          <a:prstGeom prst="line">
            <a:avLst/>
          </a:prstGeom>
          <a:ln w="1397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65376" y="3904487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E79B4B"/>
                </a:solidFill>
                <a:latin typeface="Times New Roman"/>
              </a:rPr>
              <a:t>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4379976"/>
            <a:ext cx="444398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0283F"/>
                </a:solidFill>
                <a:latin typeface="Times New Roman"/>
              </a:rPr>
              <a:t>γSV − γSL = γLV cos 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448056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 i="0" u="none">
                <a:solidFill>
                  <a:srgbClr val="536879"/>
                </a:solidFill>
                <a:latin typeface="Times New Roman"/>
              </a:rPr>
              <a:t>Gidrofil yoki gidrofob xususiyat kontakt burchagi va erituvchi bilan raqobatga bog‘liq.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746504"/>
            <a:ext cx="5394960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1746504"/>
            <a:ext cx="50292" cy="423367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965960"/>
            <a:ext cx="4846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QATTIQ–SUYUQLIK CHEGARASIDAGI EDL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977639"/>
            <a:ext cx="4663440" cy="1106424"/>
          </a:xfrm>
          <a:prstGeom prst="roundRect">
            <a:avLst/>
          </a:prstGeom>
          <a:solidFill>
            <a:srgbClr val="EA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145536"/>
            <a:ext cx="4663440" cy="832104"/>
          </a:xfrm>
          <a:prstGeom prst="rect">
            <a:avLst/>
          </a:prstGeom>
          <a:solidFill>
            <a:srgbClr val="DE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843784"/>
            <a:ext cx="1033271" cy="30175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89864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 u="none">
                <a:solidFill>
                  <a:srgbClr val="FFFFFF"/>
                </a:solidFill>
                <a:latin typeface="Times New Roman"/>
              </a:rPr>
              <a:t>SIRT − − −</a:t>
            </a:r>
          </a:p>
        </p:txBody>
      </p:sp>
      <p:sp>
        <p:nvSpPr>
          <p:cNvPr id="22" name="Oval 21"/>
          <p:cNvSpPr/>
          <p:nvPr/>
        </p:nvSpPr>
        <p:spPr>
          <a:xfrm>
            <a:off x="7662672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36992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0456" y="2880360"/>
            <a:ext cx="182880" cy="182880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68512" y="3364992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4312" y="3611880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0" y="3282696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35056" y="3767328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75904" y="4133087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47504" y="4261104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60736" y="4480560"/>
            <a:ext cx="164592" cy="16459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2962656"/>
            <a:ext cx="1600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 u="none">
                <a:solidFill>
                  <a:srgbClr val="10283F"/>
                </a:solidFill>
                <a:latin typeface="Times New Roman"/>
              </a:rPr>
              <a:t>Stern qatlam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5984" y="3182112"/>
            <a:ext cx="1783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 i="0" u="none">
                <a:solidFill>
                  <a:srgbClr val="10283F"/>
                </a:solidFill>
                <a:latin typeface="Times New Roman"/>
              </a:rPr>
              <a:t>diffuz qatlam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330952"/>
            <a:ext cx="4498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536879"/>
                </a:solidFill>
                <a:latin typeface="Times New Roman"/>
              </a:rPr>
              <a:t>Paneth–Fajans qoidasini tarixiy yo‘riq sifatida ko‘ring; haqiqiy selektivlik pH, gidratlanish va spetsifik komplekslanishga bog‘liq.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Sirt termodinamikasi va ionli muvozanat: [1], [6].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13 / AJRATISH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Xromatografiya — adsorbsiya va desorbsiya siklidan analitik ajratishgacha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Harakatchan va qo‘zg‘almas faza o‘rtasidagi taqsimlanish farqi komponentlarning ushlanish vaqtini o‘zgartiradi.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46504"/>
            <a:ext cx="5065776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46504"/>
            <a:ext cx="50292" cy="4315968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65960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USTUN ICHIDAGI AJRALISH (SXEMA)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16736" y="2496312"/>
            <a:ext cx="1060704" cy="2871216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18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281635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38528" y="2944368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331927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9112" y="3593592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3941063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7672" y="4315968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45920" y="4663440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48256" y="4992624"/>
            <a:ext cx="155448" cy="155448"/>
          </a:xfrm>
          <a:prstGeom prst="ellipse">
            <a:avLst/>
          </a:prstGeom>
          <a:solidFill>
            <a:srgbClr val="B8D8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91056" y="3246120"/>
            <a:ext cx="109728" cy="10972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8800" y="3310128"/>
            <a:ext cx="109728" cy="10972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36776" y="4297680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01952" y="4325112"/>
            <a:ext cx="109728" cy="10972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4208" y="4937760"/>
            <a:ext cx="109728" cy="10972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20240" y="4965192"/>
            <a:ext cx="109728" cy="10972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56231" y="2249424"/>
            <a:ext cx="0" cy="201168"/>
          </a:xfrm>
          <a:prstGeom prst="line">
            <a:avLst/>
          </a:prstGeom>
          <a:ln w="20320">
            <a:solidFill>
              <a:srgbClr val="1B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32888" y="274320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96C5F"/>
                </a:solidFill>
                <a:latin typeface="Times New Roman"/>
              </a:rPr>
              <a:t>C — kuchliroq o‘zaro ta’sir
kechroq elyutsiya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2888" y="3749039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79B4B"/>
                </a:solidFill>
                <a:latin typeface="Times New Roman"/>
              </a:rPr>
              <a:t>B — o‘rta ushlanish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663440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BA6A6"/>
                </a:solidFill>
                <a:latin typeface="Times New Roman"/>
              </a:rPr>
              <a:t>A — kamroq ushlanadi
tezroq elyutsiya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746504"/>
            <a:ext cx="5376672" cy="196596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984248"/>
            <a:ext cx="4828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65D2C2"/>
                </a:solidFill>
                <a:latin typeface="Times New Roman"/>
              </a:rPr>
              <a:t>USHALANISH OMILI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2395728"/>
            <a:ext cx="4919472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 u="none">
                <a:solidFill>
                  <a:srgbClr val="FFFFFF"/>
                </a:solidFill>
                <a:latin typeface="Times New Roman"/>
              </a:rPr>
              <a:t>k′ = (tR − tM) / tM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35808"/>
            <a:ext cx="477316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70" b="0" i="0" u="none">
                <a:solidFill>
                  <a:srgbClr val="DCE8ED"/>
                </a:solidFill>
                <a:latin typeface="Times New Roman"/>
              </a:rPr>
              <a:t>tR — komponent ushlanish vaqti; tM — o‘lik vaqt.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9048" y="3941063"/>
            <a:ext cx="5376672" cy="2121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9048" y="3941063"/>
            <a:ext cx="50292" cy="212140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160520"/>
            <a:ext cx="47731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KOMPONENTLAR CHIQISHI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4480560"/>
            <a:ext cx="4800600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5193792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12864" y="4992624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0" y="4910328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12864" y="4709160"/>
            <a:ext cx="4032504" cy="0"/>
          </a:xfrm>
          <a:prstGeom prst="line">
            <a:avLst/>
          </a:prstGeom>
          <a:ln w="8255">
            <a:solidFill>
              <a:srgbClr val="E7ED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0800" y="4626864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4709160"/>
            <a:ext cx="0" cy="56692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912864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675120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0990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3246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29116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691372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937242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699498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945368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707624" y="5349240"/>
            <a:ext cx="47548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04304" y="551383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Vaqt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82512" y="4690872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 u="none">
                <a:solidFill>
                  <a:srgbClr val="536879"/>
                </a:solidFill>
                <a:latin typeface="Times New Roman"/>
              </a:rPr>
              <a:t>Signal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6912864" y="5276086"/>
            <a:ext cx="68347" cy="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81211" y="5276083"/>
            <a:ext cx="68348" cy="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049559" y="5276074"/>
            <a:ext cx="68347" cy="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117906" y="5276049"/>
            <a:ext cx="68348" cy="2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186254" y="5275982"/>
            <a:ext cx="68347" cy="6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254601" y="5275813"/>
            <a:ext cx="68348" cy="16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22949" y="5275413"/>
            <a:ext cx="68347" cy="40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391296" y="5274526"/>
            <a:ext cx="68348" cy="8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59644" y="5272676"/>
            <a:ext cx="68347" cy="185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527991" y="5269058"/>
            <a:ext cx="68348" cy="361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96339" y="5262429"/>
            <a:ext cx="68347" cy="662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664686" y="5251059"/>
            <a:ext cx="68348" cy="1137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33034" y="5232837"/>
            <a:ext cx="68347" cy="1822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01381" y="5205604"/>
            <a:ext cx="68348" cy="2723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869729" y="5167764"/>
            <a:ext cx="68347" cy="3784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38076" y="5119088"/>
            <a:ext cx="68348" cy="4867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006424" y="5061493"/>
            <a:ext cx="68347" cy="575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074771" y="4999465"/>
            <a:ext cx="68348" cy="6202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143119" y="4939800"/>
            <a:ext cx="68347" cy="5966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211466" y="4890513"/>
            <a:ext cx="68348" cy="492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279814" y="4859107"/>
            <a:ext cx="68348" cy="3140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348162" y="4850676"/>
            <a:ext cx="68347" cy="843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416509" y="4850676"/>
            <a:ext cx="68348" cy="1581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84857" y="4866495"/>
            <a:ext cx="68347" cy="3711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53204" y="4903606"/>
            <a:ext cx="68348" cy="5195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621552" y="4955556"/>
            <a:ext cx="68347" cy="5843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689899" y="5013995"/>
            <a:ext cx="68348" cy="5654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758247" y="5070543"/>
            <a:ext cx="68347" cy="4778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826594" y="5118327"/>
            <a:ext cx="68348" cy="3447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894942" y="5152803"/>
            <a:ext cx="68347" cy="1901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963289" y="5171816"/>
            <a:ext cx="68348" cy="332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31637" y="5163854"/>
            <a:ext cx="68347" cy="11289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99984" y="5139791"/>
            <a:ext cx="68348" cy="2406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8332" y="5105287"/>
            <a:ext cx="68347" cy="3450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236679" y="5063114"/>
            <a:ext cx="68348" cy="4217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9305027" y="5016526"/>
            <a:ext cx="68347" cy="4658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373374" y="4969256"/>
            <a:ext cx="68348" cy="4727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9441722" y="4925361"/>
            <a:ext cx="68347" cy="438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510069" y="4888889"/>
            <a:ext cx="68348" cy="3647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9578417" y="4863418"/>
            <a:ext cx="68348" cy="2547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646765" y="4851561"/>
            <a:ext cx="68347" cy="1185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715112" y="4851561"/>
            <a:ext cx="68348" cy="3006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83460" y="4854567"/>
            <a:ext cx="68347" cy="1756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851807" y="4872132"/>
            <a:ext cx="68348" cy="3032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920155" y="4902453"/>
            <a:ext cx="68347" cy="4008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988502" y="4942540"/>
            <a:ext cx="68348" cy="4616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056850" y="4988701"/>
            <a:ext cx="68347" cy="4840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125197" y="5037101"/>
            <a:ext cx="68348" cy="47174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93545" y="5084275"/>
            <a:ext cx="68347" cy="43227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261892" y="5127502"/>
            <a:ext cx="68348" cy="37495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330240" y="5164997"/>
            <a:ext cx="68347" cy="3092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98587" y="5195925"/>
            <a:ext cx="68348" cy="24333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466935" y="5220258"/>
            <a:ext cx="68347" cy="1830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535282" y="5238560"/>
            <a:ext cx="68348" cy="1318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603630" y="5251741"/>
            <a:ext cx="68347" cy="9101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671977" y="5260842"/>
            <a:ext cx="68348" cy="603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740325" y="5266874"/>
            <a:ext cx="68347" cy="3840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808672" y="5270714"/>
            <a:ext cx="68348" cy="2348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77020" y="5273062"/>
            <a:ext cx="68348" cy="1382"/>
          </a:xfrm>
          <a:prstGeom prst="line">
            <a:avLst/>
          </a:prstGeom>
          <a:ln w="2413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6519672" y="5852160"/>
            <a:ext cx="4434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 i="1" u="none">
                <a:solidFill>
                  <a:srgbClr val="536879"/>
                </a:solidFill>
                <a:latin typeface="Times New Roman"/>
              </a:rPr>
              <a:t>Elutsiya tartibi ikki fazaga nisbatan afinitetga bog‘liq.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Xromatografiyaning sirt jarayonlari bilan bog‘liqligi: [5].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14 / 18</a:t>
            </a:r>
          </a:p>
        </p:txBody>
      </p:sp>
      <p:pic>
        <p:nvPicPr>
          <p:cNvPr id="119" name="Picture 118" descr="chromatography_column.png"/>
          <p:cNvPicPr>
            <a:picLocks noChangeAspect="1"/>
          </p:cNvPicPr>
          <p:nvPr/>
        </p:nvPicPr>
        <p:blipFill>
          <a:blip r:embed="rId2"/>
          <a:srcRect l="11525" r="11525"/>
          <a:stretch>
            <a:fillRect/>
          </a:stretch>
        </p:blipFill>
        <p:spPr>
          <a:xfrm>
            <a:off x="1179576" y="2487168"/>
            <a:ext cx="1225296" cy="2852928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1179576" y="2487168"/>
            <a:ext cx="1225296" cy="2852928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14 / METODIKA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Ishonchli izoterma uchun tajriba ham model kabi muhim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Maqolada sharoit, muvozanat mezoni, massa balansi, takroriy o‘lchov va moslashtirish usuli to‘liq berilishi kerak.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1929384"/>
            <a:ext cx="384048" cy="384048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79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6" y="1874519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53896" y="1874519"/>
            <a:ext cx="50292" cy="59436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4208" y="1965960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TIZIMNI ANIQLA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65960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u="none">
                <a:solidFill>
                  <a:srgbClr val="536879"/>
                </a:solidFill>
                <a:latin typeface="Times New Roman"/>
              </a:rPr>
              <a:t>Adsorbent, adsorbat, erituvchi; pH, T, ion kuchi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331720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86968" y="2679191"/>
            <a:ext cx="384048" cy="384048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61487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53896" y="2624327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2624327"/>
            <a:ext cx="50292" cy="59436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4208" y="2715768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MUVOZANATNI TA’MINLA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715768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u="none">
                <a:solidFill>
                  <a:srgbClr val="536879"/>
                </a:solidFill>
                <a:latin typeface="Times New Roman"/>
              </a:rPr>
              <a:t>Vaqt bo‘yicha barqaror Ce yoki p/p₀; nazorat namunasi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78992" y="3081527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86968" y="3428999"/>
            <a:ext cx="384048" cy="384048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511295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3896" y="3374135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53896" y="3374135"/>
            <a:ext cx="50292" cy="594360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4208" y="3465575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MASSA BALANSI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65575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u="none">
                <a:solidFill>
                  <a:srgbClr val="536879"/>
                </a:solidFill>
                <a:latin typeface="Times New Roman"/>
              </a:rPr>
              <a:t>qₑ = (C₀ − Cₑ)V/m; birliklarni aniq yoz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78992" y="3831335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86968" y="4178807"/>
            <a:ext cx="384048" cy="384048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261104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53896" y="4123944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3896" y="4123944"/>
            <a:ext cx="50292" cy="594360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4215383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MODELNI MOSLA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4215383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u="none">
                <a:solidFill>
                  <a:srgbClr val="536879"/>
                </a:solidFill>
                <a:latin typeface="Times New Roman"/>
              </a:rPr>
              <a:t>Chiziqli bo‘lmagan moslashtirish, qoldiq va noaniqlik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8992" y="4581144"/>
            <a:ext cx="0" cy="265176"/>
          </a:xfrm>
          <a:prstGeom prst="line">
            <a:avLst/>
          </a:prstGeom>
          <a:ln w="13970">
            <a:solidFill>
              <a:srgbClr val="B7CA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6968" y="4928616"/>
            <a:ext cx="384048" cy="384048"/>
          </a:xfrm>
          <a:prstGeom prst="ellipse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010912"/>
            <a:ext cx="384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3896" y="4873752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3896" y="4873752"/>
            <a:ext cx="50292" cy="594360"/>
          </a:xfrm>
          <a:prstGeom prst="rect">
            <a:avLst/>
          </a:prstGeom>
          <a:solidFill>
            <a:srgbClr val="18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496519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VALIDATSIYA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4965192"/>
            <a:ext cx="367588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 u="none">
                <a:solidFill>
                  <a:srgbClr val="536879"/>
                </a:solidFill>
                <a:latin typeface="Times New Roman"/>
              </a:rPr>
              <a:t>Takroriy nuqtalar, mustaqil sharoit, massa uzatish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4968" y="1865376"/>
            <a:ext cx="3694176" cy="1965960"/>
          </a:xfrm>
          <a:prstGeom prst="roundRect">
            <a:avLst/>
          </a:prstGeom>
          <a:solidFill>
            <a:srgbClr val="E9F2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4968" y="1865376"/>
            <a:ext cx="50292" cy="196596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2084831"/>
            <a:ext cx="3182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4658A"/>
                </a:solidFill>
                <a:latin typeface="Times New Roman"/>
              </a:rPr>
              <a:t>DAVRIY TAJRIBA UCHUN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2505456"/>
            <a:ext cx="3218688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 u="none">
                <a:solidFill>
                  <a:srgbClr val="10283F"/>
                </a:solidFill>
                <a:latin typeface="Times New Roman"/>
              </a:rPr>
              <a:t>qₑ = (C₀ − Cₑ)V/m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3127248"/>
            <a:ext cx="3145536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 i="0" u="none">
                <a:solidFill>
                  <a:srgbClr val="536879"/>
                </a:solidFill>
                <a:latin typeface="Times New Roman"/>
              </a:rPr>
              <a:t>qₑ — massa birligiga adsorblangan miqdor; bo‘sh namuna va hajm o‘zgarishlari nazorat qilinadi.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44968" y="4041648"/>
            <a:ext cx="3694176" cy="1764792"/>
          </a:xfrm>
          <a:prstGeom prst="roundRect">
            <a:avLst/>
          </a:prstGeom>
          <a:solidFill>
            <a:srgbClr val="FFF4E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44968" y="4041648"/>
            <a:ext cx="50292" cy="176479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01000" y="4261104"/>
            <a:ext cx="3182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E79B4B"/>
                </a:solidFill>
                <a:latin typeface="Times New Roman"/>
              </a:rPr>
              <a:t>NATIJANI HISOBOT QILISH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626864"/>
            <a:ext cx="314553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30" b="0" i="0">
                <a:solidFill>
                  <a:srgbClr val="172B3A"/>
                </a:solidFill>
                <a:latin typeface="Times New Roman"/>
              </a:rPr>
              <a:t>•  xom ma’lumot va birliklar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30" b="0" i="0">
                <a:solidFill>
                  <a:srgbClr val="172B3A"/>
                </a:solidFill>
                <a:latin typeface="Times New Roman"/>
              </a:rPr>
              <a:t>•  n, o‘rtacha ± SD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30" b="0" i="0">
                <a:solidFill>
                  <a:srgbClr val="172B3A"/>
                </a:solidFill>
                <a:latin typeface="Times New Roman"/>
              </a:rPr>
              <a:t>•  qoldiq grafigi; 95% ishonch oralig‘i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30" b="0" i="0">
                <a:solidFill>
                  <a:srgbClr val="172B3A"/>
                </a:solidFill>
                <a:latin typeface="Times New Roman"/>
              </a:rPr>
              <a:t>•  muvozanat/kinetika farqi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Metodologik tavsiyalar: [4], [7].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15 / QO‘LLANISH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Sirt maydonidan texnologik samaragacha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Amaliy natija faqat sig‘imga emas, selektivlik, kinetika, regeneratsiya, massa uzatish va raqobatchi komponentlarga ham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50292" cy="1627632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93976"/>
            <a:ext cx="420624" cy="420624"/>
          </a:xfrm>
          <a:prstGeom prst="ellipse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78992" y="2194560"/>
            <a:ext cx="0" cy="219456"/>
          </a:xfrm>
          <a:prstGeom prst="line">
            <a:avLst/>
          </a:prstGeom>
          <a:ln w="2286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8720" y="2194560"/>
            <a:ext cx="0" cy="219456"/>
          </a:xfrm>
          <a:prstGeom prst="line">
            <a:avLst/>
          </a:prstGeom>
          <a:ln w="22860">
            <a:solidFill>
              <a:srgbClr val="246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27048" y="2130552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4658A"/>
                </a:solidFill>
                <a:latin typeface="Times New Roman"/>
              </a:rPr>
              <a:t>SUVNI TOZALASH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450592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 i="0" u="none">
                <a:solidFill>
                  <a:srgbClr val="172B3A"/>
                </a:solidFill>
                <a:latin typeface="Times New Roman"/>
              </a:rPr>
              <a:t>Faollashtirilgan ko‘mir, mineral va funksional adsorbentlar bilan bo‘yoq, organika yoki ionlarni tutish.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072384"/>
            <a:ext cx="2267712" cy="283464"/>
          </a:xfrm>
          <a:prstGeom prst="roundRect">
            <a:avLst/>
          </a:prstGeom>
          <a:solidFill>
            <a:srgbClr val="E9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3624" y="3086100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none">
                <a:solidFill>
                  <a:srgbClr val="24658A"/>
                </a:solidFill>
                <a:latin typeface="Times New Roman"/>
              </a:rPr>
              <a:t>Raqobat + regeneratsiya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50292" cy="1627632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2093976"/>
            <a:ext cx="420624" cy="420624"/>
          </a:xfrm>
          <a:prstGeom prst="ellipse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7688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48272" y="2231136"/>
            <a:ext cx="91440" cy="91440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1736" y="2130552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BA6A6"/>
                </a:solidFill>
                <a:latin typeface="Times New Roman"/>
              </a:rPr>
              <a:t>GAZ VA HAVO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2450592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 i="0" u="none">
                <a:solidFill>
                  <a:srgbClr val="172B3A"/>
                </a:solidFill>
                <a:latin typeface="Times New Roman"/>
              </a:rPr>
              <a:t>Molekulyar elaklar, uglerod va boshqa g‘ovak materiallarda gazni quritish/ajratish.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31736" y="3072384"/>
            <a:ext cx="2267712" cy="283464"/>
          </a:xfrm>
          <a:prstGeom prst="roundRect">
            <a:avLst/>
          </a:prstGeom>
          <a:solidFill>
            <a:srgbClr val="E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086100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none">
                <a:solidFill>
                  <a:srgbClr val="1BA6A6"/>
                </a:solidFill>
                <a:latin typeface="Times New Roman"/>
              </a:rPr>
              <a:t>Namlik + xizmat muddati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85616"/>
            <a:ext cx="50292" cy="1627632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0976" y="4032504"/>
            <a:ext cx="420624" cy="420624"/>
          </a:xfrm>
          <a:prstGeom prst="ellipse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" y="4133088"/>
            <a:ext cx="164592" cy="16459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197864" y="4215384"/>
            <a:ext cx="73152" cy="0"/>
          </a:xfrm>
          <a:prstGeom prst="line">
            <a:avLst/>
          </a:prstGeom>
          <a:ln w="2032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527048" y="4069080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79B4B"/>
                </a:solidFill>
                <a:latin typeface="Times New Roman"/>
              </a:rPr>
              <a:t>KATALIZ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389120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 i="0" u="none">
                <a:solidFill>
                  <a:srgbClr val="172B3A"/>
                </a:solidFill>
                <a:latin typeface="Times New Roman"/>
              </a:rPr>
              <a:t>Reagentlarning katalizator sirtiga adsorbsiyasi — katalitik siklning muhim bosqichi.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7048" y="5010912"/>
            <a:ext cx="2267712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63624" y="5024628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none">
                <a:solidFill>
                  <a:srgbClr val="E79B4B"/>
                </a:solidFill>
                <a:latin typeface="Times New Roman"/>
              </a:rPr>
              <a:t>Sirt markazlari + kinetika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785616"/>
            <a:ext cx="50292" cy="1627632"/>
          </a:xfrm>
          <a:prstGeom prst="rect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55664" y="4032504"/>
            <a:ext cx="420624" cy="420624"/>
          </a:xfrm>
          <a:prstGeom prst="ellipse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74536" y="4133088"/>
            <a:ext cx="192024" cy="192024"/>
          </a:xfrm>
          <a:prstGeom prst="ellipse">
            <a:avLst/>
          </a:prstGeom>
          <a:solidFill>
            <a:srgbClr val="D96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670548" y="4325112"/>
            <a:ext cx="96011" cy="82296"/>
          </a:xfrm>
          <a:prstGeom prst="line">
            <a:avLst/>
          </a:prstGeom>
          <a:ln w="20320">
            <a:solidFill>
              <a:srgbClr val="D96C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1736" y="4069080"/>
            <a:ext cx="40873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96C5F"/>
                </a:solidFill>
                <a:latin typeface="Times New Roman"/>
              </a:rPr>
              <a:t>BIO-TIBBIY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4389120"/>
            <a:ext cx="4041648" cy="5577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 i="0" u="none">
                <a:solidFill>
                  <a:srgbClr val="172B3A"/>
                </a:solidFill>
                <a:latin typeface="Times New Roman"/>
              </a:rPr>
              <a:t>Ayrim sorbentlar klinik muolajalarda ishlatiladi; qo‘llash faqat tasdiqlangan ko‘rsatma va mutaxassis protokoliga tayansin.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31736" y="5010912"/>
            <a:ext cx="2267712" cy="283464"/>
          </a:xfrm>
          <a:prstGeom prst="roundRect">
            <a:avLst/>
          </a:prstGeom>
          <a:solidFill>
            <a:srgbClr val="FB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68312" y="5024628"/>
            <a:ext cx="21945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none">
                <a:solidFill>
                  <a:srgbClr val="D96C5F"/>
                </a:solidFill>
                <a:latin typeface="Times New Roman"/>
              </a:rPr>
              <a:t>Klinik ko‘rsatma muhim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5852160"/>
            <a:ext cx="10634472" cy="320040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934456"/>
            <a:ext cx="10222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 i="0" u="none">
                <a:solidFill>
                  <a:srgbClr val="172B3A"/>
                </a:solidFill>
                <a:latin typeface="Times New Roman"/>
              </a:rPr>
              <a:t>“Ko‘proq adsorbsiya” har doim “yaxshiroq texnologiya” emas: selektivlik, qayta tiklash va chiqindi oqimni boshqarish ham hisobga olinadi.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Adsorbsiya amaliyotining nazariy va muhandislik qirralari: [4], [5].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16 / ILMIY XULOSA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Kuchli ilmiy matn uchun uchta tayanch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Nazariy asos, tajriba ishonchliligi va natijani cheklovlari bilan talqin qilish bir-birini to‘ldiradi.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2376" y="1828800"/>
            <a:ext cx="50292" cy="2240280"/>
          </a:xfrm>
          <a:prstGeom prst="rect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57400"/>
            <a:ext cx="438912" cy="438912"/>
          </a:xfrm>
          <a:prstGeom prst="ellipse">
            <a:avLst/>
          </a:prstGeom>
          <a:solidFill>
            <a:srgbClr val="24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 u="none">
                <a:solidFill>
                  <a:srgbClr val="24658A"/>
                </a:solidFill>
                <a:latin typeface="Times New Roman"/>
              </a:rPr>
              <a:t>TERMODINAMIKA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 i="0" u="none">
                <a:solidFill>
                  <a:srgbClr val="172B3A"/>
                </a:solidFill>
                <a:latin typeface="Times New Roman"/>
              </a:rPr>
              <a:t>γ — sirtni oshirish ishi; Gibbs Γ esa tanlangan ajratuvchi sirtga nisbatan ortiqcha miqdor.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8264" y="1828800"/>
            <a:ext cx="50292" cy="2240280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26864" y="2057400"/>
            <a:ext cx="438912" cy="438912"/>
          </a:xfrm>
          <a:prstGeom prst="ellipse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 u="none">
                <a:solidFill>
                  <a:srgbClr val="1BA6A6"/>
                </a:solidFill>
                <a:latin typeface="Times New Roman"/>
              </a:rPr>
              <a:t>MODEL SHARTI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 i="0" u="none">
                <a:solidFill>
                  <a:srgbClr val="172B3A"/>
                </a:solidFill>
                <a:latin typeface="Times New Roman"/>
              </a:rPr>
              <a:t>Langmuir, Freundlich va BET turli farazlarga ega. Eng yaxshi moslik mexanizm isboti bilan teng emas.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4151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4151" y="1828800"/>
            <a:ext cx="50292" cy="2240280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1" y="2057400"/>
            <a:ext cx="438912" cy="438912"/>
          </a:xfrm>
          <a:prstGeom prst="ellipse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1" y="2148840"/>
            <a:ext cx="4389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1" y="212140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 u="none">
                <a:solidFill>
                  <a:srgbClr val="E79B4B"/>
                </a:solidFill>
                <a:latin typeface="Times New Roman"/>
              </a:rPr>
              <a:t>DALIL SIFATI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0183" y="2761488"/>
            <a:ext cx="292608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 i="0" u="none">
                <a:solidFill>
                  <a:srgbClr val="172B3A"/>
                </a:solidFill>
                <a:latin typeface="Times New Roman"/>
              </a:rPr>
              <a:t>Muvozanat, birliklar, takror, noaniqlik, qoldiq va validatsiya ko‘rsatilmasa, sig‘im da’vosi zaif bo‘ladi.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407408"/>
            <a:ext cx="10762488" cy="141732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08576"/>
            <a:ext cx="2057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65D2C2"/>
                </a:solidFill>
                <a:latin typeface="Times New Roman"/>
              </a:rPr>
              <a:t>MAQOLA UCHUN KEYINGI QADAM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003536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20" b="0" i="0" u="none">
                <a:solidFill>
                  <a:srgbClr val="FFFFFF"/>
                </a:solidFill>
                <a:latin typeface="Times New Roman"/>
              </a:rPr>
              <a:t>Agar tadqiqot maqolasi yozilsa: aniq adsorbent/adsorbat juftligini tanlang → tekshiriladigan gipotezani yozing → tajriba va nazoratni belgilang → xom ma’lumotni tahlil qiling → xulosani aynan dalil chegarasida yozing.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6089904"/>
            <a:ext cx="10149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 i="1" u="none">
                <a:solidFill>
                  <a:srgbClr val="536879"/>
                </a:solidFill>
                <a:latin typeface="Times New Roman"/>
              </a:rPr>
              <a:t>Hozirgi maqola fayli — nazariy sharh loyihasi; haqiqiy tajribaviy maqola uchun real natijalar va muallif ma’lumotlari kerak.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10058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0" i="0" u="none">
                <a:solidFill>
                  <a:srgbClr val="536879"/>
                </a:solidFill>
                <a:latin typeface="Times New Roman"/>
              </a:rPr>
              <a:t>Sharh va model tanlovi uchun: [4], [5], [7].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BA6A6"/>
                </a:solidFill>
                <a:latin typeface="Times New Roman"/>
              </a:rPr>
              <a:t>MANBALAR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E79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Foydalanilgan ilmiy manbalar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Nazariy asoslar va modellar uchun tayanch manbalar; maqola matnidagi raqamlar shu ro‘yxatga mos.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73352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73352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1728216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723644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IUPAC. Compendium of Chemical Terminology (Gold Book): “Gibbs adsorption” (G02627) va “surface excess” (S06171). Online terminology.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723644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goldbook.iupac.org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286000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2340864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2336292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Langmuir, I. The adsorption of gases on plane surfaces of glass, mica and platinum. J. Am. Chem. Soc. 40 (9), 1361–1403 (1918).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336292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doi:10.1021/ja02242a004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898648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898648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2953512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1016" y="2948940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Brunauer, S.; Emmett, P. H.; Teller, E. Adsorption of gases in multimolecular layers. J. Am. Chem. Soc. 60 (2), 309–319 (1938).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48940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doi:10.1021/ja01269a023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511296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511296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" y="3566160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1016" y="3561588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Thommes, M. et al. Physisorption of gases… (IUPAC Technical Report). Pure Appl. Chem. 87, 1051–1069 (2015).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561588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doi:10.1515/pac-2014-1117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123944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123944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4178807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[5]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1016" y="4174235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Dąbrowski, A. Adsorption—from theory to practice. Adv. Colloid Interface Sci. 93 (1–3), 135–224 (2001).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1080" y="4174235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doi:10.1016/S0001-8686(00)00082-8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736592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4736592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" y="4791455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1016" y="4786883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Adamson, A. W.; Gast, A. P. Physical Chemistry of Surfaces. 6th ed. Wiley (1997).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786883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Fundamental text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349240"/>
            <a:ext cx="10789920" cy="5120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5349240"/>
            <a:ext cx="50292" cy="512064"/>
          </a:xfrm>
          <a:prstGeom prst="rect">
            <a:avLst/>
          </a:prstGeom>
          <a:solidFill>
            <a:srgbClr val="1B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" y="5404103"/>
            <a:ext cx="41148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BA6A6"/>
                </a:solidFill>
                <a:latin typeface="Times New Roman"/>
              </a:rPr>
              <a:t>[7]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1016" y="5399531"/>
            <a:ext cx="731520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0" i="0" u="none">
                <a:solidFill>
                  <a:srgbClr val="172B3A"/>
                </a:solidFill>
                <a:latin typeface="Times New Roman"/>
              </a:rPr>
              <a:t>Foo, K. Y.; Hameed, B. H. Insights into the modeling of adsorption isotherm systems. Chem. Eng. J. 156 (1), 2–10 (2010).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5399531"/>
            <a:ext cx="257860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30" b="1" i="0" u="none">
                <a:solidFill>
                  <a:srgbClr val="536879"/>
                </a:solidFill>
                <a:latin typeface="Times New Roman"/>
              </a:rPr>
              <a:t>doi:10.1016/j.cej.2009.09.013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6053328"/>
            <a:ext cx="10789920" cy="283464"/>
          </a:xfrm>
          <a:prstGeom prst="roundRect">
            <a:avLst/>
          </a:prstGeom>
          <a:solidFill>
            <a:srgbClr val="FF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6099048"/>
            <a:ext cx="10424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 u="none">
                <a:solidFill>
                  <a:srgbClr val="536879"/>
                </a:solidFill>
                <a:latin typeface="Times New Roman"/>
              </a:rPr>
              <a:t>Matn nazariy sharh sifatida tuzildi; eksperimental natija, muallif va tashkilot ma’lumotlari kiritilmagan.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Sirt hodisalari va adsorbsiya — ilmiy sharh</dc:title>
  <dc:subject>Kolloid kimyo: sirt termodinamikasi, adsorbsiya izotermalari, BET va g‘ovaklar</dc:subject>
  <dc:creator>Muallif: tahrir uchun to‘ldiring</dc:creator>
  <cp:keywords>adsorbsiya, Gibbs, Langmuir, Freundlich, BET, sirt hodisalari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