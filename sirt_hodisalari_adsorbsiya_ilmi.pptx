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0.xml"/><Relationship Id="rId7" Type="http://schemas.openxmlformats.org/officeDocument/2006/relationships/slide" Target="slide14.xml"/><Relationship Id="rId8" Type="http://schemas.openxmlformats.org/officeDocument/2006/relationships/slide" Target="slide1.xml"/><Relationship Id="rId9" Type="http://schemas.openxmlformats.org/officeDocument/2006/relationships/slide" Target="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Relationship Id="rId4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" Target="slide3.xml"/><Relationship Id="rId6" Type="http://schemas.openxmlformats.org/officeDocument/2006/relationships/slide" Target="slide2.xml"/><Relationship Id="rId7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" Target="slide4.xml"/><Relationship Id="rId5" Type="http://schemas.openxmlformats.org/officeDocument/2006/relationships/slide" Target="slide2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slide" Target="slide5.xml"/><Relationship Id="rId8" Type="http://schemas.openxmlformats.org/officeDocument/2006/relationships/slide" Target="slide2.xml"/><Relationship Id="rId9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slide" Target="slide6.xml"/><Relationship Id="rId5" Type="http://schemas.openxmlformats.org/officeDocument/2006/relationships/slide" Target="slide2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slide" Target="slide7.xml"/><Relationship Id="rId4" Type="http://schemas.openxmlformats.org/officeDocument/2006/relationships/slide" Target="slide2.xml"/><Relationship Id="rId5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slide" Target="slide8.xml"/><Relationship Id="rId5" Type="http://schemas.openxmlformats.org/officeDocument/2006/relationships/slide" Target="slide2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slide" Target="slide9.xml"/><Relationship Id="rId7" Type="http://schemas.openxmlformats.org/officeDocument/2006/relationships/slide" Target="slide2.xml"/><Relationship Id="rId8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" Target="slide10.xml"/><Relationship Id="rId5" Type="http://schemas.openxmlformats.org/officeDocument/2006/relationships/slide" Target="slide2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" Target="slide11.xml"/><Relationship Id="rId6" Type="http://schemas.openxmlformats.org/officeDocument/2006/relationships/slide" Target="slide2.xml"/><Relationship Id="rId7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slide" Target="slide12.xml"/><Relationship Id="rId6" Type="http://schemas.openxmlformats.org/officeDocument/2006/relationships/slide" Target="slide2.xml"/><Relationship Id="rId7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" Target="slide13.xml"/><Relationship Id="rId5" Type="http://schemas.openxmlformats.org/officeDocument/2006/relationships/slide" Target="slide2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slide" Target="slide14.xml"/><Relationship Id="rId4" Type="http://schemas.openxmlformats.org/officeDocument/2006/relationships/slide" Target="slide2.xml"/><Relationship Id="rId5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slide" Target="slide15.xml"/><Relationship Id="rId6" Type="http://schemas.openxmlformats.org/officeDocument/2006/relationships/slide" Target="slide2.xml"/><Relationship Id="rId7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slide" Target="slide4.xml"/><Relationship Id="rId4" Type="http://schemas.openxmlformats.org/officeDocument/2006/relationships/slide" Target="slide10.xml"/><Relationship Id="rId5" Type="http://schemas.openxmlformats.org/officeDocument/2006/relationships/slide" Target="slide16.xml"/><Relationship Id="rId6" Type="http://schemas.openxmlformats.org/officeDocument/2006/relationships/slide" Target="slide2.xml"/><Relationship Id="rId7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8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6583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9ACBC6"/>
                </a:solidFill>
                <a:latin typeface="Times New Roman"/>
              </a:rPr>
              <a:t>KOLLOID KIMYO  /  ILMIY TAQDIMOT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49808" y="1115568"/>
            <a:ext cx="603504" cy="0"/>
          </a:xfrm>
          <a:prstGeom prst="line">
            <a:avLst/>
          </a:prstGeom>
          <a:ln w="29209">
            <a:solidFill>
              <a:srgbClr val="9ACB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150876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 u="none">
                <a:solidFill>
                  <a:srgbClr val="FFFFFF"/>
                </a:solidFill>
                <a:latin typeface="Times New Roman"/>
              </a:rPr>
              <a:t>SIRT HODISALARI
VA ADSORBSIYA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 u="none">
                <a:solidFill>
                  <a:srgbClr val="E2E9EE"/>
                </a:solidFill>
                <a:latin typeface="Times New Roman"/>
              </a:rPr>
              <a:t>Sirt energiyasi, adsorbsiya qonuniyatlari va g‘ovakli materiallar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768096" y="4590288"/>
            <a:ext cx="31089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9ACBC6"/>
                </a:solidFill>
                <a:latin typeface="Times New Roman"/>
              </a:rPr>
              <a:t>TAQDIMOTNI BOSHLASH 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51389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 u="none">
                <a:solidFill>
                  <a:srgbClr val="E2E9EE"/>
                </a:solidFill>
                <a:latin typeface="Times New Roman"/>
              </a:rPr>
              <a:t>Kolloid kimyo  •  O‘zbek tilida</a:t>
            </a:r>
          </a:p>
        </p:txBody>
      </p:sp>
      <p:pic>
        <p:nvPicPr>
          <p:cNvPr id="9" name="Picture 8" descr="Sirt-faol molekulalarning sirt qatlamidagi sxe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950976"/>
            <a:ext cx="4937760" cy="4937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65392" y="5961888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E2E9EE"/>
                </a:solidFill>
                <a:latin typeface="Times New Roman"/>
              </a:rPr>
              <a:t>Sirt-faol molekulalarning sirt qatlamidagi sxemasi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01  /  MUNDARIJA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Mavzu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Bo‘lim nomini bosing — tegishli mavzuga o‘ting.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2148840"/>
            <a:ext cx="10332720" cy="0"/>
          </a:xfrm>
          <a:prstGeom prst="line">
            <a:avLst/>
          </a:prstGeom>
          <a:ln w="20320">
            <a:solidFill>
              <a:srgbClr val="C8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90956" y="2080260"/>
            <a:ext cx="137160" cy="137160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48716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01</a:t>
            </a:r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713232" y="2926080"/>
            <a:ext cx="19202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10283F"/>
                </a:solidFill>
                <a:latin typeface="Times New Roman"/>
              </a:rPr>
              <a:t>Sirt va energiya</a:t>
            </a:r>
          </a:p>
        </p:txBody>
      </p:sp>
      <p:sp>
        <p:nvSpPr>
          <p:cNvPr id="11" name="TextBox 10">
            <a:hlinkClick action="ppaction://hlinksldjump" r:id="rId3"/>
          </p:cNvPr>
          <p:cNvSpPr txBox="1"/>
          <p:nvPr/>
        </p:nvSpPr>
        <p:spPr>
          <a:xfrm>
            <a:off x="713232" y="3611880"/>
            <a:ext cx="18745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172B3A"/>
                </a:solidFill>
                <a:latin typeface="Times New Roman"/>
              </a:rPr>
              <a:t>Interfeys, sirt tarangligi, namlanish</a:t>
            </a:r>
          </a:p>
        </p:txBody>
      </p:sp>
      <p:sp>
        <p:nvSpPr>
          <p:cNvPr id="12" name="Oval 11"/>
          <p:cNvSpPr/>
          <p:nvPr/>
        </p:nvSpPr>
        <p:spPr>
          <a:xfrm>
            <a:off x="3022092" y="2080260"/>
            <a:ext cx="137160" cy="137160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248716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4" name="TextBox 13">
            <a:hlinkClick action="ppaction://hlinksldjump" r:id="rId4"/>
          </p:cNvPr>
          <p:cNvSpPr txBox="1"/>
          <p:nvPr/>
        </p:nvSpPr>
        <p:spPr>
          <a:xfrm>
            <a:off x="2944368" y="2926080"/>
            <a:ext cx="19202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10283F"/>
                </a:solidFill>
                <a:latin typeface="Times New Roman"/>
              </a:rPr>
              <a:t>Egrilik va Gibbs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2944368" y="3611880"/>
            <a:ext cx="18745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172B3A"/>
                </a:solidFill>
                <a:latin typeface="Times New Roman"/>
              </a:rPr>
              <a:t>Laplas, Kelvin, sirt ortiqchasi</a:t>
            </a:r>
          </a:p>
        </p:txBody>
      </p:sp>
      <p:sp>
        <p:nvSpPr>
          <p:cNvPr id="16" name="Oval 15"/>
          <p:cNvSpPr/>
          <p:nvPr/>
        </p:nvSpPr>
        <p:spPr>
          <a:xfrm>
            <a:off x="5253228" y="2080260"/>
            <a:ext cx="137160" cy="137160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75504" y="248716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03</a:t>
            </a:r>
          </a:p>
        </p:txBody>
      </p:sp>
      <p:sp>
        <p:nvSpPr>
          <p:cNvPr id="18" name="TextBox 17">
            <a:hlinkClick action="ppaction://hlinksldjump" r:id="rId5"/>
          </p:cNvPr>
          <p:cNvSpPr txBox="1"/>
          <p:nvPr/>
        </p:nvSpPr>
        <p:spPr>
          <a:xfrm>
            <a:off x="5175504" y="2926080"/>
            <a:ext cx="19202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10283F"/>
                </a:solidFill>
                <a:latin typeface="Times New Roman"/>
              </a:rPr>
              <a:t>Mexanizm va miqdor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5175504" y="3611880"/>
            <a:ext cx="18745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172B3A"/>
                </a:solidFill>
                <a:latin typeface="Times New Roman"/>
              </a:rPr>
              <a:t>Adsorbsiya, absorbsiya, tajriba</a:t>
            </a:r>
          </a:p>
        </p:txBody>
      </p:sp>
      <p:sp>
        <p:nvSpPr>
          <p:cNvPr id="20" name="Oval 19"/>
          <p:cNvSpPr/>
          <p:nvPr/>
        </p:nvSpPr>
        <p:spPr>
          <a:xfrm>
            <a:off x="7484364" y="2080260"/>
            <a:ext cx="137160" cy="137160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248716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04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7406640" y="2926080"/>
            <a:ext cx="19202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10283F"/>
                </a:solidFill>
                <a:latin typeface="Times New Roman"/>
              </a:rPr>
              <a:t>Izotermalar</a:t>
            </a:r>
          </a:p>
        </p:txBody>
      </p:sp>
      <p:sp>
        <p:nvSpPr>
          <p:cNvPr id="23" name="TextBox 22">
            <a:hlinkClick action="ppaction://hlinksldjump" r:id="rId6"/>
          </p:cNvPr>
          <p:cNvSpPr txBox="1"/>
          <p:nvPr/>
        </p:nvSpPr>
        <p:spPr>
          <a:xfrm>
            <a:off x="7406640" y="3611880"/>
            <a:ext cx="18745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172B3A"/>
                </a:solidFill>
                <a:latin typeface="Times New Roman"/>
              </a:rPr>
              <a:t>Langmuir, Freundlich, BET</a:t>
            </a:r>
          </a:p>
        </p:txBody>
      </p:sp>
      <p:sp>
        <p:nvSpPr>
          <p:cNvPr id="24" name="Oval 23"/>
          <p:cNvSpPr/>
          <p:nvPr/>
        </p:nvSpPr>
        <p:spPr>
          <a:xfrm>
            <a:off x="9715500" y="2080260"/>
            <a:ext cx="137160" cy="137160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37776" y="2487168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05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9637776" y="2926080"/>
            <a:ext cx="19202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sng">
                <a:solidFill>
                  <a:srgbClr val="10283F"/>
                </a:solidFill>
                <a:latin typeface="Times New Roman"/>
              </a:rPr>
              <a:t>G‘ovak va qo‘llanish</a:t>
            </a:r>
          </a:p>
        </p:txBody>
      </p:sp>
      <p:sp>
        <p:nvSpPr>
          <p:cNvPr id="27" name="TextBox 26">
            <a:hlinkClick action="ppaction://hlinksldjump" r:id="rId7"/>
          </p:cNvPr>
          <p:cNvSpPr txBox="1"/>
          <p:nvPr/>
        </p:nvSpPr>
        <p:spPr>
          <a:xfrm>
            <a:off x="9637776" y="3611880"/>
            <a:ext cx="1874519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 i="0" u="none">
                <a:solidFill>
                  <a:srgbClr val="172B3A"/>
                </a:solidFill>
                <a:latin typeface="Times New Roman"/>
              </a:rPr>
              <a:t>Sirt kimyosi, tajriba, amaliyot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138928"/>
            <a:ext cx="106984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72B3A"/>
                </a:solidFill>
                <a:latin typeface="Times New Roman"/>
              </a:rPr>
              <a:t>Maqsad: sirt xossalarini termodinamik kattaliklar bilan bog‘lash, adsorbsiya modellarini farqlash va o‘lchov natijasini ehtiyotkor talqin qilish.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hlinkClick action="ppaction://hlinksldjump" r:id="rId8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32" name="TextBox 31">
            <a:hlinkClick action="ppaction://hlinksldjump" r:id="rId3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02  /  ASOSLAR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Sirt — ikki faza tutashadigan faol qatlam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Sirt qatlamida molekulalar atrofidagi o‘zaro ta’sirlar hajmdagidan farq qiladi.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4825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2B5674"/>
                </a:solidFill>
                <a:latin typeface="Times New Roman"/>
              </a:rPr>
              <a:t>HAJMDA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4992" y="2048256"/>
            <a:ext cx="22402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 u="none">
                <a:solidFill>
                  <a:srgbClr val="1D6D75"/>
                </a:solidFill>
                <a:latin typeface="Times New Roman"/>
              </a:rPr>
              <a:t>FAZALARARO SIRT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298448" y="3886200"/>
            <a:ext cx="640080" cy="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61288" y="3749039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1938528" y="3886200"/>
            <a:ext cx="640080" cy="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441448" y="3749039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938528" y="3246120"/>
            <a:ext cx="0" cy="64008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1801368" y="3108960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1938528" y="3886200"/>
            <a:ext cx="0" cy="64008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801368" y="4389120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1481328" y="3429000"/>
            <a:ext cx="457200" cy="45720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344168" y="3291840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938528" y="3886200"/>
            <a:ext cx="457200" cy="457200"/>
          </a:xfrm>
          <a:prstGeom prst="line">
            <a:avLst/>
          </a:prstGeom>
          <a:ln w="15240">
            <a:solidFill>
              <a:srgbClr val="C1D5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258568" y="4206240"/>
            <a:ext cx="274320" cy="274320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64792" y="3712463"/>
            <a:ext cx="347472" cy="347472"/>
          </a:xfrm>
          <a:prstGeom prst="ellipse">
            <a:avLst/>
          </a:prstGeom>
          <a:solidFill>
            <a:srgbClr val="2B56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983480"/>
            <a:ext cx="2148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20" b="0" i="0" u="none">
                <a:solidFill>
                  <a:srgbClr val="172B3A"/>
                </a:solidFill>
                <a:latin typeface="Times New Roman"/>
              </a:rPr>
              <a:t>Qo‘shni ta’sirlar
deyarli teng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5705856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u="none">
                <a:solidFill>
                  <a:srgbClr val="1D6D75"/>
                </a:solidFill>
                <a:latin typeface="Times New Roman"/>
              </a:rPr>
              <a:t>ΣF ≈ 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64992" y="3767328"/>
            <a:ext cx="23225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919472" y="341071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40" b="0" i="0" u="none">
                <a:solidFill>
                  <a:srgbClr val="536879"/>
                </a:solidFill>
                <a:latin typeface="Times New Roman"/>
              </a:rPr>
              <a:t>havo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9472" y="5266944"/>
            <a:ext cx="7863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40" b="0" i="0" u="none">
                <a:solidFill>
                  <a:srgbClr val="536879"/>
                </a:solidFill>
                <a:latin typeface="Times New Roman"/>
              </a:rPr>
              <a:t>suyuqlik</a:t>
            </a:r>
          </a:p>
        </p:txBody>
      </p:sp>
      <p:sp>
        <p:nvSpPr>
          <p:cNvPr id="27" name="Oval 26"/>
          <p:cNvSpPr/>
          <p:nvPr/>
        </p:nvSpPr>
        <p:spPr>
          <a:xfrm>
            <a:off x="3666744" y="3611880"/>
            <a:ext cx="310896" cy="31089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43400" y="3611880"/>
            <a:ext cx="310896" cy="31089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0056" y="3611880"/>
            <a:ext cx="310896" cy="31089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675887" y="4928616"/>
            <a:ext cx="292608" cy="292608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52544" y="4928616"/>
            <a:ext cx="292608" cy="292608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0" y="4928616"/>
            <a:ext cx="292608" cy="292608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4498848" y="3995928"/>
            <a:ext cx="0" cy="685800"/>
          </a:xfrm>
          <a:prstGeom prst="line">
            <a:avLst/>
          </a:prstGeom>
          <a:ln w="1651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0800000">
            <a:off x="4430268" y="4613148"/>
            <a:ext cx="137160" cy="137160"/>
          </a:xfrm>
          <a:prstGeom prst="triangl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01568" y="5632704"/>
            <a:ext cx="224942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80" b="0" i="0" u="none">
                <a:solidFill>
                  <a:srgbClr val="172B3A"/>
                </a:solidFill>
                <a:latin typeface="Times New Roman"/>
              </a:rPr>
              <a:t>Natijaviy kuch suyuqlik ichiga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221284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NIMA O‘ZGARADI?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679192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72B3A"/>
                </a:solidFill>
                <a:latin typeface="Times New Roman"/>
              </a:rPr>
              <a:t>Hajmdagi molekula har tomondan o‘xshash qo‘shnilarga ega. Sirt molekulasining esa fazalararo muhitdagi qo‘shnilari kamroq.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730752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NATIJA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187952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72B3A"/>
                </a:solidFill>
                <a:latin typeface="Times New Roman"/>
              </a:rPr>
              <a:t>Sirtni kengaytirish uchun erkin energiya sarflanadi. Shu sabab sirt hodisalari termodinamika, namlanish va adsorbsiya bilan chambarchas bog‘liq.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2" name="TextBox 41">
            <a:hlinkClick action="ppaction://hlinksldjump" r:id="rId3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43" name="TextBox 42">
            <a:hlinkClick action="ppaction://hlinksldjump" r:id="rId4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03  /  TERMODINAMIKA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Yangi sirt hosil qilish erkin energiya talab qiladi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Muvozanatda, harorat, bosim va tarkib o‘zgarmas bo‘lganda sirt ishini sirt tarangligi belgilaydi.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75104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SIRT ERKIN ENERGIYASINING DIFFERENSIALI</a:t>
            </a:r>
          </a:p>
        </p:txBody>
      </p:sp>
      <p:pic>
        <p:nvPicPr>
          <p:cNvPr id="8" name="Picture 7" descr="Termodinamik differensi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432304"/>
            <a:ext cx="5806440" cy="7132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447288"/>
            <a:ext cx="52120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O‘ZGARMAS T, P VA TARKIBDA</a:t>
            </a:r>
          </a:p>
        </p:txBody>
      </p:sp>
      <p:pic>
        <p:nvPicPr>
          <p:cNvPr id="10" name="Picture 9" descr="Sirt tarangligining termodinamik ta’rif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40480"/>
            <a:ext cx="4663440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FIZIK MA’NOSI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60320"/>
            <a:ext cx="461772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 u="none">
                <a:solidFill>
                  <a:srgbClr val="172B3A"/>
                </a:solidFill>
                <a:latin typeface="Times New Roman"/>
              </a:rPr>
              <a:t>Birlik sirt maydonini qaytar tarzda hosil qilish uchun kerak bo‘ladigan energiya.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0" y="3730752"/>
            <a:ext cx="4663440" cy="0"/>
          </a:xfrm>
          <a:prstGeom prst="line">
            <a:avLst/>
          </a:prstGeom>
          <a:ln w="1270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0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O‘LCHOV BIRLIKLARI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407408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0" u="none">
                <a:solidFill>
                  <a:srgbClr val="172B3A"/>
                </a:solidFill>
                <a:latin typeface="Times New Roman"/>
              </a:rPr>
              <a:t>Suyuqlik–gaz chegarasida N/m. Son jihatdan J/m² ga teng.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0" y="5715000"/>
            <a:ext cx="406908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7315200" y="5138928"/>
            <a:ext cx="0" cy="365760"/>
          </a:xfrm>
          <a:prstGeom prst="line">
            <a:avLst/>
          </a:prstGeom>
          <a:ln w="1651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>
            <a:off x="7246620" y="5070348"/>
            <a:ext cx="137160" cy="137160"/>
          </a:xfrm>
          <a:prstGeom prst="triangl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10424160" y="5138928"/>
            <a:ext cx="0" cy="365760"/>
          </a:xfrm>
          <a:prstGeom prst="line">
            <a:avLst/>
          </a:prstGeom>
          <a:ln w="1651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>
            <a:off x="10355580" y="5070348"/>
            <a:ext cx="137160" cy="137160"/>
          </a:xfrm>
          <a:prstGeom prst="triangl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5321808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 u="none">
                <a:solidFill>
                  <a:srgbClr val="536879"/>
                </a:solidFill>
                <a:latin typeface="Times New Roman"/>
              </a:rPr>
              <a:t>YANGI SIRT MAYDONI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04  /  OMILLAR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Sirt tarangligi va namlanish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Suyuqlikning sirt tarangligi bilan qattiq jismning namlanishi bog‘liq, ammo ular bir xil kattalik emas.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HARORAT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487168"/>
            <a:ext cx="640079" cy="0"/>
          </a:xfrm>
          <a:prstGeom prst="line">
            <a:avLst/>
          </a:prstGeom>
          <a:ln w="228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2724912"/>
            <a:ext cx="297180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Ko‘p suyuqliklarda harorat oshishi bilan sirt tarangligi kamayadi; kritik nuqtada u nolga intiladi.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SIRT-FAOL MODDA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6280" y="2487168"/>
            <a:ext cx="640080" cy="0"/>
          </a:xfrm>
          <a:prstGeom prst="line">
            <a:avLst/>
          </a:prstGeom>
          <a:ln w="228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26280" y="2724912"/>
            <a:ext cx="297180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Sirt-faol modda interfeysda to‘planib, ko‘pincha sirt tarangligini pasaytiradi.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057400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NAMLANISH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75320" y="2487168"/>
            <a:ext cx="640080" cy="0"/>
          </a:xfrm>
          <a:prstGeom prst="line">
            <a:avLst/>
          </a:prstGeom>
          <a:ln w="228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75320" y="2724912"/>
            <a:ext cx="297180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Kontakt burchagi qattiq jism, suyuqlik va gaz orasidagi muvozanatni ifodalaydi.</a:t>
            </a:r>
          </a:p>
        </p:txBody>
      </p:sp>
      <p:pic>
        <p:nvPicPr>
          <p:cNvPr id="16" name="Picture 15" descr="Yung tengla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4160520"/>
            <a:ext cx="4937760" cy="594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429000" y="4828032"/>
            <a:ext cx="52578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 i="0" u="none">
                <a:solidFill>
                  <a:srgbClr val="536879"/>
                </a:solidFill>
                <a:latin typeface="Times New Roman"/>
              </a:rPr>
              <a:t>Yung tenglamasi  •  muvozanatdagi θ</a:t>
            </a:r>
          </a:p>
        </p:txBody>
      </p:sp>
      <p:sp>
        <p:nvSpPr>
          <p:cNvPr id="18" name="Oval 17"/>
          <p:cNvSpPr/>
          <p:nvPr/>
        </p:nvSpPr>
        <p:spPr>
          <a:xfrm>
            <a:off x="1124712" y="5559552"/>
            <a:ext cx="219456" cy="21945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234440" y="5779008"/>
            <a:ext cx="109728" cy="274320"/>
          </a:xfrm>
          <a:prstGeom prst="line">
            <a:avLst/>
          </a:prstGeom>
          <a:ln w="1905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764791" y="5559552"/>
            <a:ext cx="219456" cy="21945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874519" y="5779008"/>
            <a:ext cx="109729" cy="274320"/>
          </a:xfrm>
          <a:prstGeom prst="line">
            <a:avLst/>
          </a:prstGeom>
          <a:ln w="1905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2404872" y="5559552"/>
            <a:ext cx="219456" cy="21945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514600" y="5779008"/>
            <a:ext cx="109728" cy="274320"/>
          </a:xfrm>
          <a:prstGeom prst="line">
            <a:avLst/>
          </a:prstGeom>
          <a:ln w="1905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044952" y="5559552"/>
            <a:ext cx="219456" cy="219456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154680" y="5779008"/>
            <a:ext cx="109728" cy="274320"/>
          </a:xfrm>
          <a:prstGeom prst="line">
            <a:avLst/>
          </a:prstGeom>
          <a:ln w="1905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68680" y="6099048"/>
            <a:ext cx="2788920" cy="0"/>
          </a:xfrm>
          <a:prstGeom prst="line">
            <a:avLst/>
          </a:prstGeom>
          <a:ln w="1270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0" y="4480560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172B3A"/>
                </a:solidFill>
                <a:latin typeface="Times New Roman"/>
              </a:rPr>
              <a:t>θ — suyuqlik ichidagi kontakt burchagi.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30" name="TextBox 29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31" name="TextBox 30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05  /  EGRI SIRTLAR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Egrilik: bosim va bug‘ muvozanati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Laplas munosabati suyuqlik bosimini, Kelvin munosabati esa egri sirt ustidagi bug‘ bosimini ifodalaydi.</a:t>
            </a:r>
          </a:p>
        </p:txBody>
      </p:sp>
      <p:pic>
        <p:nvPicPr>
          <p:cNvPr id="7" name="Picture 6" descr="Tomchi va kapillyar menisk: sxematik ko‘r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03120"/>
            <a:ext cx="4709160" cy="20025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178808"/>
            <a:ext cx="47091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536879"/>
                </a:solidFill>
                <a:latin typeface="Times New Roman"/>
              </a:rPr>
              <a:t>Tomchi va kapillyar menisk: sxematik ko‘rinish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370832"/>
            <a:ext cx="4526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QAVARIQ / BOTIQ SIRT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36592"/>
            <a:ext cx="45262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Egrilikning ishorasi ichki bosim va muvozanatdagi bug‘ bosimining o‘zgarish yo‘nalishini belgilaydi.</a:t>
            </a:r>
          </a:p>
        </p:txBody>
      </p:sp>
      <p:pic>
        <p:nvPicPr>
          <p:cNvPr id="11" name="Picture 10" descr="Laplas bosim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2057400"/>
            <a:ext cx="5349240" cy="6217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5312" y="2743200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LAPLAS BOSIMI</a:t>
            </a:r>
          </a:p>
        </p:txBody>
      </p:sp>
      <p:pic>
        <p:nvPicPr>
          <p:cNvPr id="13" name="Picture 12" descr="Kelvin tenglamas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218688"/>
            <a:ext cx="534924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25312" y="398678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KELVIN MUNOSABATI</a:t>
            </a:r>
          </a:p>
        </p:txBody>
      </p:sp>
      <p:pic>
        <p:nvPicPr>
          <p:cNvPr id="15" name="Picture 14" descr="Silindrsimon namlanuvchi g‘ovak uchun Kelvin tenglamasi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370832"/>
            <a:ext cx="5349240" cy="694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25312" y="5166360"/>
            <a:ext cx="5212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536879"/>
                </a:solidFill>
                <a:latin typeface="Times New Roman"/>
              </a:rPr>
              <a:t>Ideal silindrsimon g‘ovak modeli; haqiqiy g‘ovak tarmoqlarida gisterezis kuzatilishi mumkin.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hlinkClick action="ppaction://hlinksldjump" r:id="rId7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19" name="TextBox 18">
            <a:hlinkClick action="ppaction://hlinksldjump" r:id="rId8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0" name="TextBox 19">
            <a:hlinkClick action="ppaction://hlinksldjump" r:id="rId9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06  /  GIBBS ADSORBSIYASI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Gibbs tenglamasi sirtga boyishni miqdoriy ifodalaydi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Gibbs ortiqchasi tanlangan ajratuvchi sirtga nisbatan aniqlanadi; uni mutlaq molekulalar soni bilan tenglashtirmang.</a:t>
            </a:r>
          </a:p>
        </p:txBody>
      </p:sp>
      <p:pic>
        <p:nvPicPr>
          <p:cNvPr id="7" name="Picture 6" descr="Gibbs adsorbsiya tengla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057400"/>
            <a:ext cx="5623560" cy="7498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2944368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 u="none">
                <a:solidFill>
                  <a:srgbClr val="1D6D75"/>
                </a:solidFill>
                <a:latin typeface="Times New Roman"/>
              </a:rPr>
              <a:t>IKKI KOMPONENTLI ERITMADA; IONLARGA AJRALMAYDIGAN MODDA UCHUN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456432"/>
            <a:ext cx="5303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 u="none">
                <a:solidFill>
                  <a:srgbClr val="172B3A"/>
                </a:solidFill>
                <a:latin typeface="Times New Roman"/>
              </a:rPr>
              <a:t>Γ₂ &gt; 0 bo‘lsa, komponent sirt qatlamida ortiqcha to‘plangan.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224528"/>
            <a:ext cx="53035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30" b="0" i="0" u="none">
                <a:solidFill>
                  <a:srgbClr val="172B3A"/>
                </a:solidFill>
                <a:latin typeface="Times New Roman"/>
              </a:rPr>
              <a:t>Sirt-faol modda ko‘payishi ko‘pincha γ ni kamaytiradi. Suyultirilgan eritmada faollikni konsentratsiya bilan yaqinlashtirish mumkin.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29400" y="3886200"/>
            <a:ext cx="4572000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68991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849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07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9565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423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2814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876788" y="3561588"/>
            <a:ext cx="192024" cy="192024"/>
          </a:xfrm>
          <a:prstGeom prst="ellipse">
            <a:avLst/>
          </a:prstGeom>
          <a:noFill/>
          <a:ln w="1397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50608" y="449884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65008" y="481888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70848" y="445312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122408" y="477316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899648" y="440740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9646920" y="3154680"/>
            <a:ext cx="0" cy="502920"/>
          </a:xfrm>
          <a:prstGeom prst="line">
            <a:avLst/>
          </a:prstGeom>
          <a:ln w="1651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9578340" y="3589020"/>
            <a:ext cx="137160" cy="137160"/>
          </a:xfrm>
          <a:prstGeom prst="triangle">
            <a:avLst/>
          </a:prstGeom>
          <a:solidFill>
            <a:srgbClr val="2B56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5257800"/>
            <a:ext cx="457200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536879"/>
                </a:solidFill>
                <a:latin typeface="Times New Roman"/>
              </a:rPr>
              <a:t>Ajratuvchi sirt — hisoblash uchun qulay termodinamik chegara.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9" name="TextBox 28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30" name="TextBox 29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07  /  MEXANIZMLAR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Sorbsiya jarayonlarini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Jarayon mexanizmini faqat egri chiziq shakliga qarab aniqlab bo‘lmaydi.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1D6D75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2B5674"/>
                </a:solidFill>
                <a:latin typeface="Times New Roman"/>
              </a:rPr>
              <a:t>ADSORBSIYA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871216"/>
            <a:ext cx="621792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313639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Modda fazalar chegarasida to‘planadi. Fizikaviy yoki kimyoviy bog‘lanish ustun bo‘lishi mumkin.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505456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2B5674"/>
                </a:solidFill>
                <a:latin typeface="Times New Roman"/>
              </a:rPr>
              <a:t>ABSORBSIYA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6280" y="2871216"/>
            <a:ext cx="621792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26280" y="313639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Modda boshqa fazaning ichiga kirib, hajm bo‘ylab tarqaladi.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011680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 u="none">
                <a:solidFill>
                  <a:srgbClr val="1D6D75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05456"/>
            <a:ext cx="30632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2B5674"/>
                </a:solidFill>
                <a:latin typeface="Times New Roman"/>
              </a:rPr>
              <a:t>KAPILLYAR KONDENSATSIYA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75320" y="2871216"/>
            <a:ext cx="621792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75320" y="3136392"/>
            <a:ext cx="3090672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Bug‘ g‘ovak ichida suyuqlikka aylanib, bo‘shliqni to‘ldiradi.</a:t>
            </a:r>
          </a:p>
        </p:txBody>
      </p:sp>
      <p:sp>
        <p:nvSpPr>
          <p:cNvPr id="19" name="Oval 18"/>
          <p:cNvSpPr/>
          <p:nvPr/>
        </p:nvSpPr>
        <p:spPr>
          <a:xfrm>
            <a:off x="1046988" y="5042916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95628" y="5042916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144268" y="5042916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92908" y="5042916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914400" y="5440680"/>
            <a:ext cx="2148840" cy="0"/>
          </a:xfrm>
          <a:prstGeom prst="line">
            <a:avLst/>
          </a:prstGeom>
          <a:ln w="2540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069848" y="5705856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618488" y="5705856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67128" y="5705856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15768" y="5705856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73168" y="4937760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13248" y="518464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144768" y="4892040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47488" y="5733288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961888" y="5760720"/>
            <a:ext cx="146304" cy="146304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8549640" y="4800600"/>
            <a:ext cx="0" cy="118872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515600" y="4800600"/>
            <a:ext cx="0" cy="118872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833104" y="5111496"/>
            <a:ext cx="164592" cy="164592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336024" y="5111496"/>
            <a:ext cx="164592" cy="164592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838944" y="5111496"/>
            <a:ext cx="164592" cy="164592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549640" y="5623560"/>
            <a:ext cx="1965960" cy="0"/>
          </a:xfrm>
          <a:prstGeom prst="line">
            <a:avLst/>
          </a:prstGeom>
          <a:ln w="3810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493008" y="1993392"/>
            <a:ext cx="0" cy="3995928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251192" y="1993392"/>
            <a:ext cx="0" cy="3995928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3" name="TextBox 42">
            <a:hlinkClick action="ppaction://hlinksldjump" r:id="rId4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44" name="TextBox 43">
            <a:hlinkClick action="ppaction://hlinksldjump" r:id="rId5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08  /  MIQDORIY TAHLIL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Adsorbsiya miqdori: massa balansi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Muvozanat sharti va birliklarni har bir o‘lchovda aniq ko‘rsating.</a:t>
            </a:r>
          </a:p>
        </p:txBody>
      </p:sp>
      <p:pic>
        <p:nvPicPr>
          <p:cNvPr id="7" name="Picture 6" descr="Massa balansidan hisoblangan adsorbsiya sig‘im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148840"/>
            <a:ext cx="548640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306324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BELGILAR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47288"/>
            <a:ext cx="5303520" cy="1298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C₀ — boshlang‘ich konsentratsiya; Cₑ — muvozanatdagi konsentratsiya; V — eritma hajmi; m — adsorbent massasi.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10912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536879"/>
                </a:solidFill>
                <a:latin typeface="Times New Roman"/>
              </a:rPr>
              <a:t>Nazorat namunasi, takrorlar va hajm o‘zgarishini hisobga oling.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677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ERITMA  →  MUVOZANAT  →  O‘LCHOV</a:t>
            </a:r>
          </a:p>
        </p:txBody>
      </p:sp>
      <p:sp>
        <p:nvSpPr>
          <p:cNvPr id="12" name="Oval 11"/>
          <p:cNvSpPr/>
          <p:nvPr/>
        </p:nvSpPr>
        <p:spPr>
          <a:xfrm>
            <a:off x="6483096" y="3374136"/>
            <a:ext cx="658368" cy="658368"/>
          </a:xfrm>
          <a:prstGeom prst="ellipse">
            <a:avLst/>
          </a:prstGeom>
          <a:noFill/>
          <a:ln w="2032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4169663"/>
            <a:ext cx="12435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C₀</a:t>
            </a:r>
          </a:p>
        </p:txBody>
      </p:sp>
      <p:sp>
        <p:nvSpPr>
          <p:cNvPr id="14" name="Oval 13"/>
          <p:cNvSpPr/>
          <p:nvPr/>
        </p:nvSpPr>
        <p:spPr>
          <a:xfrm>
            <a:off x="8129016" y="3374136"/>
            <a:ext cx="658368" cy="658368"/>
          </a:xfrm>
          <a:prstGeom prst="ellipse">
            <a:avLst/>
          </a:prstGeom>
          <a:noFill/>
          <a:ln w="2032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8" y="4169663"/>
            <a:ext cx="12435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0" b="1" i="0" u="none">
                <a:solidFill>
                  <a:srgbClr val="10283F"/>
                </a:solidFill>
                <a:latin typeface="Times New Roman"/>
              </a:rPr>
              <a:t>Adsorbent
+ eritma</a:t>
            </a:r>
          </a:p>
        </p:txBody>
      </p:sp>
      <p:sp>
        <p:nvSpPr>
          <p:cNvPr id="16" name="Oval 15"/>
          <p:cNvSpPr/>
          <p:nvPr/>
        </p:nvSpPr>
        <p:spPr>
          <a:xfrm>
            <a:off x="10094976" y="3374136"/>
            <a:ext cx="658368" cy="658368"/>
          </a:xfrm>
          <a:prstGeom prst="ellipse">
            <a:avLst/>
          </a:prstGeom>
          <a:noFill/>
          <a:ln w="2032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02368" y="4169663"/>
            <a:ext cx="124358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10283F"/>
                </a:solidFill>
                <a:latin typeface="Times New Roman"/>
              </a:rPr>
              <a:t>Cₑ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42048" y="3703320"/>
            <a:ext cx="731520" cy="0"/>
          </a:xfrm>
          <a:prstGeom prst="line">
            <a:avLst/>
          </a:prstGeom>
          <a:ln w="1905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7904988" y="3634739"/>
            <a:ext cx="137160" cy="137160"/>
          </a:xfrm>
          <a:prstGeom prst="triangl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887968" y="3703320"/>
            <a:ext cx="1060704" cy="0"/>
          </a:xfrm>
          <a:prstGeom prst="line">
            <a:avLst/>
          </a:prstGeom>
          <a:ln w="1905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9880092" y="3634739"/>
            <a:ext cx="137160" cy="137160"/>
          </a:xfrm>
          <a:prstGeom prst="triangl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50292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Muvozanatga yetganini vaqt bo‘yicha barqarorlik bilan tekshiring.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09  /  IZOTERMALAR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Izoterma modeli sirt haqidagi farazlarni aks ettiradi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Harorat doimiy bo‘lganda adsorblangan miqdorning konsentratsiya yoki nisbiy bosimga bog‘liqligi izoterma deyiladi.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LANGMUIR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2395728"/>
            <a:ext cx="594360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LANGMUIR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33472"/>
            <a:ext cx="2944368" cy="548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28803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172B3A"/>
                </a:solidFill>
                <a:latin typeface="Times New Roman"/>
              </a:rPr>
              <a:t>Chekli markazlar; bir qatlam.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19933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FREUNDLICH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26280" y="2395728"/>
            <a:ext cx="594360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FREUNDLICH izotermas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2633472"/>
            <a:ext cx="2944368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6280" y="3328416"/>
            <a:ext cx="28803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172B3A"/>
                </a:solidFill>
                <a:latin typeface="Times New Roman"/>
              </a:rPr>
              <a:t>Notekis sirt uchun empirik yaqinlashuv.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199339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BET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75320" y="2395728"/>
            <a:ext cx="594360" cy="0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BET izotermasi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2633472"/>
            <a:ext cx="2944368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75320" y="3328416"/>
            <a:ext cx="288036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0" b="0" i="0" u="none">
                <a:solidFill>
                  <a:srgbClr val="172B3A"/>
                </a:solidFill>
                <a:latin typeface="Times New Roman"/>
              </a:rPr>
              <a:t>Ko‘p qatlamli gaz adsorbsiyasi.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60520" y="1947672"/>
            <a:ext cx="0" cy="2304288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9560" y="1947672"/>
            <a:ext cx="0" cy="2304288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74720" y="4315968"/>
            <a:ext cx="256032" cy="0"/>
          </a:xfrm>
          <a:prstGeom prst="line">
            <a:avLst/>
          </a:prstGeom>
          <a:ln w="2286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803904" y="4206240"/>
            <a:ext cx="13258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0" i="0" u="none">
                <a:solidFill>
                  <a:srgbClr val="536879"/>
                </a:solidFill>
                <a:latin typeface="Times New Roman"/>
              </a:rPr>
              <a:t>Langmuir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15000" y="4315968"/>
            <a:ext cx="256032" cy="0"/>
          </a:xfrm>
          <a:prstGeom prst="line">
            <a:avLst/>
          </a:prstGeom>
          <a:ln w="2286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44184" y="4206240"/>
            <a:ext cx="16002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0" i="0" u="none">
                <a:solidFill>
                  <a:srgbClr val="536879"/>
                </a:solidFill>
                <a:latin typeface="Times New Roman"/>
              </a:rPr>
              <a:t>Freundlich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75320" y="4315968"/>
            <a:ext cx="256032" cy="0"/>
          </a:xfrm>
          <a:prstGeom prst="line">
            <a:avLst/>
          </a:prstGeom>
          <a:ln w="2286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604504" y="420624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0" i="0" u="none">
                <a:solidFill>
                  <a:srgbClr val="536879"/>
                </a:solidFill>
                <a:latin typeface="Times New Roman"/>
              </a:rPr>
              <a:t>BET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960120" y="4480560"/>
            <a:ext cx="0" cy="123444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60120" y="5715000"/>
            <a:ext cx="10149840" cy="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60120" y="5036058"/>
            <a:ext cx="1217980" cy="617220"/>
          </a:xfrm>
          <a:prstGeom prst="line">
            <a:avLst/>
          </a:prstGeom>
          <a:ln w="2159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2178100" y="4690414"/>
            <a:ext cx="1826972" cy="345644"/>
          </a:xfrm>
          <a:prstGeom prst="line">
            <a:avLst/>
          </a:prstGeom>
          <a:ln w="2159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005072" y="4579315"/>
            <a:ext cx="2537460" cy="111099"/>
          </a:xfrm>
          <a:prstGeom prst="line">
            <a:avLst/>
          </a:prstGeom>
          <a:ln w="2159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6542532" y="4529937"/>
            <a:ext cx="4567428" cy="49378"/>
          </a:xfrm>
          <a:prstGeom prst="line">
            <a:avLst/>
          </a:prstGeom>
          <a:ln w="2159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60120" y="5468112"/>
            <a:ext cx="1826971" cy="185166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2787091" y="5196535"/>
            <a:ext cx="2029968" cy="271577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817059" y="4900269"/>
            <a:ext cx="2740457" cy="296266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557516" y="4604004"/>
            <a:ext cx="3552444" cy="296265"/>
          </a:xfrm>
          <a:prstGeom prst="line">
            <a:avLst/>
          </a:prstGeom>
          <a:ln w="2159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60120" y="5406390"/>
            <a:ext cx="2029968" cy="246888"/>
          </a:xfrm>
          <a:prstGeom prst="line">
            <a:avLst/>
          </a:prstGeom>
          <a:ln w="2159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990088" y="5159502"/>
            <a:ext cx="2537460" cy="246888"/>
          </a:xfrm>
          <a:prstGeom prst="line">
            <a:avLst/>
          </a:prstGeom>
          <a:ln w="2159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527548" y="4974336"/>
            <a:ext cx="2537460" cy="185166"/>
          </a:xfrm>
          <a:prstGeom prst="line">
            <a:avLst/>
          </a:prstGeom>
          <a:ln w="2159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065008" y="4776825"/>
            <a:ext cx="2334463" cy="197511"/>
          </a:xfrm>
          <a:prstGeom prst="line">
            <a:avLst/>
          </a:prstGeom>
          <a:ln w="2159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0399471" y="4554626"/>
            <a:ext cx="710489" cy="222199"/>
          </a:xfrm>
          <a:prstGeom prst="line">
            <a:avLst/>
          </a:prstGeom>
          <a:ln w="21590">
            <a:solidFill>
              <a:srgbClr val="9777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60120" y="5870448"/>
            <a:ext cx="10149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0" i="1" u="none">
                <a:solidFill>
                  <a:srgbClr val="536879"/>
                </a:solidFill>
                <a:latin typeface="Times New Roman"/>
              </a:rPr>
              <a:t>Sxematik egri chiziqlar — o‘lchov natijalari emas.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hlinkClick action="ppaction://hlinksldjump" r:id="rId6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5" name="TextBox 44">
            <a:hlinkClick action="ppaction://hlinksldjump" r:id="rId7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46" name="TextBox 45">
            <a:hlinkClick action="ppaction://hlinksldjump" r:id="rId8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10  /  LANGMUIR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Langmuir modeli: chekli markazlarda bir qatlam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Model teng energiyali, mustaqil markazlar va muvozanat farazlariga asoslanadi.</a:t>
            </a:r>
          </a:p>
        </p:txBody>
      </p:sp>
      <p:pic>
        <p:nvPicPr>
          <p:cNvPr id="7" name="Picture 6" descr="Langmuir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57400"/>
            <a:ext cx="5029200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944368"/>
            <a:ext cx="49834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ASOSIY FARAZLAR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355848"/>
            <a:ext cx="4892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•  Sirt markazlari teng energetikaga 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50208"/>
            <a:ext cx="4892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•  Har bir markazda ko‘pi bilan bitta zarracha yutiladi.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44568"/>
            <a:ext cx="4892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•  Yutilgan zarrachalar o‘zaro ta’sirlashmaydi.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537960" y="2926080"/>
            <a:ext cx="0" cy="278892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37960" y="5715000"/>
            <a:ext cx="4480560" cy="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537960" y="4794656"/>
            <a:ext cx="448056" cy="836676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986016" y="4153204"/>
            <a:ext cx="537667" cy="641452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523683" y="3679088"/>
            <a:ext cx="806501" cy="474116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330184" y="3400196"/>
            <a:ext cx="985723" cy="278892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315907" y="3232861"/>
            <a:ext cx="1030529" cy="167335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346436" y="3149193"/>
            <a:ext cx="672084" cy="83668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5797296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19" b="0" i="0" u="none">
                <a:solidFill>
                  <a:srgbClr val="536879"/>
                </a:solidFill>
                <a:latin typeface="Times New Roman"/>
              </a:rPr>
              <a:t>Konsentratsiya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596896"/>
            <a:ext cx="4480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0" i="0" u="none">
                <a:solidFill>
                  <a:srgbClr val="536879"/>
                </a:solidFill>
                <a:latin typeface="Times New Roman"/>
              </a:rPr>
              <a:t>Yutilgan miqdor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6108192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0" i="1" u="none">
                <a:solidFill>
                  <a:srgbClr val="536879"/>
                </a:solidFill>
                <a:latin typeface="Times New Roman"/>
              </a:rPr>
              <a:t>Langmuir egri chizig‘i • sxematik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11  /  FREUNDLICH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Freundlich — notekis sirt uchun empirik izoterma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Model muayyan konsentratsiya oralig‘ida qo‘llanadi; to‘yinish chegarasini bermaydi.</a:t>
            </a:r>
          </a:p>
        </p:txBody>
      </p:sp>
      <p:pic>
        <p:nvPicPr>
          <p:cNvPr id="7" name="Picture 6" descr="Freundlich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39112"/>
            <a:ext cx="4572000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9077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LOGARIFMLANGAN KO‘RINISH</a:t>
            </a:r>
          </a:p>
        </p:txBody>
      </p:sp>
      <p:pic>
        <p:nvPicPr>
          <p:cNvPr id="9" name="Picture 8" descr="Freundlich izotermasining logarifmlangan ko‘rinis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73552"/>
            <a:ext cx="4754880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4069080"/>
            <a:ext cx="461772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Daraja ko‘rsatkichi va sig‘im koeffitsiyenti tajribadan aniqlanadi.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36592"/>
            <a:ext cx="4617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536879"/>
                </a:solidFill>
                <a:latin typeface="Times New Roman"/>
              </a:rPr>
              <a:t>Natijani faqat o‘rganilgan oraliqda talqin qiling; yuqori konsentratsiyadagi to‘yinishni model bermaydi.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6720840" y="2834640"/>
            <a:ext cx="0" cy="288036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20840" y="5715000"/>
            <a:ext cx="4297680" cy="0"/>
          </a:xfrm>
          <a:prstGeom prst="line">
            <a:avLst/>
          </a:prstGeom>
          <a:ln w="1524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720840" y="4966106"/>
            <a:ext cx="515721" cy="633679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236561" y="4447641"/>
            <a:ext cx="687629" cy="518465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924190" y="3957980"/>
            <a:ext cx="859536" cy="489661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783726" y="3497122"/>
            <a:ext cx="945490" cy="460858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9729216" y="3007461"/>
            <a:ext cx="1289304" cy="489661"/>
          </a:xfrm>
          <a:prstGeom prst="line">
            <a:avLst/>
          </a:prstGeom>
          <a:ln w="2667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720840" y="5797296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19" b="0" i="0" u="none">
                <a:solidFill>
                  <a:srgbClr val="536879"/>
                </a:solidFill>
                <a:latin typeface="Times New Roman"/>
              </a:rPr>
              <a:t>Konsentratsiya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596896"/>
            <a:ext cx="42976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0" i="0" u="none">
                <a:solidFill>
                  <a:srgbClr val="536879"/>
                </a:solidFill>
                <a:latin typeface="Times New Roman"/>
              </a:rPr>
              <a:t>Yutilgan miqdor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6108192"/>
            <a:ext cx="42976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0" i="1" u="none">
                <a:solidFill>
                  <a:srgbClr val="536879"/>
                </a:solidFill>
                <a:latin typeface="Times New Roman"/>
              </a:rPr>
              <a:t>Freundlich egri chizig‘i • sxematik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5" name="TextBox 24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12  /  BET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BET: ko‘p qatlamli adsorbsiya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Gaz adsorbsiyasida birinchi qatlam va keyingi qatlamlar turlicha energiya bilan qaraladi.</a:t>
            </a:r>
          </a:p>
        </p:txBody>
      </p:sp>
      <p:pic>
        <p:nvPicPr>
          <p:cNvPr id="7" name="Picture 6" descr="BET izotermas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47672"/>
            <a:ext cx="5303520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761488"/>
            <a:ext cx="5166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CHIZIQLI KO‘RINISH</a:t>
            </a:r>
          </a:p>
        </p:txBody>
      </p:sp>
      <p:pic>
        <p:nvPicPr>
          <p:cNvPr id="9" name="Picture 8" descr="BET chiziqli ko‘rinish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127248"/>
            <a:ext cx="530352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" y="3913632"/>
            <a:ext cx="51206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Chiziqli soha tanlanadi; undan monoqavat sig‘imi va BET doimiysi olinadi.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51663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0" i="0" u="none">
                <a:solidFill>
                  <a:srgbClr val="536879"/>
                </a:solidFill>
                <a:latin typeface="Times New Roman"/>
              </a:rPr>
              <a:t>Sirt maydoni adsorbtiv, harorat va tanlangan bosim oralig‘iga bog‘liq. Grafik — sxema, tajriba natijasi emas.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37960" y="5532120"/>
            <a:ext cx="4617720" cy="0"/>
          </a:xfrm>
          <a:prstGeom prst="line">
            <a:avLst/>
          </a:prstGeom>
          <a:ln w="2540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6807707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39227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70748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002267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3788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465308" y="5042916"/>
            <a:ext cx="192024" cy="192024"/>
          </a:xfrm>
          <a:prstGeom prst="ellipse">
            <a:avLst/>
          </a:prstGeom>
          <a:noFill/>
          <a:ln w="15240">
            <a:solidFill>
              <a:srgbClr val="1D6D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08875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40396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71916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03436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34956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666476" y="4613148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807707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39227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0748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002267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33788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465308" y="4183379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08875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40396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71916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203436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34956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666476" y="3753611"/>
            <a:ext cx="192024" cy="192024"/>
          </a:xfrm>
          <a:prstGeom prst="ellipse">
            <a:avLst/>
          </a:prstGeom>
          <a:noFill/>
          <a:ln w="15240">
            <a:solidFill>
              <a:srgbClr val="2B56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QATLAMMA-QATLAM ADSORBSIYA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742432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172B3A"/>
                </a:solidFill>
                <a:latin typeface="Times New Roman"/>
              </a:rPr>
              <a:t>Birinchi qavat sirt bilan, keyingilari adsorbat bilan ta’sirlashadi.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41" name="TextBox 40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42" name="TextBox 41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13  /  G‘OVAKLAR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G‘ovak o‘lchami adsorbsiya mexanizmini belgilaydi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IUPAC tasnifida g‘ovak kengligi va kuzatiladigan to‘lish mexanizmi farqlanadi.</a:t>
            </a:r>
          </a:p>
        </p:txBody>
      </p:sp>
      <p:pic>
        <p:nvPicPr>
          <p:cNvPr id="7" name="Picture 6" descr="G‘ovakli adsorbentning sxematik ko‘rinish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011680"/>
            <a:ext cx="402336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6108192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536879"/>
                </a:solidFill>
                <a:latin typeface="Times New Roman"/>
              </a:rPr>
              <a:t>G‘ovakli adsorbentning sxematik ko‘rinishi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2B5674"/>
                </a:solidFill>
                <a:latin typeface="Times New Roman"/>
              </a:rPr>
              <a:t>01  MIKROG‘OVAK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210312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&lt; 2 nm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1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Qarama-qarshi devorlar potensiali ustma-ust tushadi.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46120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1D6D75"/>
                </a:solidFill>
                <a:latin typeface="Times New Roman"/>
              </a:rPr>
              <a:t>02  MEZOG‘OVAK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0128" y="324612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2–50 nm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93591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Menisk va kapillyar kondensatsiya muhim.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389120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none">
                <a:solidFill>
                  <a:srgbClr val="977742"/>
                </a:solidFill>
                <a:latin typeface="Times New Roman"/>
              </a:rPr>
              <a:t>03  MAKROG‘OVAK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438912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0283F"/>
                </a:solidFill>
                <a:latin typeface="Times New Roman"/>
              </a:rPr>
              <a:t>&gt; 50 nm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36592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Oqim va massa uzatish yo‘llarini ta’minlaydi.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05856"/>
            <a:ext cx="6035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1" u="none">
                <a:solidFill>
                  <a:srgbClr val="536879"/>
                </a:solidFill>
                <a:latin typeface="Times New Roman"/>
              </a:rPr>
              <a:t>Sxema masshtabda emas; o‘lchov usulini ko‘rsatish zarur.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4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14  /  SIRT KIMYOSI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Sirt zaryadi pH va tanlab yutilishga ta’sir qiladi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Suvli muhitda ionlarning adsorbsiyasi sirt guruhlari, pH, tuz miqdori va raqobatga bog‘liq.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3611880"/>
            <a:ext cx="5029200" cy="0"/>
          </a:xfrm>
          <a:prstGeom prst="line">
            <a:avLst/>
          </a:prstGeom>
          <a:ln w="31750">
            <a:solidFill>
              <a:srgbClr val="2B5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515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23560" y="3136392"/>
            <a:ext cx="22860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2B5674"/>
                </a:solidFill>
                <a:latin typeface="Times New Roman"/>
              </a:rPr>
              <a:t>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5876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QATTIQ SIRT</a:t>
            </a:r>
          </a:p>
        </p:txBody>
      </p:sp>
      <p:sp>
        <p:nvSpPr>
          <p:cNvPr id="17" name="Oval 16"/>
          <p:cNvSpPr/>
          <p:nvPr/>
        </p:nvSpPr>
        <p:spPr>
          <a:xfrm>
            <a:off x="1362456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85416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08376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31335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54296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431536" y="4215383"/>
            <a:ext cx="201168" cy="201168"/>
          </a:xfrm>
          <a:prstGeom prst="ellipse">
            <a:avLst/>
          </a:prstGeom>
          <a:solidFill>
            <a:srgbClr val="1D6D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994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1" i="0" u="none">
                <a:solidFill>
                  <a:srgbClr val="1D6D75"/>
                </a:solidFill>
                <a:latin typeface="Times New Roman"/>
              </a:rPr>
              <a:t>STERN QATLAMI  •  QARSHI IONLAR (+)</a:t>
            </a:r>
          </a:p>
        </p:txBody>
      </p:sp>
      <p:sp>
        <p:nvSpPr>
          <p:cNvPr id="24" name="Oval 23"/>
          <p:cNvSpPr/>
          <p:nvPr/>
        </p:nvSpPr>
        <p:spPr>
          <a:xfrm>
            <a:off x="1115568" y="5047488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55648" y="5504688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487168" y="5001768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10128" y="5522976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041648" y="4974336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18888" y="5458968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504688" y="5047488"/>
            <a:ext cx="146304" cy="146304"/>
          </a:xfrm>
          <a:prstGeom prst="ellipse">
            <a:avLst/>
          </a:prstGeom>
          <a:noFill/>
          <a:ln w="15240">
            <a:solidFill>
              <a:srgbClr val="9777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70448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80" b="1" i="0" u="none">
                <a:solidFill>
                  <a:srgbClr val="536879"/>
                </a:solidFill>
                <a:latin typeface="Times New Roman"/>
              </a:rPr>
              <a:t>TARQOQ IONLAR QATLAMI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37960" y="2103120"/>
            <a:ext cx="0" cy="3931920"/>
          </a:xfrm>
          <a:prstGeom prst="line">
            <a:avLst/>
          </a:prstGeom>
          <a:ln w="1016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995160" y="2194560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TALQIN UCHUN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2670048"/>
            <a:ext cx="425196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pH sirt guruhlarining protonlanishini va sirt zaryadini o‘zgartiradi.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703320"/>
            <a:ext cx="4251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Tuz miqdori elektr ikki qavat qalinligiga ta’sir ko‘rsatadi; ayrim ionlar sirtga maxsus birikishi mumkin.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956048"/>
            <a:ext cx="4251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536879"/>
                </a:solidFill>
                <a:latin typeface="Times New Roman"/>
              </a:rPr>
              <a:t>Panet–Fayans qoidasi — tarixiy yo‘riq; haqiqiy tanlanish sirt kimyosi bilan tekshiriladi.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hlinkClick action="ppaction://hlinksldjump" r:id="rId3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39" name="TextBox 38">
            <a:hlinkClick action="ppaction://hlinksldjump" r:id="rId4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40" name="TextBox 39">
            <a:hlinkClick action="ppaction://hlinksldjump" r:id="rId5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15  /  TAJRIBA VA QO‘LLANISH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Tajriba sifati va amaliy qo‘llanish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Adsorbsiya sig‘imi bilan birga tanlanish, tezlik, qayta tiklash va o‘lchov noaniqligini baholang.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9659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D6D75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4389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Adsorbent, adsorbat va erituvchini belgilang.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24128" y="2322576"/>
            <a:ext cx="0" cy="448056"/>
          </a:xfrm>
          <a:prstGeom prst="line">
            <a:avLst/>
          </a:prstGeom>
          <a:ln w="15240">
            <a:solidFill>
              <a:srgbClr val="C8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277063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770632"/>
            <a:ext cx="4389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Harorat, pH va boshlang‘ich konsentratsiyani qayd eting.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24128" y="3127248"/>
            <a:ext cx="0" cy="448055"/>
          </a:xfrm>
          <a:prstGeom prst="line">
            <a:avLst/>
          </a:prstGeom>
          <a:ln w="15240">
            <a:solidFill>
              <a:srgbClr val="C8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57530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D6D75"/>
                </a:solidFill>
                <a:latin typeface="Times New Roman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75304"/>
            <a:ext cx="4389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Muvozanatga yetganini vaqt bo‘yicha tekshiring.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24128" y="3931920"/>
            <a:ext cx="0" cy="448056"/>
          </a:xfrm>
          <a:prstGeom prst="line">
            <a:avLst/>
          </a:prstGeom>
          <a:ln w="15240">
            <a:solidFill>
              <a:srgbClr val="C8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437997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1D6D75"/>
                </a:solidFill>
                <a:latin typeface="Times New Roman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379976"/>
            <a:ext cx="438912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u="none">
                <a:solidFill>
                  <a:srgbClr val="172B3A"/>
                </a:solidFill>
                <a:latin typeface="Times New Roman"/>
              </a:rPr>
              <a:t>Nazorat namunasi va takroriy o‘lchovlardan foydalaning.</a:t>
            </a:r>
          </a:p>
        </p:txBody>
      </p:sp>
      <p:pic>
        <p:nvPicPr>
          <p:cNvPr id="18" name="Picture 17" descr="Ajralish ustun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74519"/>
            <a:ext cx="1463040" cy="2697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92240" y="464515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 u="none">
                <a:solidFill>
                  <a:srgbClr val="536879"/>
                </a:solidFill>
                <a:latin typeface="Times New Roman"/>
              </a:rPr>
              <a:t>Ajralish ustuni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96596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XROMATOGRAFIK AJRATISH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359152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80" b="0" i="0" u="none">
                <a:solidFill>
                  <a:srgbClr val="172B3A"/>
                </a:solidFill>
                <a:latin typeface="Times New Roman"/>
              </a:rPr>
              <a:t>Komponentlar ikki fazaga moyilligi turlicha bo‘lgani uchun har xil vaqtda chiqadi.</a:t>
            </a:r>
          </a:p>
        </p:txBody>
      </p:sp>
      <p:pic>
        <p:nvPicPr>
          <p:cNvPr id="22" name="Picture 21" descr="Xromatografik ushlanish omil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3310128"/>
            <a:ext cx="3063240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0" y="3941063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 i="0" u="none">
                <a:solidFill>
                  <a:srgbClr val="536879"/>
                </a:solidFill>
                <a:latin typeface="Times New Roman"/>
              </a:rPr>
              <a:t>Ushlanish vaqti va o‘lik vaqtni farqlang.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5486400"/>
            <a:ext cx="10515600" cy="0"/>
          </a:xfrm>
          <a:prstGeom prst="line">
            <a:avLst/>
          </a:prstGeom>
          <a:ln w="1016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5650992"/>
            <a:ext cx="104241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u="none">
                <a:solidFill>
                  <a:srgbClr val="2B5674"/>
                </a:solidFill>
                <a:latin typeface="Times New Roman"/>
              </a:rPr>
              <a:t>QO‘LLANISH:  suvni tozalash  •  gazlarni ajratish  •  kataliz  •  tibbiy sorbsiya (faqat mutaxassis nazoratida)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8" name="TextBox 27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9555480" y="6537960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KEYINGI  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210312"/>
            <a:ext cx="475488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u="none">
                <a:solidFill>
                  <a:srgbClr val="1D6D75"/>
                </a:solidFill>
                <a:latin typeface="Times New Roman"/>
              </a:rPr>
              <a:t>16  /  XULOSA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58368" y="502920"/>
            <a:ext cx="493776" cy="0"/>
          </a:xfrm>
          <a:prstGeom prst="line">
            <a:avLst/>
          </a:prstGeom>
          <a:ln w="27940">
            <a:solidFill>
              <a:srgbClr val="1D6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6492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 i="0" u="none">
                <a:solidFill>
                  <a:srgbClr val="10283F"/>
                </a:solidFill>
                <a:latin typeface="Times New Roman"/>
              </a:rPr>
              <a:t>Yakun: uchta xulosa, uchta tekshiruv savoli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225296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 u="none">
                <a:solidFill>
                  <a:srgbClr val="536879"/>
                </a:solidFill>
                <a:latin typeface="Times New Roman"/>
              </a:rPr>
              <a:t>Asosiy bo‘lim nomlarini bosing — tegishli tushuntirishga qayting.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594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>
            <a:hlinkClick action="ppaction://hlinksldjump" r:id="rId3"/>
          </p:cNvPr>
          <p:cNvSpPr txBox="1"/>
          <p:nvPr/>
        </p:nvSpPr>
        <p:spPr>
          <a:xfrm>
            <a:off x="822960" y="2606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2B5674"/>
                </a:solidFill>
                <a:latin typeface="Times New Roman"/>
              </a:rPr>
              <a:t>SIRT ENERGIYASI</a:t>
            </a:r>
          </a:p>
        </p:txBody>
      </p:sp>
      <p:sp>
        <p:nvSpPr>
          <p:cNvPr id="9" name="TextBox 8">
            <a:hlinkClick action="ppaction://hlinksldjump" r:id="rId3"/>
          </p:cNvPr>
          <p:cNvSpPr txBox="1"/>
          <p:nvPr/>
        </p:nvSpPr>
        <p:spPr>
          <a:xfrm>
            <a:off x="822960" y="3072384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Sirt tarangligi sirt hosil qilish ishini bildiradi.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057400"/>
            <a:ext cx="594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02</a:t>
            </a:r>
          </a:p>
        </p:txBody>
      </p: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4526280" y="2606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2B5674"/>
                </a:solidFill>
                <a:latin typeface="Times New Roman"/>
              </a:rPr>
              <a:t>MODEL SHARTI</a:t>
            </a:r>
          </a:p>
        </p:txBody>
      </p:sp>
      <p:sp>
        <p:nvSpPr>
          <p:cNvPr id="12" name="TextBox 11">
            <a:hlinkClick action="ppaction://hlinksldjump" r:id="rId4"/>
          </p:cNvPr>
          <p:cNvSpPr txBox="1"/>
          <p:nvPr/>
        </p:nvSpPr>
        <p:spPr>
          <a:xfrm>
            <a:off x="4526280" y="3072384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Yaxshi moslikning o‘zi mexanizmni isbotlamaydi.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57400"/>
            <a:ext cx="59436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 u="none">
                <a:solidFill>
                  <a:srgbClr val="1D6D75"/>
                </a:solidFill>
                <a:latin typeface="Times New Roman"/>
              </a:rPr>
              <a:t>03</a:t>
            </a:r>
          </a:p>
        </p:txBody>
      </p:sp>
      <p:sp>
        <p:nvSpPr>
          <p:cNvPr id="14" name="TextBox 13">
            <a:hlinkClick action="ppaction://hlinksldjump" r:id="rId5"/>
          </p:cNvPr>
          <p:cNvSpPr txBox="1"/>
          <p:nvPr/>
        </p:nvSpPr>
        <p:spPr>
          <a:xfrm>
            <a:off x="8229600" y="2606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 u="sng">
                <a:solidFill>
                  <a:srgbClr val="2B5674"/>
                </a:solidFill>
                <a:latin typeface="Times New Roman"/>
              </a:rPr>
              <a:t>ISHONCHLI DALIL</a:t>
            </a:r>
          </a:p>
        </p:txBody>
      </p:sp>
      <p:sp>
        <p:nvSpPr>
          <p:cNvPr id="15" name="TextBox 14">
            <a:hlinkClick action="ppaction://hlinksldjump" r:id="rId5"/>
          </p:cNvPr>
          <p:cNvSpPr txBox="1"/>
          <p:nvPr/>
        </p:nvSpPr>
        <p:spPr>
          <a:xfrm>
            <a:off x="8229600" y="3072384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0" i="0" u="none">
                <a:solidFill>
                  <a:srgbClr val="172B3A"/>
                </a:solidFill>
                <a:latin typeface="Times New Roman"/>
              </a:rPr>
              <a:t>Xulosa o‘lchov, takror va noaniqlik bilan asoslanadi.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2011680"/>
            <a:ext cx="0" cy="214884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011680"/>
            <a:ext cx="0" cy="214884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47091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u="none">
                <a:solidFill>
                  <a:srgbClr val="1D6D75"/>
                </a:solidFill>
                <a:latin typeface="Times New Roman"/>
              </a:rPr>
              <a:t>O‘ZINGIZNI TEKSHIRING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65776"/>
            <a:ext cx="7315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none">
                <a:solidFill>
                  <a:srgbClr val="172B3A"/>
                </a:solidFill>
                <a:latin typeface="Times New Roman"/>
              </a:rPr>
              <a:t>1. Sirt tarangligi nimani bildiradi?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413248"/>
            <a:ext cx="7315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none">
                <a:solidFill>
                  <a:srgbClr val="172B3A"/>
                </a:solidFill>
                <a:latin typeface="Times New Roman"/>
              </a:rPr>
              <a:t>2. Langmuir modelining asosiy farazi nima?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760720"/>
            <a:ext cx="73152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70" b="0" i="0" u="none">
                <a:solidFill>
                  <a:srgbClr val="172B3A"/>
                </a:solidFill>
                <a:latin typeface="Times New Roman"/>
              </a:rPr>
              <a:t>3. Adsorbsiya miqdori qanday tekshiriladi?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53912"/>
            <a:ext cx="75895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40" b="0" i="1" u="none">
                <a:solidFill>
                  <a:srgbClr val="536879"/>
                </a:solidFill>
                <a:latin typeface="Times New Roman"/>
              </a:rPr>
              <a:t>Javoblarni slaydlar bo‘ylab qayta ko‘rib chiqing; natijani dalil bilan asoslang.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8368" y="6473952"/>
            <a:ext cx="10881360" cy="0"/>
          </a:xfrm>
          <a:prstGeom prst="line">
            <a:avLst/>
          </a:prstGeom>
          <a:ln w="8890">
            <a:solidFill>
              <a:srgbClr val="CBD8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5"/>
          </p:cNvPr>
          <p:cNvSpPr txBox="1"/>
          <p:nvPr/>
        </p:nvSpPr>
        <p:spPr>
          <a:xfrm>
            <a:off x="658368" y="6537960"/>
            <a:ext cx="15087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‹  AVVALGI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5157216" y="653796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MUNDARIJA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9491472" y="653796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 u="sng">
                <a:solidFill>
                  <a:srgbClr val="1D6D75"/>
                </a:solidFill>
                <a:latin typeface="Times New Roman"/>
              </a:rPr>
              <a:t>BOSH SAHIFA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91088" y="6528816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1" i="0" u="none">
                <a:solidFill>
                  <a:srgbClr val="536879"/>
                </a:solidFill>
                <a:latin typeface="Times New Roman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