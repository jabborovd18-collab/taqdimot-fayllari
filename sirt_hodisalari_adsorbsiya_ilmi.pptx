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2.xml"/><Relationship Id="rId5" Type="http://schemas.openxmlformats.org/officeDocument/2006/relationships/image" Target="../media/image3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10.xml"/><Relationship Id="rId7" Type="http://schemas.openxmlformats.org/officeDocument/2006/relationships/slide" Target="slide14.xml"/><Relationship Id="rId8" Type="http://schemas.openxmlformats.org/officeDocument/2006/relationships/slide" Target="slide1.xml"/><Relationship Id="rId9" Type="http://schemas.openxmlformats.org/officeDocument/2006/relationships/slide" Target="slide2.xml"/><Relationship Id="rId10" Type="http://schemas.openxmlformats.org/officeDocument/2006/relationships/image" Target="../media/image4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image" Target="../media/image41.png"/><Relationship Id="rId6" Type="http://schemas.openxmlformats.org/officeDocument/2006/relationships/image" Target="../media/image56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" Target="slide3.xml"/><Relationship Id="rId6" Type="http://schemas.openxmlformats.org/officeDocument/2006/relationships/slide" Target="slide2.xml"/><Relationship Id="rId7" Type="http://schemas.openxmlformats.org/officeDocument/2006/relationships/slide" Target="slide5.xml"/><Relationship Id="rId8" Type="http://schemas.openxmlformats.org/officeDocument/2006/relationships/image" Target="../media/image42.png"/><Relationship Id="rId9" Type="http://schemas.openxmlformats.org/officeDocument/2006/relationships/image" Target="../media/image57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" Target="slide4.xml"/><Relationship Id="rId5" Type="http://schemas.openxmlformats.org/officeDocument/2006/relationships/slide" Target="slide2.xml"/><Relationship Id="rId6" Type="http://schemas.openxmlformats.org/officeDocument/2006/relationships/slide" Target="slide6.xml"/><Relationship Id="rId7" Type="http://schemas.openxmlformats.org/officeDocument/2006/relationships/image" Target="../media/image43.png"/><Relationship Id="rId8" Type="http://schemas.openxmlformats.org/officeDocument/2006/relationships/image" Target="../media/image58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" Target="slide5.xml"/><Relationship Id="rId8" Type="http://schemas.openxmlformats.org/officeDocument/2006/relationships/slide" Target="slide2.xml"/><Relationship Id="rId9" Type="http://schemas.openxmlformats.org/officeDocument/2006/relationships/slide" Target="slide7.xml"/><Relationship Id="rId10" Type="http://schemas.openxmlformats.org/officeDocument/2006/relationships/image" Target="../media/image44.png"/><Relationship Id="rId11" Type="http://schemas.openxmlformats.org/officeDocument/2006/relationships/image" Target="../media/image59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" Target="slide6.xml"/><Relationship Id="rId5" Type="http://schemas.openxmlformats.org/officeDocument/2006/relationships/slide" Target="slide2.xml"/><Relationship Id="rId6" Type="http://schemas.openxmlformats.org/officeDocument/2006/relationships/slide" Target="slide8.xml"/><Relationship Id="rId7" Type="http://schemas.openxmlformats.org/officeDocument/2006/relationships/image" Target="../media/image45.png"/><Relationship Id="rId8" Type="http://schemas.openxmlformats.org/officeDocument/2006/relationships/image" Target="../media/image60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slide" Target="slide7.xml"/><Relationship Id="rId4" Type="http://schemas.openxmlformats.org/officeDocument/2006/relationships/slide" Target="slide2.xml"/><Relationship Id="rId5" Type="http://schemas.openxmlformats.org/officeDocument/2006/relationships/slide" Target="slide9.xml"/><Relationship Id="rId6" Type="http://schemas.openxmlformats.org/officeDocument/2006/relationships/image" Target="../media/image46.png"/><Relationship Id="rId7" Type="http://schemas.openxmlformats.org/officeDocument/2006/relationships/image" Target="../media/image61.gif"/><Relationship Id="rId8" Type="http://schemas.openxmlformats.org/officeDocument/2006/relationships/image" Target="../media/image62.gif"/><Relationship Id="rId9" Type="http://schemas.openxmlformats.org/officeDocument/2006/relationships/image" Target="../media/image63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" Target="slide8.xml"/><Relationship Id="rId5" Type="http://schemas.openxmlformats.org/officeDocument/2006/relationships/slide" Target="slide2.xml"/><Relationship Id="rId6" Type="http://schemas.openxmlformats.org/officeDocument/2006/relationships/slide" Target="slide10.xml"/><Relationship Id="rId7" Type="http://schemas.openxmlformats.org/officeDocument/2006/relationships/image" Target="../media/image47.png"/><Relationship Id="rId8" Type="http://schemas.openxmlformats.org/officeDocument/2006/relationships/image" Target="../media/image64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slide" Target="slide9.xml"/><Relationship Id="rId7" Type="http://schemas.openxmlformats.org/officeDocument/2006/relationships/slide" Target="slide2.xml"/><Relationship Id="rId8" Type="http://schemas.openxmlformats.org/officeDocument/2006/relationships/slide" Target="slide11.xml"/><Relationship Id="rId9" Type="http://schemas.openxmlformats.org/officeDocument/2006/relationships/image" Target="../media/image48.png"/><Relationship Id="rId10" Type="http://schemas.openxmlformats.org/officeDocument/2006/relationships/image" Target="../media/image65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" Target="slide10.xml"/><Relationship Id="rId5" Type="http://schemas.openxmlformats.org/officeDocument/2006/relationships/slide" Target="slide2.xml"/><Relationship Id="rId6" Type="http://schemas.openxmlformats.org/officeDocument/2006/relationships/slide" Target="slide12.xml"/><Relationship Id="rId7" Type="http://schemas.openxmlformats.org/officeDocument/2006/relationships/image" Target="../media/image49.png"/><Relationship Id="rId8" Type="http://schemas.openxmlformats.org/officeDocument/2006/relationships/image" Target="../media/image66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" Target="slide11.xml"/><Relationship Id="rId6" Type="http://schemas.openxmlformats.org/officeDocument/2006/relationships/slide" Target="slide2.xml"/><Relationship Id="rId7" Type="http://schemas.openxmlformats.org/officeDocument/2006/relationships/slide" Target="slide13.xml"/><Relationship Id="rId8" Type="http://schemas.openxmlformats.org/officeDocument/2006/relationships/image" Target="../media/image50.png"/><Relationship Id="rId9" Type="http://schemas.openxmlformats.org/officeDocument/2006/relationships/image" Target="../media/image67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12.xml"/><Relationship Id="rId6" Type="http://schemas.openxmlformats.org/officeDocument/2006/relationships/slide" Target="slide2.xml"/><Relationship Id="rId7" Type="http://schemas.openxmlformats.org/officeDocument/2006/relationships/slide" Target="slide14.xml"/><Relationship Id="rId8" Type="http://schemas.openxmlformats.org/officeDocument/2006/relationships/image" Target="../media/image51.png"/><Relationship Id="rId9" Type="http://schemas.openxmlformats.org/officeDocument/2006/relationships/image" Target="../media/image68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" Target="slide13.xml"/><Relationship Id="rId5" Type="http://schemas.openxmlformats.org/officeDocument/2006/relationships/slide" Target="slide2.xml"/><Relationship Id="rId6" Type="http://schemas.openxmlformats.org/officeDocument/2006/relationships/slide" Target="slide15.xml"/><Relationship Id="rId7" Type="http://schemas.openxmlformats.org/officeDocument/2006/relationships/image" Target="../media/image52.png"/><Relationship Id="rId8" Type="http://schemas.openxmlformats.org/officeDocument/2006/relationships/image" Target="../media/image69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slide" Target="slide14.xml"/><Relationship Id="rId4" Type="http://schemas.openxmlformats.org/officeDocument/2006/relationships/slide" Target="slide2.xml"/><Relationship Id="rId5" Type="http://schemas.openxmlformats.org/officeDocument/2006/relationships/slide" Target="slide16.xml"/><Relationship Id="rId6" Type="http://schemas.openxmlformats.org/officeDocument/2006/relationships/image" Target="../media/image53.png"/><Relationship Id="rId7" Type="http://schemas.openxmlformats.org/officeDocument/2006/relationships/image" Target="../media/image70.gi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15.xml"/><Relationship Id="rId6" Type="http://schemas.openxmlformats.org/officeDocument/2006/relationships/slide" Target="slide2.xml"/><Relationship Id="rId7" Type="http://schemas.openxmlformats.org/officeDocument/2006/relationships/slide" Target="slide17.xml"/><Relationship Id="rId8" Type="http://schemas.openxmlformats.org/officeDocument/2006/relationships/image" Target="../media/image54.png"/><Relationship Id="rId9" Type="http://schemas.openxmlformats.org/officeDocument/2006/relationships/image" Target="../media/image71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slide" Target="slide4.xml"/><Relationship Id="rId4" Type="http://schemas.openxmlformats.org/officeDocument/2006/relationships/slide" Target="slide10.xml"/><Relationship Id="rId5" Type="http://schemas.openxmlformats.org/officeDocument/2006/relationships/slide" Target="slide16.xml"/><Relationship Id="rId6" Type="http://schemas.openxmlformats.org/officeDocument/2006/relationships/slide" Target="slide2.xml"/><Relationship Id="rId7" Type="http://schemas.openxmlformats.org/officeDocument/2006/relationships/slide" Target="slide1.xml"/><Relationship Id="rId8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Neon fon — 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58368"/>
            <a:ext cx="5394960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66F4DB"/>
                </a:solidFill>
                <a:latin typeface="Times New Roman"/>
              </a:rPr>
              <a:t>KOLLOID KIMYO  /  ILMIY TAQDIMOT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1115568"/>
            <a:ext cx="603504" cy="0"/>
          </a:xfrm>
          <a:prstGeom prst="line">
            <a:avLst/>
          </a:prstGeom>
          <a:ln w="29209">
            <a:solidFill>
              <a:srgbClr val="66F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3232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Times New Roman"/>
              </a:rPr>
              <a:t>SIRT HODISALARI
VA ADSORBSIYA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37560"/>
            <a:ext cx="5029200" cy="77724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E8F4FF"/>
                </a:solidFill>
                <a:latin typeface="Times New Roman"/>
              </a:rPr>
              <a:t>Sirt energiyasi, adsorbsiya qonuniyatlari va g‘ovakli materiallar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768096" y="4590288"/>
            <a:ext cx="3108960" cy="3108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sng">
                <a:solidFill>
                  <a:srgbClr val="66F4DB"/>
                </a:solidFill>
                <a:latin typeface="Times New Roman"/>
              </a:rPr>
              <a:t>TAQDIMOTNI BOSHLASH 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138928"/>
            <a:ext cx="4937760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r>
              <a:rPr sz="1050">
                <a:solidFill>
                  <a:srgbClr val="E8F4FF"/>
                </a:solidFill>
                <a:latin typeface="Times New Roman"/>
              </a:rPr>
              <a:t>Grafik animatsiyalarni Slaydshou rejimida ko‘ring.</a:t>
            </a:r>
          </a:p>
        </p:txBody>
      </p:sp>
      <p:pic>
        <p:nvPicPr>
          <p:cNvPr id="9" name="Picture 8" descr="Sirt-faol molekulalarning sirt qatlamidagi sxema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950976"/>
            <a:ext cx="4937760" cy="4937760"/>
          </a:xfrm>
          <a:prstGeom prst="rect">
            <a:avLst/>
          </a:prstGeom>
          <a:ln/>
        </p:spPr>
      </p:pic>
      <p:sp>
        <p:nvSpPr>
          <p:cNvPr id="10" name="TextBox 9"/>
          <p:cNvSpPr txBox="1"/>
          <p:nvPr/>
        </p:nvSpPr>
        <p:spPr>
          <a:xfrm>
            <a:off x="6565392" y="5961888"/>
            <a:ext cx="4937760" cy="2286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u="none">
                <a:solidFill>
                  <a:srgbClr val="E8F4FF"/>
                </a:solidFill>
                <a:latin typeface="Times New Roman"/>
              </a:rPr>
              <a:t>Sirt-faol molekulalarning sirt qatlamidagi sxemasi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4" name="Picture 33" descr="Neon fon — 0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01  /  MUNDARIJA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Mavzu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Bo‘lim nomini bosing — tegishli mavzuga o‘ting.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148840"/>
            <a:ext cx="10332720" cy="0"/>
          </a:xfrm>
          <a:prstGeom prst="line">
            <a:avLst/>
          </a:prstGeom>
          <a:ln w="20320">
            <a:solidFill>
              <a:srgbClr val="36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90956" y="2080260"/>
            <a:ext cx="137160" cy="137160"/>
          </a:xfrm>
          <a:prstGeom prst="ellipse">
            <a:avLst/>
          </a:prstGeom>
          <a:solidFill>
            <a:srgbClr val="39E9F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87168"/>
            <a:ext cx="1920240" cy="3108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39E9F4"/>
                </a:solidFill>
                <a:latin typeface="Times New Roman"/>
              </a:rPr>
              <a:t>01</a:t>
            </a:r>
          </a:p>
        </p:txBody>
      </p:sp>
      <p:sp>
        <p:nvSpPr>
          <p:cNvPr id="10" name="TextBox 9">
            <a:hlinkClick action="ppaction://hlinksldjump" r:id="rId3"/>
          </p:cNvPr>
          <p:cNvSpPr txBox="1"/>
          <p:nvPr/>
        </p:nvSpPr>
        <p:spPr>
          <a:xfrm>
            <a:off x="713232" y="2926080"/>
            <a:ext cx="1920240" cy="5943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u="sng">
                <a:solidFill>
                  <a:srgbClr val="F0F7FF"/>
                </a:solidFill>
                <a:latin typeface="Times New Roman"/>
              </a:rPr>
              <a:t>Sirt va energiya</a:t>
            </a:r>
          </a:p>
        </p:txBody>
      </p:sp>
      <p:sp>
        <p:nvSpPr>
          <p:cNvPr id="11" name="TextBox 10">
            <a:hlinkClick action="ppaction://hlinksldjump" r:id="rId3"/>
          </p:cNvPr>
          <p:cNvSpPr txBox="1"/>
          <p:nvPr/>
        </p:nvSpPr>
        <p:spPr>
          <a:xfrm>
            <a:off x="713232" y="3611880"/>
            <a:ext cx="1874519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 i="0" u="none">
                <a:solidFill>
                  <a:srgbClr val="E5F0FB"/>
                </a:solidFill>
                <a:latin typeface="Times New Roman"/>
              </a:rPr>
              <a:t>Interfeys, sirt tarangligi, namlanish</a:t>
            </a:r>
          </a:p>
        </p:txBody>
      </p:sp>
      <p:sp>
        <p:nvSpPr>
          <p:cNvPr id="12" name="Oval 11"/>
          <p:cNvSpPr/>
          <p:nvPr/>
        </p:nvSpPr>
        <p:spPr>
          <a:xfrm>
            <a:off x="3022092" y="2080260"/>
            <a:ext cx="137160" cy="137160"/>
          </a:xfrm>
          <a:prstGeom prst="ellipse">
            <a:avLst/>
          </a:prstGeom>
          <a:solidFill>
            <a:srgbClr val="39E9F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2487168"/>
            <a:ext cx="1920240" cy="3108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39E9F4"/>
                </a:solidFill>
                <a:latin typeface="Times New Roman"/>
              </a:rPr>
              <a:t>02</a:t>
            </a:r>
          </a:p>
        </p:txBody>
      </p:sp>
      <p:sp>
        <p:nvSpPr>
          <p:cNvPr id="14" name="TextBox 13">
            <a:hlinkClick action="ppaction://hlinksldjump" r:id="rId4"/>
          </p:cNvPr>
          <p:cNvSpPr txBox="1"/>
          <p:nvPr/>
        </p:nvSpPr>
        <p:spPr>
          <a:xfrm>
            <a:off x="2944368" y="2926080"/>
            <a:ext cx="1920240" cy="5943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u="sng">
                <a:solidFill>
                  <a:srgbClr val="F0F7FF"/>
                </a:solidFill>
                <a:latin typeface="Times New Roman"/>
              </a:rPr>
              <a:t>Egrilik va Gibbs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2944368" y="3611880"/>
            <a:ext cx="1874519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 i="0" u="none">
                <a:solidFill>
                  <a:srgbClr val="E5F0FB"/>
                </a:solidFill>
                <a:latin typeface="Times New Roman"/>
              </a:rPr>
              <a:t>Laplas, Kelvin, sirt ortiqchasi</a:t>
            </a:r>
          </a:p>
        </p:txBody>
      </p:sp>
      <p:sp>
        <p:nvSpPr>
          <p:cNvPr id="16" name="Oval 15"/>
          <p:cNvSpPr/>
          <p:nvPr/>
        </p:nvSpPr>
        <p:spPr>
          <a:xfrm>
            <a:off x="5253228" y="2080260"/>
            <a:ext cx="137160" cy="137160"/>
          </a:xfrm>
          <a:prstGeom prst="ellipse">
            <a:avLst/>
          </a:prstGeom>
          <a:solidFill>
            <a:srgbClr val="39E9F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2487168"/>
            <a:ext cx="1920240" cy="3108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39E9F4"/>
                </a:solidFill>
                <a:latin typeface="Times New Roman"/>
              </a:rPr>
              <a:t>03</a:t>
            </a:r>
          </a:p>
        </p:txBody>
      </p:sp>
      <p:sp>
        <p:nvSpPr>
          <p:cNvPr id="18" name="TextBox 17">
            <a:hlinkClick action="ppaction://hlinksldjump" r:id="rId5"/>
          </p:cNvPr>
          <p:cNvSpPr txBox="1"/>
          <p:nvPr/>
        </p:nvSpPr>
        <p:spPr>
          <a:xfrm>
            <a:off x="5175504" y="2926080"/>
            <a:ext cx="1920240" cy="5943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u="sng">
                <a:solidFill>
                  <a:srgbClr val="F0F7FF"/>
                </a:solidFill>
                <a:latin typeface="Times New Roman"/>
              </a:rPr>
              <a:t>Mexanizm va miqdor</a:t>
            </a:r>
          </a:p>
        </p:txBody>
      </p:sp>
      <p:sp>
        <p:nvSpPr>
          <p:cNvPr id="19" name="TextBox 18">
            <a:hlinkClick action="ppaction://hlinksldjump" r:id="rId5"/>
          </p:cNvPr>
          <p:cNvSpPr txBox="1"/>
          <p:nvPr/>
        </p:nvSpPr>
        <p:spPr>
          <a:xfrm>
            <a:off x="5175504" y="3611880"/>
            <a:ext cx="1874519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 i="0" u="none">
                <a:solidFill>
                  <a:srgbClr val="E5F0FB"/>
                </a:solidFill>
                <a:latin typeface="Times New Roman"/>
              </a:rPr>
              <a:t>Adsorbsiya, absorbsiya, tajriba</a:t>
            </a:r>
          </a:p>
        </p:txBody>
      </p:sp>
      <p:sp>
        <p:nvSpPr>
          <p:cNvPr id="20" name="Oval 19"/>
          <p:cNvSpPr/>
          <p:nvPr/>
        </p:nvSpPr>
        <p:spPr>
          <a:xfrm>
            <a:off x="7484364" y="2080260"/>
            <a:ext cx="137160" cy="137160"/>
          </a:xfrm>
          <a:prstGeom prst="ellipse">
            <a:avLst/>
          </a:prstGeom>
          <a:solidFill>
            <a:srgbClr val="39E9F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487168"/>
            <a:ext cx="1920240" cy="3108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39E9F4"/>
                </a:solidFill>
                <a:latin typeface="Times New Roman"/>
              </a:rPr>
              <a:t>04</a:t>
            </a:r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7406640" y="2926080"/>
            <a:ext cx="1920240" cy="5943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u="sng">
                <a:solidFill>
                  <a:srgbClr val="F0F7FF"/>
                </a:solidFill>
                <a:latin typeface="Times New Roman"/>
              </a:rPr>
              <a:t>Izotermalar</a:t>
            </a:r>
          </a:p>
        </p:txBody>
      </p:sp>
      <p:sp>
        <p:nvSpPr>
          <p:cNvPr id="23" name="TextBox 22">
            <a:hlinkClick action="ppaction://hlinksldjump" r:id="rId6"/>
          </p:cNvPr>
          <p:cNvSpPr txBox="1"/>
          <p:nvPr/>
        </p:nvSpPr>
        <p:spPr>
          <a:xfrm>
            <a:off x="7406640" y="3611880"/>
            <a:ext cx="1874519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 i="0" u="none">
                <a:solidFill>
                  <a:srgbClr val="E5F0FB"/>
                </a:solidFill>
                <a:latin typeface="Times New Roman"/>
              </a:rPr>
              <a:t>Langmuir, Freundlich, BET</a:t>
            </a:r>
          </a:p>
        </p:txBody>
      </p:sp>
      <p:sp>
        <p:nvSpPr>
          <p:cNvPr id="24" name="Oval 23"/>
          <p:cNvSpPr/>
          <p:nvPr/>
        </p:nvSpPr>
        <p:spPr>
          <a:xfrm>
            <a:off x="9715500" y="2080260"/>
            <a:ext cx="137160" cy="137160"/>
          </a:xfrm>
          <a:prstGeom prst="ellipse">
            <a:avLst/>
          </a:prstGeom>
          <a:solidFill>
            <a:srgbClr val="39E9F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2487168"/>
            <a:ext cx="1920240" cy="3108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39E9F4"/>
                </a:solidFill>
                <a:latin typeface="Times New Roman"/>
              </a:rPr>
              <a:t>05</a:t>
            </a:r>
          </a:p>
        </p:txBody>
      </p:sp>
      <p:sp>
        <p:nvSpPr>
          <p:cNvPr id="26" name="TextBox 25">
            <a:hlinkClick action="ppaction://hlinksldjump" r:id="rId7"/>
          </p:cNvPr>
          <p:cNvSpPr txBox="1"/>
          <p:nvPr/>
        </p:nvSpPr>
        <p:spPr>
          <a:xfrm>
            <a:off x="9637776" y="2926080"/>
            <a:ext cx="1920240" cy="5943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u="sng">
                <a:solidFill>
                  <a:srgbClr val="F0F7FF"/>
                </a:solidFill>
                <a:latin typeface="Times New Roman"/>
              </a:rPr>
              <a:t>G‘ovak va qo‘llanish</a:t>
            </a:r>
          </a:p>
        </p:txBody>
      </p:sp>
      <p:sp>
        <p:nvSpPr>
          <p:cNvPr id="27" name="TextBox 26">
            <a:hlinkClick action="ppaction://hlinksldjump" r:id="rId7"/>
          </p:cNvPr>
          <p:cNvSpPr txBox="1"/>
          <p:nvPr/>
        </p:nvSpPr>
        <p:spPr>
          <a:xfrm>
            <a:off x="9637776" y="3611880"/>
            <a:ext cx="1874519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 i="0" u="none">
                <a:solidFill>
                  <a:srgbClr val="E5F0FB"/>
                </a:solidFill>
                <a:latin typeface="Times New Roman"/>
              </a:rPr>
              <a:t>Sirt kimyosi, tajriba, amaliyot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138928"/>
            <a:ext cx="10698480" cy="6217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E5F0FB"/>
                </a:solidFill>
                <a:latin typeface="Times New Roman"/>
              </a:rPr>
              <a:t>Maqsad: sirt xossalarini termodinamik kattaliklar bilan bog‘lash, adsorbsiya modellarini farqlash va o‘lchov natijasini ehtiyotkor talqin qilish.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hlinkClick action="ppaction://hlinksldjump" r:id="rId8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31" name="TextBox 30">
            <a:hlinkClick action="ppaction://hlinksldjump" r:id="rId9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32" name="TextBox 31">
            <a:hlinkClick action="ppaction://hlinksldjump" r:id="rId3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Picture 44" descr="Neon fon — 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02  /  ASOSLAR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Sirt — ikki faza tutashadigan faol qatlam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Sirt qatlamida molekulalar atrofidagi o‘zaro ta’sirlar hajmdagidan farq qiladi.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2148840" cy="3108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7EA9FF"/>
                </a:solidFill>
                <a:latin typeface="Times New Roman"/>
              </a:rPr>
              <a:t>HAJMDA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4992" y="2048256"/>
            <a:ext cx="2240280" cy="3108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39E9F4"/>
                </a:solidFill>
                <a:latin typeface="Times New Roman"/>
              </a:rPr>
              <a:t>FAZALARARO SIRT</a:t>
            </a:r>
          </a:p>
        </p:txBody>
      </p:sp>
      <p:sp>
        <p:nvSpPr>
          <p:cNvPr id="14" name="Oval 13"/>
          <p:cNvSpPr/>
          <p:nvPr/>
        </p:nvSpPr>
        <p:spPr>
          <a:xfrm>
            <a:off x="1801368" y="3108960"/>
            <a:ext cx="274320" cy="274320"/>
          </a:xfrm>
          <a:prstGeom prst="ellipse">
            <a:avLst/>
          </a:prstGeom>
          <a:noFill/>
          <a:ln w="15240">
            <a:solidFill>
              <a:srgbClr val="7E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2148840" cy="603504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20" b="0" i="0" u="none">
                <a:solidFill>
                  <a:srgbClr val="E5F0FB"/>
                </a:solidFill>
                <a:latin typeface="Times New Roman"/>
              </a:rPr>
              <a:t>Qo‘shni ta’sirlar
deyarli teng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5705856"/>
            <a:ext cx="1188720" cy="25603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39E9F4"/>
                </a:solidFill>
                <a:latin typeface="Times New Roman"/>
              </a:rPr>
              <a:t>ΣF ≈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3410712"/>
            <a:ext cx="594360" cy="2286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40" b="0" i="0" u="none">
                <a:solidFill>
                  <a:srgbClr val="AABDD0"/>
                </a:solidFill>
                <a:latin typeface="Times New Roman"/>
              </a:rPr>
              <a:t>havo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5266944"/>
            <a:ext cx="786384" cy="2286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40" b="0" i="0" u="none">
                <a:solidFill>
                  <a:srgbClr val="AABDD0"/>
                </a:solidFill>
                <a:latin typeface="Times New Roman"/>
              </a:rPr>
              <a:t>suyuqlik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5632704"/>
            <a:ext cx="2249424" cy="41148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0" b="0" i="0" u="none">
                <a:solidFill>
                  <a:srgbClr val="E5F0FB"/>
                </a:solidFill>
                <a:latin typeface="Times New Roman"/>
              </a:rPr>
              <a:t>Natijaviy kuch suyuqlik ichiga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212848"/>
            <a:ext cx="4754880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39E9F4"/>
                </a:solidFill>
                <a:latin typeface="Times New Roman"/>
              </a:rPr>
              <a:t>NIMA O‘ZGARADI?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679192"/>
            <a:ext cx="4846320" cy="8229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E5F0FB"/>
                </a:solidFill>
                <a:latin typeface="Times New Roman"/>
              </a:rPr>
              <a:t>Hajmdagi molekula har tomondan o‘xshash qo‘shnilarga ega. Sirt molekulasining esa fazalararo muhitdagi qo‘shnilari kamroq.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730752"/>
            <a:ext cx="4754880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39E9F4"/>
                </a:solidFill>
                <a:latin typeface="Times New Roman"/>
              </a:rPr>
              <a:t>NATIJA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187952"/>
            <a:ext cx="4846320" cy="109728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E5F0FB"/>
                </a:solidFill>
                <a:latin typeface="Times New Roman"/>
              </a:rPr>
              <a:t>Sirtni kengaytirish uchun erkin energiya sarflanadi. Shu sabab sirt hodisalari termodinamika, namlanish va adsorbsiya bilan chambarchas bog‘liq.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hlinkClick action="ppaction://hlinksldjump" r:id="rId3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42" name="TextBox 41">
            <a:hlinkClick action="ppaction://hlinksldjump" r:id="rId3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43" name="TextBox 42">
            <a:hlinkClick action="ppaction://hlinksldjump" r:id="rId4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03 / 17</a:t>
            </a:r>
          </a:p>
        </p:txBody>
      </p:sp>
      <p:pic>
        <p:nvPicPr>
          <p:cNvPr id="46" name="Picture 45" descr="Avtomatik neon animatsiya: hajmda kuchlar muvozanati va sirtda ichkariga yo‘nalgan natijaviy kuc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127248"/>
            <a:ext cx="498348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Neon fon — 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03  /  TERMODINAMIKA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Yangi sirt hosil qilish erkin energiya talab qiladi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Muvozanatda, harorat, bosim va tarkib o‘zgarmas bo‘lganda sirt ishini sirt tarangligi belgilaydi.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75104"/>
            <a:ext cx="4754880" cy="32004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SIRT ERKIN ENERGIYASINING DIFFERENSIALI</a:t>
            </a:r>
          </a:p>
        </p:txBody>
      </p:sp>
      <p:pic>
        <p:nvPicPr>
          <p:cNvPr id="8" name="Picture 7" descr="Termodinamik differensi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432304"/>
            <a:ext cx="5806440" cy="713232"/>
          </a:xfrm>
          <a:prstGeom prst="rect">
            <a:avLst/>
          </a:prstGeom>
          <a:ln/>
        </p:spPr>
      </p:pic>
      <p:sp>
        <p:nvSpPr>
          <p:cNvPr id="9" name="TextBox 8"/>
          <p:cNvSpPr txBox="1"/>
          <p:nvPr/>
        </p:nvSpPr>
        <p:spPr>
          <a:xfrm>
            <a:off x="822960" y="3447288"/>
            <a:ext cx="5212080" cy="30175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O‘ZGARMAS T, P VA TARKIBDA</a:t>
            </a:r>
          </a:p>
        </p:txBody>
      </p:sp>
      <p:pic>
        <p:nvPicPr>
          <p:cNvPr id="10" name="Picture 9" descr="Sirt tarangligining termodinamik ta’rif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840480"/>
            <a:ext cx="4663440" cy="658368"/>
          </a:xfrm>
          <a:prstGeom prst="rect">
            <a:avLst/>
          </a:prstGeom>
          <a:ln/>
        </p:spPr>
      </p:pic>
      <p:sp>
        <p:nvSpPr>
          <p:cNvPr id="11" name="TextBox 10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39E9F4"/>
                </a:solidFill>
                <a:latin typeface="Times New Roman"/>
              </a:rPr>
              <a:t>FIZIK MA’NOSI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617720" cy="10241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 u="none">
                <a:solidFill>
                  <a:srgbClr val="E5F0FB"/>
                </a:solidFill>
                <a:latin typeface="Times New Roman"/>
              </a:rPr>
              <a:t>Birlik sirt maydonini qaytar tarzda hosil qilish uchun kerak bo‘ladigan energiya.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0" y="3730752"/>
            <a:ext cx="4663440" cy="0"/>
          </a:xfrm>
          <a:prstGeom prst="line">
            <a:avLst/>
          </a:prstGeom>
          <a:ln w="1270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0" y="3977639"/>
            <a:ext cx="4663440" cy="32004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39E9F4"/>
                </a:solidFill>
                <a:latin typeface="Times New Roman"/>
              </a:rPr>
              <a:t>O‘LCHOV BIRLIKLARI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407408"/>
            <a:ext cx="4663440" cy="5669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Suyuqlik–gaz chegarasida N/m. Son jihatdan J/m² ga teng.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hlinkClick action="ppaction://hlinksldjump" r:id="rId5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25" name="TextBox 24">
            <a:hlinkClick action="ppaction://hlinksldjump" r:id="rId7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04 / 17</a:t>
            </a:r>
          </a:p>
        </p:txBody>
      </p:sp>
      <p:pic>
        <p:nvPicPr>
          <p:cNvPr id="28" name="Picture 27" descr="Avtomatik neon grafik: ΔG ning ΔA ga bog‘liqligi; chiziq nishabi gamma bilan bog‘liq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5084064"/>
            <a:ext cx="4480560" cy="10789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3" name="Picture 32" descr="Neon fon — 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04  /  OMILLAR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Sirt tarangligi va namlanish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Suyuqlikning sirt tarangligi bilan qattiq jismning namlanishi bog‘liq, ammo ular bir xil kattalik emas.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71800" cy="329184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39E9F4"/>
                </a:solidFill>
                <a:latin typeface="Times New Roman"/>
              </a:rPr>
              <a:t>HARORAT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487168"/>
            <a:ext cx="640079" cy="0"/>
          </a:xfrm>
          <a:prstGeom prst="line">
            <a:avLst/>
          </a:prstGeom>
          <a:ln w="2286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2724912"/>
            <a:ext cx="2971800" cy="10241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Ko‘p suyuqliklarda harorat oshishi bilan sirt tarangligi kamayadi; kritik nuqtada u nolga intiladi.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57400"/>
            <a:ext cx="2971800" cy="329184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39E9F4"/>
                </a:solidFill>
                <a:latin typeface="Times New Roman"/>
              </a:rPr>
              <a:t>SIRT-FAOL MODDA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26280" y="2487168"/>
            <a:ext cx="640080" cy="0"/>
          </a:xfrm>
          <a:prstGeom prst="line">
            <a:avLst/>
          </a:prstGeom>
          <a:ln w="2286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26280" y="2724912"/>
            <a:ext cx="2971800" cy="10241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Sirt-faol modda interfeysda to‘planib, ko‘pincha sirt tarangligini pasaytiradi.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057400"/>
            <a:ext cx="2971800" cy="329184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39E9F4"/>
                </a:solidFill>
                <a:latin typeface="Times New Roman"/>
              </a:rPr>
              <a:t>NAMLANISH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75320" y="2487168"/>
            <a:ext cx="640080" cy="0"/>
          </a:xfrm>
          <a:prstGeom prst="line">
            <a:avLst/>
          </a:prstGeom>
          <a:ln w="2286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75320" y="2724912"/>
            <a:ext cx="2971800" cy="10241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Kontakt burchagi qattiq jism, suyuqlik va gaz orasidagi muvozanatni ifodalaydi.</a:t>
            </a:r>
          </a:p>
        </p:txBody>
      </p:sp>
      <p:pic>
        <p:nvPicPr>
          <p:cNvPr id="16" name="Picture 15" descr="Yung tenglama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160520"/>
            <a:ext cx="4937760" cy="594360"/>
          </a:xfrm>
          <a:prstGeom prst="rect">
            <a:avLst/>
          </a:prstGeom>
          <a:ln/>
        </p:spPr>
      </p:pic>
      <p:sp>
        <p:nvSpPr>
          <p:cNvPr id="17" name="TextBox 16"/>
          <p:cNvSpPr txBox="1"/>
          <p:nvPr/>
        </p:nvSpPr>
        <p:spPr>
          <a:xfrm>
            <a:off x="3429000" y="4828032"/>
            <a:ext cx="5257800" cy="237744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AABDD0"/>
                </a:solidFill>
                <a:latin typeface="Times New Roman"/>
              </a:rPr>
              <a:t>Yung tenglamasi  •  muvozanatdagi 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480560"/>
            <a:ext cx="2971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E5F0FB"/>
                </a:solidFill>
                <a:latin typeface="Times New Roman"/>
              </a:rPr>
              <a:t>θ — suyuqlik ichidagi kontakt burchagi.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hlinkClick action="ppaction://hlinksldjump" r:id="rId4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30" name="TextBox 29">
            <a:hlinkClick action="ppaction://hlinksldjump" r:id="rId5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31" name="TextBox 30">
            <a:hlinkClick action="ppaction://hlinksldjump" r:id="rId6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05 / 17</a:t>
            </a:r>
          </a:p>
        </p:txBody>
      </p:sp>
      <p:pic>
        <p:nvPicPr>
          <p:cNvPr id="34" name="Picture 33" descr="Avtomatik neon animatsiya: sirt-faol molekulalarning yo‘nalish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486400"/>
            <a:ext cx="2834640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Picture 21" descr="Neon fon — 0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05  /  EGRI SIRTLAR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Egrilik: bosim va bug‘ muvozanati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Laplas munosabati suyuqlik bosimini, Kelvin munosabati esa egri sirt ustidagi bug‘ bosimini ifodalaydi.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78808"/>
            <a:ext cx="4709160" cy="2286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u="none">
                <a:solidFill>
                  <a:srgbClr val="AABDD0"/>
                </a:solidFill>
                <a:latin typeface="Times New Roman"/>
              </a:rPr>
              <a:t>Tomchi va kapillyar menisk: sxematik ko‘rinish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370832"/>
            <a:ext cx="4526280" cy="29260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QAVARIQ / BOTIQ SIRT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736592"/>
            <a:ext cx="4526280" cy="77724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Egrilikning ishorasi ichki bosim va muvozanatdagi bug‘ bosimining o‘zgarish yo‘nalishini belgilaydi.</a:t>
            </a:r>
          </a:p>
        </p:txBody>
      </p:sp>
      <p:pic>
        <p:nvPicPr>
          <p:cNvPr id="11" name="Picture 10" descr="Laplas bosim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057400"/>
            <a:ext cx="5349240" cy="621792"/>
          </a:xfrm>
          <a:prstGeom prst="rect">
            <a:avLst/>
          </a:prstGeom>
          <a:ln/>
        </p:spPr>
      </p:pic>
      <p:sp>
        <p:nvSpPr>
          <p:cNvPr id="12" name="TextBox 11"/>
          <p:cNvSpPr txBox="1"/>
          <p:nvPr/>
        </p:nvSpPr>
        <p:spPr>
          <a:xfrm>
            <a:off x="5925312" y="2743200"/>
            <a:ext cx="5212080" cy="25603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LAPLAS BOSIMI</a:t>
            </a:r>
          </a:p>
        </p:txBody>
      </p:sp>
      <p:pic>
        <p:nvPicPr>
          <p:cNvPr id="13" name="Picture 12" descr="Kelvin tenglamas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218688"/>
            <a:ext cx="5349240" cy="685800"/>
          </a:xfrm>
          <a:prstGeom prst="rect">
            <a:avLst/>
          </a:prstGeom>
          <a:ln/>
        </p:spPr>
      </p:pic>
      <p:sp>
        <p:nvSpPr>
          <p:cNvPr id="14" name="TextBox 13"/>
          <p:cNvSpPr txBox="1"/>
          <p:nvPr/>
        </p:nvSpPr>
        <p:spPr>
          <a:xfrm>
            <a:off x="5925312" y="3986784"/>
            <a:ext cx="5212080" cy="25603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KELVIN MUNOSABATI</a:t>
            </a:r>
          </a:p>
        </p:txBody>
      </p:sp>
      <p:pic>
        <p:nvPicPr>
          <p:cNvPr id="15" name="Picture 14" descr="Silindrsimon namlanuvchi g‘ovak uchun Kelvin tenglamas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4370832"/>
            <a:ext cx="5349240" cy="694944"/>
          </a:xfrm>
          <a:prstGeom prst="rect">
            <a:avLst/>
          </a:prstGeom>
          <a:ln/>
        </p:spPr>
      </p:pic>
      <p:sp>
        <p:nvSpPr>
          <p:cNvPr id="16" name="TextBox 15"/>
          <p:cNvSpPr txBox="1"/>
          <p:nvPr/>
        </p:nvSpPr>
        <p:spPr>
          <a:xfrm>
            <a:off x="5925312" y="5166360"/>
            <a:ext cx="5212080" cy="6217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AABDD0"/>
                </a:solidFill>
                <a:latin typeface="Times New Roman"/>
              </a:rPr>
              <a:t>Ideal silindrsimon g‘ovak modeli; haqiqiy g‘ovak tarmoqlarida gisterezis kuzatilishi mumkin.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19" name="TextBox 18">
            <a:hlinkClick action="ppaction://hlinksldjump" r:id="rId8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20" name="TextBox 19">
            <a:hlinkClick action="ppaction://hlinksldjump" r:id="rId9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06 / 17</a:t>
            </a:r>
          </a:p>
        </p:txBody>
      </p:sp>
      <p:pic>
        <p:nvPicPr>
          <p:cNvPr id="23" name="Picture 22" descr="Avtomatik neon animatsiya: qavariq tomchi va botiq g‘ovak meniski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2103120"/>
            <a:ext cx="4709160" cy="20025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2" name="Picture 31" descr="Neon fon — 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06  /  GIBBS ADSORBSIYASI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Gibbs tenglamasi sirtga boyishni miqdoriy ifodalaydi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Gibbs ortiqchasi tanlangan ajratuvchi sirtga nisbatan aniqlanadi; uni mutlaq molekulalar soni bilan tenglashtirmang.</a:t>
            </a:r>
          </a:p>
        </p:txBody>
      </p:sp>
      <p:pic>
        <p:nvPicPr>
          <p:cNvPr id="7" name="Picture 6" descr="Gibbs adsorbsiya tenglama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5623560" cy="749808"/>
          </a:xfrm>
          <a:prstGeom prst="rect">
            <a:avLst/>
          </a:prstGeom>
          <a:ln/>
        </p:spPr>
      </p:pic>
      <p:sp>
        <p:nvSpPr>
          <p:cNvPr id="8" name="TextBox 7"/>
          <p:cNvSpPr txBox="1"/>
          <p:nvPr/>
        </p:nvSpPr>
        <p:spPr>
          <a:xfrm>
            <a:off x="841248" y="2944368"/>
            <a:ext cx="5394960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 i="0" u="none">
                <a:solidFill>
                  <a:srgbClr val="39E9F4"/>
                </a:solidFill>
                <a:latin typeface="Times New Roman"/>
              </a:rPr>
              <a:t>IKKI KOMPONENTLI ERITMADA; IONLARGA AJRALMAYDIGAN MODDA UCHUN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56432"/>
            <a:ext cx="5303520" cy="5669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E5F0FB"/>
                </a:solidFill>
                <a:latin typeface="Times New Roman"/>
              </a:rPr>
              <a:t>Γ₂ &gt; 0 bo‘lsa, komponent sirt qatlamida ortiqcha to‘plangan.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24528"/>
            <a:ext cx="5303520" cy="7680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30" b="0" i="0" u="none">
                <a:solidFill>
                  <a:srgbClr val="E5F0FB"/>
                </a:solidFill>
                <a:latin typeface="Times New Roman"/>
              </a:rPr>
              <a:t>Sirt-faol modda ko‘payishi ko‘pincha γ ni kamaytiradi. Suyultirilgan eritmada faollikni konsentratsiya bilan yaqinlashtirish mumkin.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257800"/>
            <a:ext cx="4572000" cy="53035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AABDD0"/>
                </a:solidFill>
                <a:latin typeface="Times New Roman"/>
              </a:rPr>
              <a:t>Ajratuvchi sirt — hisoblash uchun qulay termodinamik chegara.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hlinkClick action="ppaction://hlinksldjump" r:id="rId4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29" name="TextBox 28">
            <a:hlinkClick action="ppaction://hlinksldjump" r:id="rId5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30" name="TextBox 29">
            <a:hlinkClick action="ppaction://hlinksldjump" r:id="rId6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07 / 17</a:t>
            </a:r>
          </a:p>
        </p:txBody>
      </p:sp>
      <p:pic>
        <p:nvPicPr>
          <p:cNvPr id="33" name="Picture 32" descr="Avtomatik neon animatsiya: zarrachalarning fazalar chegarasida to‘planish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246120"/>
            <a:ext cx="457200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6" name="Picture 45" descr="Neon fon — 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07  /  MEXANIZMLAR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Sorbsiya jarayonlarini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Jarayon mexanizmini faqat egri chiziq shakliga qarab aniqlab bo‘lmaydi.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926080" cy="329184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39E9F4"/>
                </a:solidFill>
                <a:latin typeface="Times New Roma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3063240" cy="3108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7EA9FF"/>
                </a:solidFill>
                <a:latin typeface="Times New Roman"/>
              </a:rPr>
              <a:t>ADSORBSIYA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871216"/>
            <a:ext cx="621792" cy="0"/>
          </a:xfrm>
          <a:prstGeom prst="line">
            <a:avLst/>
          </a:prstGeom>
          <a:ln w="2159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136392"/>
            <a:ext cx="3090672" cy="13716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Modda fazalar chegarasida to‘planadi. Fizikaviy yoki kimyoviy bog‘lanish ustun bo‘lishi mumkin.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11680"/>
            <a:ext cx="2926080" cy="329184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39E9F4"/>
                </a:solidFill>
                <a:latin typeface="Times New Roman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05456"/>
            <a:ext cx="3063240" cy="3108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7EA9FF"/>
                </a:solidFill>
                <a:latin typeface="Times New Roman"/>
              </a:rPr>
              <a:t>ABSORBSIYA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871216"/>
            <a:ext cx="621792" cy="0"/>
          </a:xfrm>
          <a:prstGeom prst="line">
            <a:avLst/>
          </a:prstGeom>
          <a:ln w="2159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26280" y="3136392"/>
            <a:ext cx="3090672" cy="13716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Modda boshqa fazaning ichiga kirib, hajm bo‘ylab tarqaladi.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2926080" cy="329184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39E9F4"/>
                </a:solidFill>
                <a:latin typeface="Times New Roman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505456"/>
            <a:ext cx="3063240" cy="3108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7EA9FF"/>
                </a:solidFill>
                <a:latin typeface="Times New Roman"/>
              </a:rPr>
              <a:t>KAPILLYAR KONDENSATSIYA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2871216"/>
            <a:ext cx="621792" cy="0"/>
          </a:xfrm>
          <a:prstGeom prst="line">
            <a:avLst/>
          </a:prstGeom>
          <a:ln w="2159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75320" y="3136392"/>
            <a:ext cx="3090672" cy="13716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Bug‘ g‘ovak ichida suyuqlikka aylanib, bo‘shliqni to‘ldiradi.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493008" y="1993392"/>
            <a:ext cx="0" cy="3995928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251192" y="1993392"/>
            <a:ext cx="0" cy="3995928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hlinkClick action="ppaction://hlinksldjump" r:id="rId3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43" name="TextBox 42">
            <a:hlinkClick action="ppaction://hlinksldjump" r:id="rId4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44" name="TextBox 43">
            <a:hlinkClick action="ppaction://hlinksldjump" r:id="rId5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08 / 17</a:t>
            </a:r>
          </a:p>
        </p:txBody>
      </p:sp>
      <p:pic>
        <p:nvPicPr>
          <p:cNvPr id="47" name="Picture 46" descr="Adsorbsiya: zarrachalar fazalar chegarasida to‘planad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773168"/>
            <a:ext cx="2514600" cy="1143000"/>
          </a:xfrm>
          <a:prstGeom prst="rect">
            <a:avLst/>
          </a:prstGeom>
        </p:spPr>
      </p:pic>
      <p:pic>
        <p:nvPicPr>
          <p:cNvPr id="48" name="Picture 47" descr="Absorbsiya: zarrachalar faza hajmiga tarqalad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4773168"/>
            <a:ext cx="2468880" cy="1143000"/>
          </a:xfrm>
          <a:prstGeom prst="rect">
            <a:avLst/>
          </a:prstGeom>
        </p:spPr>
      </p:pic>
      <p:pic>
        <p:nvPicPr>
          <p:cNvPr id="49" name="Picture 48" descr="Kapillyar kondensatsiya: g‘ovak ichida suyuq faza paydo bo‘ladi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4773168"/>
            <a:ext cx="233172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8" name="Picture 27" descr="Neon fon — 0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08  /  MIQDORIY TAHLIL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Adsorbsiya miqdori: massa balansi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Muvozanat sharti va birliklarni har bir o‘lchovda aniq ko‘rsating.</a:t>
            </a:r>
          </a:p>
        </p:txBody>
      </p:sp>
      <p:pic>
        <p:nvPicPr>
          <p:cNvPr id="7" name="Picture 6" descr="Massa balansidan hisoblangan adsorbsiya sig‘im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5486400" cy="731520"/>
          </a:xfrm>
          <a:prstGeom prst="rect">
            <a:avLst/>
          </a:prstGeom>
          <a:ln/>
        </p:spPr>
      </p:pic>
      <p:sp>
        <p:nvSpPr>
          <p:cNvPr id="8" name="TextBox 7"/>
          <p:cNvSpPr txBox="1"/>
          <p:nvPr/>
        </p:nvSpPr>
        <p:spPr>
          <a:xfrm>
            <a:off x="868680" y="3063240"/>
            <a:ext cx="5257800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BELGILAR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47288"/>
            <a:ext cx="5303520" cy="12984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C₀ — boshlang‘ich konsentratsiya; Cₑ — muvozanatdagi konsentratsiya; V — eritma hajmi; m — adsorbent massasi.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10912"/>
            <a:ext cx="5349240" cy="64008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AABDD0"/>
                </a:solidFill>
                <a:latin typeface="Times New Roman"/>
              </a:rPr>
              <a:t>Nazorat namunasi, takrorlar va hajm o‘zgarishini hisobga oling.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67712"/>
            <a:ext cx="4389120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ERITMA  →  MUVOZANAT  →  O‘LCHOV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4169663"/>
            <a:ext cx="1243584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F0F7FF"/>
                </a:solidFill>
                <a:latin typeface="Times New Roman"/>
              </a:rPr>
              <a:t>C₀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4169663"/>
            <a:ext cx="1243584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60" b="1" i="0" u="none">
                <a:solidFill>
                  <a:srgbClr val="F0F7FF"/>
                </a:solidFill>
                <a:latin typeface="Times New Roman"/>
              </a:rPr>
              <a:t>Adsorbent
+ eritma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2368" y="4169663"/>
            <a:ext cx="1243584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F0F7FF"/>
                </a:solidFill>
                <a:latin typeface="Times New Roman"/>
              </a:rPr>
              <a:t>Cₑ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029200"/>
            <a:ext cx="4663440" cy="54864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Muvozanatga yetganini vaqt bo‘yicha barqarorlik bilan tekshiring.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action="ppaction://hlinksldjump" r:id="rId4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25" name="TextBox 24">
            <a:hlinkClick action="ppaction://hlinksldjump" r:id="rId5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09 / 17</a:t>
            </a:r>
          </a:p>
        </p:txBody>
      </p:sp>
      <p:pic>
        <p:nvPicPr>
          <p:cNvPr id="29" name="Picture 28" descr="Avtomatik neon animatsiya: massa balansi va qoldiq Ce konsentratsiyas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218688"/>
            <a:ext cx="4617720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8" name="Picture 47" descr="Neon fon — 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09  /  IZOTERMALAR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Izoterma modeli sirt haqidagi farazlarni aks ettiradi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Harorat doimiy bo‘lganda adsorblangan miqdorning konsentratsiya yoki nisbiy bosimga bog‘liqligi izoterma deyiladi.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39E9F4"/>
                </a:solidFill>
                <a:latin typeface="Times New Roman"/>
              </a:rPr>
              <a:t>LANGMUIR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395728"/>
            <a:ext cx="594360" cy="0"/>
          </a:xfrm>
          <a:prstGeom prst="line">
            <a:avLst/>
          </a:prstGeom>
          <a:ln w="2159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LANGMUIR izoterma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33472"/>
            <a:ext cx="2944368" cy="548640"/>
          </a:xfrm>
          <a:prstGeom prst="rect">
            <a:avLst/>
          </a:prstGeom>
          <a:ln/>
        </p:spPr>
      </p:pic>
      <p:sp>
        <p:nvSpPr>
          <p:cNvPr id="10" name="TextBox 9"/>
          <p:cNvSpPr txBox="1"/>
          <p:nvPr/>
        </p:nvSpPr>
        <p:spPr>
          <a:xfrm>
            <a:off x="777240" y="3328416"/>
            <a:ext cx="2880360" cy="8412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20" b="0" i="0" u="none">
                <a:solidFill>
                  <a:srgbClr val="E5F0FB"/>
                </a:solidFill>
                <a:latin typeface="Times New Roman"/>
              </a:rPr>
              <a:t>Chekli markazlar; bir qatlam.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39E9F4"/>
                </a:solidFill>
                <a:latin typeface="Times New Roman"/>
              </a:rPr>
              <a:t>FREUNDLICH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26280" y="2395728"/>
            <a:ext cx="594360" cy="0"/>
          </a:xfrm>
          <a:prstGeom prst="line">
            <a:avLst/>
          </a:prstGeom>
          <a:ln w="2159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FREUNDLICH izotermas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633472"/>
            <a:ext cx="2944368" cy="548640"/>
          </a:xfrm>
          <a:prstGeom prst="rect">
            <a:avLst/>
          </a:prstGeom>
          <a:ln/>
        </p:spPr>
      </p:pic>
      <p:sp>
        <p:nvSpPr>
          <p:cNvPr id="14" name="TextBox 13"/>
          <p:cNvSpPr txBox="1"/>
          <p:nvPr/>
        </p:nvSpPr>
        <p:spPr>
          <a:xfrm>
            <a:off x="4526280" y="3328416"/>
            <a:ext cx="2880360" cy="8412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20" b="0" i="0" u="none">
                <a:solidFill>
                  <a:srgbClr val="E5F0FB"/>
                </a:solidFill>
                <a:latin typeface="Times New Roman"/>
              </a:rPr>
              <a:t>Notekis sirt uchun empirik yaqinlashuv.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39E9F4"/>
                </a:solidFill>
                <a:latin typeface="Times New Roman"/>
              </a:rPr>
              <a:t>BET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75320" y="2395728"/>
            <a:ext cx="594360" cy="0"/>
          </a:xfrm>
          <a:prstGeom prst="line">
            <a:avLst/>
          </a:prstGeom>
          <a:ln w="2159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BET izotermas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633472"/>
            <a:ext cx="2944368" cy="548640"/>
          </a:xfrm>
          <a:prstGeom prst="rect">
            <a:avLst/>
          </a:prstGeom>
          <a:ln/>
        </p:spPr>
      </p:pic>
      <p:sp>
        <p:nvSpPr>
          <p:cNvPr id="18" name="TextBox 17"/>
          <p:cNvSpPr txBox="1"/>
          <p:nvPr/>
        </p:nvSpPr>
        <p:spPr>
          <a:xfrm>
            <a:off x="8275320" y="3328416"/>
            <a:ext cx="2880360" cy="8412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20" b="0" i="0" u="none">
                <a:solidFill>
                  <a:srgbClr val="E5F0FB"/>
                </a:solidFill>
                <a:latin typeface="Times New Roman"/>
              </a:rPr>
              <a:t>Ko‘p qatlamli gaz adsorbsiyasi.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0520" y="1947672"/>
            <a:ext cx="0" cy="2304288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09560" y="1947672"/>
            <a:ext cx="0" cy="2304288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74720" y="4315968"/>
            <a:ext cx="256032" cy="0"/>
          </a:xfrm>
          <a:prstGeom prst="line">
            <a:avLst/>
          </a:prstGeom>
          <a:ln w="22860">
            <a:solidFill>
              <a:srgbClr val="7E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03904" y="4206240"/>
            <a:ext cx="1325880" cy="21945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 i="0" u="none">
                <a:solidFill>
                  <a:srgbClr val="AABDD0"/>
                </a:solidFill>
                <a:latin typeface="Times New Roman"/>
              </a:rPr>
              <a:t>Langmuir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15000" y="4315968"/>
            <a:ext cx="256032" cy="0"/>
          </a:xfrm>
          <a:prstGeom prst="line">
            <a:avLst/>
          </a:prstGeom>
          <a:ln w="2286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44184" y="4206240"/>
            <a:ext cx="1600200" cy="21945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 i="0" u="none">
                <a:solidFill>
                  <a:srgbClr val="AABDD0"/>
                </a:solidFill>
                <a:latin typeface="Times New Roman"/>
              </a:rPr>
              <a:t>Freundlich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75320" y="4315968"/>
            <a:ext cx="256032" cy="0"/>
          </a:xfrm>
          <a:prstGeom prst="line">
            <a:avLst/>
          </a:prstGeom>
          <a:ln w="22860">
            <a:solidFill>
              <a:srgbClr val="FFC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04504" y="4206240"/>
            <a:ext cx="640080" cy="21945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 i="0" u="none">
                <a:solidFill>
                  <a:srgbClr val="AABDD0"/>
                </a:solidFill>
                <a:latin typeface="Times New Roman"/>
              </a:rPr>
              <a:t>BET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870448"/>
            <a:ext cx="10149840" cy="18288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i="1" u="none">
                <a:solidFill>
                  <a:srgbClr val="AABDD0"/>
                </a:solidFill>
                <a:latin typeface="Times New Roman"/>
              </a:rPr>
              <a:t>Sxematik egri chiziqlar — o‘lchov natijalari emas.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hlinkClick action="ppaction://hlinksldjump" r:id="rId6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45" name="TextBox 44">
            <a:hlinkClick action="ppaction://hlinksldjump" r:id="rId7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46" name="TextBox 45">
            <a:hlinkClick action="ppaction://hlinksldjump" r:id="rId8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10 / 17</a:t>
            </a:r>
          </a:p>
        </p:txBody>
      </p:sp>
      <p:pic>
        <p:nvPicPr>
          <p:cNvPr id="49" name="Picture 48" descr="Avtomatik neon grafik: Langmuir, Freundlich va BET shakllari; sxema, tajriba ma’lumoti ema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4407408"/>
            <a:ext cx="10149840" cy="1307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8" name="Picture 27" descr="Neon fon — 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10  /  LANGMUIR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Langmuir modeli: chekli markazlarda bir qatlam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Model teng energiyali, mustaqil markazlar va muvozanat farazlariga asoslanadi.</a:t>
            </a:r>
          </a:p>
        </p:txBody>
      </p:sp>
      <p:pic>
        <p:nvPicPr>
          <p:cNvPr id="7" name="Picture 6" descr="Langmuir izoterma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7400"/>
            <a:ext cx="5029200" cy="685800"/>
          </a:xfrm>
          <a:prstGeom prst="rect">
            <a:avLst/>
          </a:prstGeom>
          <a:ln/>
        </p:spPr>
      </p:pic>
      <p:sp>
        <p:nvSpPr>
          <p:cNvPr id="8" name="TextBox 7"/>
          <p:cNvSpPr txBox="1"/>
          <p:nvPr/>
        </p:nvSpPr>
        <p:spPr>
          <a:xfrm>
            <a:off x="868680" y="2944368"/>
            <a:ext cx="4983480" cy="29260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ASOSIY FARAZLAR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355848"/>
            <a:ext cx="4892040" cy="53035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•  Sirt markazlari teng energetikaga ega.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50208"/>
            <a:ext cx="4892040" cy="53035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•  Har bir markazda ko‘pi bilan bitta zarracha yutiladi.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544568"/>
            <a:ext cx="4892040" cy="53035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•  Yutilgan zarrachalar o‘zaro ta’sirlashmaydi.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797296"/>
            <a:ext cx="4480560" cy="21945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19" b="0" i="0" u="none">
                <a:solidFill>
                  <a:srgbClr val="AABDD0"/>
                </a:solidFill>
                <a:latin typeface="Times New Roman"/>
              </a:rPr>
              <a:t>Konsentratsiya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596896"/>
            <a:ext cx="4480560" cy="21031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 i="0" u="none">
                <a:solidFill>
                  <a:srgbClr val="AABDD0"/>
                </a:solidFill>
                <a:latin typeface="Times New Roman"/>
              </a:rPr>
              <a:t>Yutilgan miqdor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6108192"/>
            <a:ext cx="44805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i="1" u="none">
                <a:solidFill>
                  <a:srgbClr val="AABDD0"/>
                </a:solidFill>
                <a:latin typeface="Times New Roman"/>
              </a:rPr>
              <a:t>Langmuir egri chizig‘i • sxematik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action="ppaction://hlinksldjump" r:id="rId4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25" name="TextBox 24">
            <a:hlinkClick action="ppaction://hlinksldjump" r:id="rId5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11 / 17</a:t>
            </a:r>
          </a:p>
        </p:txBody>
      </p:sp>
      <p:pic>
        <p:nvPicPr>
          <p:cNvPr id="29" name="Picture 28" descr="Avtomatik neon grafik: Langmuir izotermasining to‘yinish egri chizig‘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2926080"/>
            <a:ext cx="448056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Neon fon — 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11  /  FREUNDLICH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Freundlich — notekis sirt uchun empirik izoterma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Model muayyan konsentratsiya oralig‘ida qo‘llanadi; to‘yinish chegarasini bermaydi.</a:t>
            </a:r>
          </a:p>
        </p:txBody>
      </p:sp>
      <p:pic>
        <p:nvPicPr>
          <p:cNvPr id="7" name="Picture 6" descr="Freundlich izoterma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39112"/>
            <a:ext cx="4572000" cy="658368"/>
          </a:xfrm>
          <a:prstGeom prst="rect">
            <a:avLst/>
          </a:prstGeom>
          <a:ln/>
        </p:spPr>
      </p:pic>
      <p:sp>
        <p:nvSpPr>
          <p:cNvPr id="8" name="TextBox 7"/>
          <p:cNvSpPr txBox="1"/>
          <p:nvPr/>
        </p:nvSpPr>
        <p:spPr>
          <a:xfrm>
            <a:off x="868680" y="2907792"/>
            <a:ext cx="4389120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LOGARIFMLANGAN KO‘RINISH</a:t>
            </a:r>
          </a:p>
        </p:txBody>
      </p:sp>
      <p:pic>
        <p:nvPicPr>
          <p:cNvPr id="9" name="Picture 8" descr="Freundlich izotermasining logarifmlangan ko‘rinish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73552"/>
            <a:ext cx="4754880" cy="566928"/>
          </a:xfrm>
          <a:prstGeom prst="rect">
            <a:avLst/>
          </a:prstGeom>
          <a:ln/>
        </p:spPr>
      </p:pic>
      <p:sp>
        <p:nvSpPr>
          <p:cNvPr id="10" name="TextBox 9"/>
          <p:cNvSpPr txBox="1"/>
          <p:nvPr/>
        </p:nvSpPr>
        <p:spPr>
          <a:xfrm>
            <a:off x="868680" y="4069080"/>
            <a:ext cx="4617720" cy="49377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Daraja ko‘rsatkichi va sig‘im koeffitsiyenti tajribadan aniqlanadi.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36592"/>
            <a:ext cx="4617720" cy="6858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80" b="0" i="0" u="none">
                <a:solidFill>
                  <a:srgbClr val="AABDD0"/>
                </a:solidFill>
                <a:latin typeface="Times New Roman"/>
              </a:rPr>
              <a:t>Natijani faqat o‘rganilgan oraliqda talqin qiling; yuqori konsentratsiyadagi to‘yinishni model bermaydi.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720840" y="2834640"/>
            <a:ext cx="0" cy="2880360"/>
          </a:xfrm>
          <a:prstGeom prst="line">
            <a:avLst/>
          </a:prstGeom>
          <a:ln w="15240">
            <a:solidFill>
              <a:srgbClr val="7E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20840" y="5797296"/>
            <a:ext cx="4297680" cy="21945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19" b="0" i="0" u="none">
                <a:solidFill>
                  <a:srgbClr val="AABDD0"/>
                </a:solidFill>
                <a:latin typeface="Times New Roman"/>
              </a:rPr>
              <a:t>Konsentratsiya 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596896"/>
            <a:ext cx="4297680" cy="21031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0" i="0" u="none">
                <a:solidFill>
                  <a:srgbClr val="AABDD0"/>
                </a:solidFill>
                <a:latin typeface="Times New Roman"/>
              </a:rPr>
              <a:t>Yutilgan miqdor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6108192"/>
            <a:ext cx="429768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i="1" u="none">
                <a:solidFill>
                  <a:srgbClr val="AABDD0"/>
                </a:solidFill>
                <a:latin typeface="Times New Roman"/>
              </a:rPr>
              <a:t>Freundlich egri chizig‘i • sxematik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hlinkClick action="ppaction://hlinksldjump" r:id="rId5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25" name="TextBox 24">
            <a:hlinkClick action="ppaction://hlinksldjump" r:id="rId7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12 / 17</a:t>
            </a:r>
          </a:p>
        </p:txBody>
      </p:sp>
      <p:pic>
        <p:nvPicPr>
          <p:cNvPr id="28" name="Picture 27" descr="Avtomatik neon grafik: Freundlich izotermasining darajali egri chizig‘i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2926080"/>
            <a:ext cx="429768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4" name="Picture 43" descr="Neon fon — 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12  /  BET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BET: ko‘p qatlamli adsorbsiya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Gaz adsorbsiyasida birinchi qatlam va keyingi qatlamlar turlicha energiya bilan qaraladi.</a:t>
            </a:r>
          </a:p>
        </p:txBody>
      </p:sp>
      <p:pic>
        <p:nvPicPr>
          <p:cNvPr id="7" name="Picture 6" descr="BET izoterma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47672"/>
            <a:ext cx="5303520" cy="658368"/>
          </a:xfrm>
          <a:prstGeom prst="rect">
            <a:avLst/>
          </a:prstGeom>
          <a:ln/>
        </p:spPr>
      </p:pic>
      <p:sp>
        <p:nvSpPr>
          <p:cNvPr id="8" name="TextBox 7"/>
          <p:cNvSpPr txBox="1"/>
          <p:nvPr/>
        </p:nvSpPr>
        <p:spPr>
          <a:xfrm>
            <a:off x="868680" y="2761488"/>
            <a:ext cx="5166360" cy="26517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CHIZIQLI KO‘RINISH</a:t>
            </a:r>
          </a:p>
        </p:txBody>
      </p:sp>
      <p:pic>
        <p:nvPicPr>
          <p:cNvPr id="9" name="Picture 8" descr="BET chiziqli ko‘rinish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27248"/>
            <a:ext cx="5303520" cy="603504"/>
          </a:xfrm>
          <a:prstGeom prst="rect">
            <a:avLst/>
          </a:prstGeom>
          <a:ln/>
        </p:spPr>
      </p:pic>
      <p:sp>
        <p:nvSpPr>
          <p:cNvPr id="10" name="TextBox 9"/>
          <p:cNvSpPr txBox="1"/>
          <p:nvPr/>
        </p:nvSpPr>
        <p:spPr>
          <a:xfrm>
            <a:off x="868680" y="3913632"/>
            <a:ext cx="512064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Chiziqli soha tanlanadi; undan monoqavat sig‘imi va BET doimiysi olinadi.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5166360" cy="6858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AABDD0"/>
                </a:solidFill>
                <a:latin typeface="Times New Roman"/>
              </a:rPr>
              <a:t>Sirt maydoni adsorbtiv, harorat va tanlangan bosim oralig‘iga bog‘liq. Grafik — sxema, tajriba natijasi emas.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QATLAMMA-QATLAM ADSORBSIYA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742432"/>
            <a:ext cx="45720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E5F0FB"/>
                </a:solidFill>
                <a:latin typeface="Times New Roman"/>
              </a:rPr>
              <a:t>Birinchi qavat sirt bilan, keyingilari adsorbat bilan ta’sirlashadi.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hlinkClick action="ppaction://hlinksldjump" r:id="rId5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41" name="TextBox 40">
            <a:hlinkClick action="ppaction://hlinksldjump" r:id="rId6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42" name="TextBox 41">
            <a:hlinkClick action="ppaction://hlinksldjump" r:id="rId7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13 / 17</a:t>
            </a:r>
          </a:p>
        </p:txBody>
      </p:sp>
      <p:pic>
        <p:nvPicPr>
          <p:cNvPr id="45" name="Picture 44" descr="Avtomatik neon animatsiya: BET modelida ko‘p qatlamli adsorbsiy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3730752"/>
            <a:ext cx="4617720" cy="19019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Picture 23" descr="Neon fon — 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13  /  G‘OVAKLAR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G‘ovak o‘lchami adsorbsiya mexanizmini belgilaydi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IUPAC tasnifida g‘ovak kengligi va kuzatiladigan to‘lish mexanizmi farqlanadi.</a:t>
            </a:r>
          </a:p>
        </p:txBody>
      </p:sp>
      <p:pic>
        <p:nvPicPr>
          <p:cNvPr id="7" name="Picture 6" descr="G‘ovakli adsorbentning sxematik ko‘rinish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011680"/>
            <a:ext cx="4023360" cy="4023360"/>
          </a:xfrm>
          <a:prstGeom prst="rect">
            <a:avLst/>
          </a:prstGeom>
          <a:ln/>
        </p:spPr>
      </p:pic>
      <p:sp>
        <p:nvSpPr>
          <p:cNvPr id="8" name="TextBox 7"/>
          <p:cNvSpPr txBox="1"/>
          <p:nvPr/>
        </p:nvSpPr>
        <p:spPr>
          <a:xfrm>
            <a:off x="7498079" y="6108192"/>
            <a:ext cx="4023360" cy="2286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u="none">
                <a:solidFill>
                  <a:srgbClr val="AABDD0"/>
                </a:solidFill>
                <a:latin typeface="Times New Roman"/>
              </a:rPr>
              <a:t>G‘ovakli adsorbentning sxematik ko‘rinishi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423160" cy="25603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7EA9FF"/>
                </a:solidFill>
                <a:latin typeface="Times New Roman"/>
              </a:rPr>
              <a:t>01  MIKROG‘OVAK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0F7FF"/>
                </a:solidFill>
                <a:latin typeface="Times New Roman"/>
              </a:rPr>
              <a:t>&lt; 2 nm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50591"/>
            <a:ext cx="6035040" cy="53035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Qarama-qarshi devorlar potensiali ustma-ust tushadi.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2423160" cy="25603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39E9F4"/>
                </a:solidFill>
                <a:latin typeface="Times New Roman"/>
              </a:rPr>
              <a:t>02  MEZOG‘OVAK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3246120"/>
            <a:ext cx="1188720" cy="25603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0F7FF"/>
                </a:solidFill>
                <a:latin typeface="Times New Roman"/>
              </a:rPr>
              <a:t>2–50 nm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93591"/>
            <a:ext cx="6035040" cy="53035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Menisk va kapillyar kondensatsiya muhim.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2423160" cy="25603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FFC66B"/>
                </a:solidFill>
                <a:latin typeface="Times New Roman"/>
              </a:rPr>
              <a:t>03  MAKROG‘OVAK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4389120"/>
            <a:ext cx="1188720" cy="25603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0F7FF"/>
                </a:solidFill>
                <a:latin typeface="Times New Roman"/>
              </a:rPr>
              <a:t>&gt; 50 nm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36592"/>
            <a:ext cx="6035040" cy="53035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Oqim va massa uzatish yo‘llarini ta’minlaydi.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05856"/>
            <a:ext cx="6035040" cy="25603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1" u="none">
                <a:solidFill>
                  <a:srgbClr val="AABDD0"/>
                </a:solidFill>
                <a:latin typeface="Times New Roman"/>
              </a:rPr>
              <a:t>Sxema masshtabda emas; o‘lchov usulini ko‘rsatish zarur.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action="ppaction://hlinksldjump" r:id="rId4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14 / 17</a:t>
            </a:r>
          </a:p>
        </p:txBody>
      </p:sp>
      <p:pic>
        <p:nvPicPr>
          <p:cNvPr id="25" name="Picture 24" descr="Avtomatik neon animatsiya: g‘ovakli adsorbent ichida zarracha transporti; sxem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79" y="201168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2" name="Picture 41" descr="Neon fon — 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14  /  SIRT KIMYOSI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Sirt zaryadi pH va tanlab yutilishga ta’sir qiladi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Suvli muhitda ionlarning adsorbsiyasi sirt guruhlari, pH, tuz miqdori va raqobatga bog‘liq.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3611880"/>
            <a:ext cx="5029200" cy="0"/>
          </a:xfrm>
          <a:prstGeom prst="line">
            <a:avLst/>
          </a:prstGeom>
          <a:ln w="31750">
            <a:solidFill>
              <a:srgbClr val="7E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3136392"/>
            <a:ext cx="228600" cy="3383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7EA9FF"/>
                </a:solidFill>
                <a:latin typeface="Times New Roman"/>
              </a:rPr>
              <a:t>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136392"/>
            <a:ext cx="228600" cy="3383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7EA9FF"/>
                </a:solidFill>
                <a:latin typeface="Times New Roman"/>
              </a:rPr>
              <a:t>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136392"/>
            <a:ext cx="228600" cy="3383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7EA9FF"/>
                </a:solidFill>
                <a:latin typeface="Times New Roman"/>
              </a:rPr>
              <a:t>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136392"/>
            <a:ext cx="228600" cy="3383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7EA9FF"/>
                </a:solidFill>
                <a:latin typeface="Times New Roman"/>
              </a:rPr>
              <a:t>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136392"/>
            <a:ext cx="228600" cy="3383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7EA9FF"/>
                </a:solidFill>
                <a:latin typeface="Times New Roman"/>
              </a:rPr>
              <a:t>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136392"/>
            <a:ext cx="228600" cy="3383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7EA9FF"/>
                </a:solidFill>
                <a:latin typeface="Times New Roman"/>
              </a:rPr>
              <a:t>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136392"/>
            <a:ext cx="228600" cy="3383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7EA9FF"/>
                </a:solidFill>
                <a:latin typeface="Times New Roman"/>
              </a:rPr>
              <a:t>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3136392"/>
            <a:ext cx="228600" cy="33832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7EA9FF"/>
                </a:solidFill>
                <a:latin typeface="Times New Roman"/>
              </a:rPr>
              <a:t>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58768"/>
            <a:ext cx="5212080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QATTIQ SIRT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99432"/>
            <a:ext cx="5029200" cy="2468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80" b="1" i="0" u="none">
                <a:solidFill>
                  <a:srgbClr val="39E9F4"/>
                </a:solidFill>
                <a:latin typeface="Times New Roman"/>
              </a:rPr>
              <a:t>STERN QATLAMI  •  QARSHI IONLAR (+)</a:t>
            </a:r>
          </a:p>
        </p:txBody>
      </p:sp>
      <p:sp>
        <p:nvSpPr>
          <p:cNvPr id="24" name="Oval 23"/>
          <p:cNvSpPr/>
          <p:nvPr/>
        </p:nvSpPr>
        <p:spPr>
          <a:xfrm>
            <a:off x="1115568" y="5047488"/>
            <a:ext cx="146304" cy="146304"/>
          </a:xfrm>
          <a:prstGeom prst="ellipse">
            <a:avLst/>
          </a:prstGeom>
          <a:noFill/>
          <a:ln w="15240">
            <a:solidFill>
              <a:srgbClr val="FFC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70448"/>
            <a:ext cx="5029200" cy="2286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80" b="1" i="0" u="none">
                <a:solidFill>
                  <a:srgbClr val="AABDD0"/>
                </a:solidFill>
                <a:latin typeface="Times New Roman"/>
              </a:rPr>
              <a:t>TARQOQ IONLAR QATLAMI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37960" y="2103120"/>
            <a:ext cx="0" cy="3931920"/>
          </a:xfrm>
          <a:prstGeom prst="line">
            <a:avLst/>
          </a:prstGeom>
          <a:ln w="1016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95160" y="2194560"/>
            <a:ext cx="4297680" cy="29260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TALQIN UCHUN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670048"/>
            <a:ext cx="4251960" cy="80467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pH sirt guruhlarining protonlanishini va sirt zaryadini o‘zgartiradi.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703320"/>
            <a:ext cx="4251960" cy="8229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Tuz miqdori elektr ikki qavat qalinligiga ta’sir ko‘rsatadi; ayrim ionlar sirtga maxsus birikishi mumkin.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956048"/>
            <a:ext cx="4251960" cy="74980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80" b="0" i="0" u="none">
                <a:solidFill>
                  <a:srgbClr val="AABDD0"/>
                </a:solidFill>
                <a:latin typeface="Times New Roman"/>
              </a:rPr>
              <a:t>Panet–Fayans qoidasi — tarixiy yo‘riq; haqiqiy tanlanish sirt kimyosi bilan tekshiriladi.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hlinkClick action="ppaction://hlinksldjump" r:id="rId3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39" name="TextBox 38">
            <a:hlinkClick action="ppaction://hlinksldjump" r:id="rId4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40" name="TextBox 39">
            <a:hlinkClick action="ppaction://hlinksldjump" r:id="rId5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15 / 17</a:t>
            </a:r>
          </a:p>
        </p:txBody>
      </p:sp>
      <p:pic>
        <p:nvPicPr>
          <p:cNvPr id="43" name="Picture 42" descr="Avtomatik neon animatsiya: sirt yaqinidagi qarshi ionlar va tarqoq qatla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133087"/>
            <a:ext cx="4892040" cy="15361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1" name="Picture 30" descr="Neon fon — 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15  /  TAJRIBA VA QO‘LLANISH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Tajriba sifati va amaliy qo‘llanish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Adsorbsiya sig‘imi bilan birga tanlanish, tezlik, qayta tiklash va o‘lchov noaniqligini baholang.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384048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9E9F4"/>
                </a:solidFill>
                <a:latin typeface="Times New Roma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4389120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Adsorbent, adsorbat va erituvchini belgilang.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24128" y="2322576"/>
            <a:ext cx="0" cy="448056"/>
          </a:xfrm>
          <a:prstGeom prst="line">
            <a:avLst/>
          </a:prstGeom>
          <a:ln w="15240">
            <a:solidFill>
              <a:srgbClr val="36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248" y="2770632"/>
            <a:ext cx="384048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9E9F4"/>
                </a:solidFill>
                <a:latin typeface="Times New Roman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70632"/>
            <a:ext cx="4389120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Harorat, pH va boshlang‘ich konsentratsiyani qayd eting.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24128" y="3127248"/>
            <a:ext cx="0" cy="448055"/>
          </a:xfrm>
          <a:prstGeom prst="line">
            <a:avLst/>
          </a:prstGeom>
          <a:ln w="15240">
            <a:solidFill>
              <a:srgbClr val="36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3575304"/>
            <a:ext cx="384048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9E9F4"/>
                </a:solidFill>
                <a:latin typeface="Times New Roman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575304"/>
            <a:ext cx="4389120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Muvozanatga yetganini vaqt bo‘yicha tekshiring.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24128" y="3931920"/>
            <a:ext cx="0" cy="448056"/>
          </a:xfrm>
          <a:prstGeom prst="line">
            <a:avLst/>
          </a:prstGeom>
          <a:ln w="15240">
            <a:solidFill>
              <a:srgbClr val="36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4379976"/>
            <a:ext cx="384048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9E9F4"/>
                </a:solidFill>
                <a:latin typeface="Times New Roman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79976"/>
            <a:ext cx="4389120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5F0FB"/>
                </a:solidFill>
                <a:latin typeface="Times New Roman"/>
              </a:rPr>
              <a:t>Nazorat namunasi va takroriy o‘lchovlardan foydalaning.</a:t>
            </a:r>
          </a:p>
        </p:txBody>
      </p:sp>
      <p:pic>
        <p:nvPicPr>
          <p:cNvPr id="18" name="Picture 17" descr="Ajralish ustun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74519"/>
            <a:ext cx="1463040" cy="2697480"/>
          </a:xfrm>
          <a:prstGeom prst="rect">
            <a:avLst/>
          </a:prstGeom>
          <a:ln/>
        </p:spPr>
      </p:pic>
      <p:sp>
        <p:nvSpPr>
          <p:cNvPr id="19" name="TextBox 18"/>
          <p:cNvSpPr txBox="1"/>
          <p:nvPr/>
        </p:nvSpPr>
        <p:spPr>
          <a:xfrm>
            <a:off x="6492240" y="4645152"/>
            <a:ext cx="1463040" cy="2286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u="none">
                <a:solidFill>
                  <a:srgbClr val="AABDD0"/>
                </a:solidFill>
                <a:latin typeface="Times New Roman"/>
              </a:rPr>
              <a:t>Ajralish ustuni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XROMATOGRAFIK AJRATISH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59152"/>
            <a:ext cx="3108960" cy="7315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80" b="0" i="0" u="none">
                <a:solidFill>
                  <a:srgbClr val="E5F0FB"/>
                </a:solidFill>
                <a:latin typeface="Times New Roman"/>
              </a:rPr>
              <a:t>Komponentlar ikki fazaga moyilligi turlicha bo‘lgani uchun har xil vaqtda chiqadi.</a:t>
            </a:r>
          </a:p>
        </p:txBody>
      </p:sp>
      <p:pic>
        <p:nvPicPr>
          <p:cNvPr id="22" name="Picture 21" descr="Xromatografik ushlanish omil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310128"/>
            <a:ext cx="3063240" cy="566928"/>
          </a:xfrm>
          <a:prstGeom prst="rect">
            <a:avLst/>
          </a:prstGeom>
          <a:ln/>
        </p:spPr>
      </p:pic>
      <p:sp>
        <p:nvSpPr>
          <p:cNvPr id="23" name="TextBox 22"/>
          <p:cNvSpPr txBox="1"/>
          <p:nvPr/>
        </p:nvSpPr>
        <p:spPr>
          <a:xfrm>
            <a:off x="8229600" y="3941063"/>
            <a:ext cx="310896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AABDD0"/>
                </a:solidFill>
                <a:latin typeface="Times New Roman"/>
              </a:rPr>
              <a:t>Ushlanish vaqti va o‘lik vaqtni farqlang.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" y="5486400"/>
            <a:ext cx="10515600" cy="0"/>
          </a:xfrm>
          <a:prstGeom prst="line">
            <a:avLst/>
          </a:prstGeom>
          <a:ln w="1016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5650992"/>
            <a:ext cx="10424160" cy="310896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u="none">
                <a:solidFill>
                  <a:srgbClr val="7EA9FF"/>
                </a:solidFill>
                <a:latin typeface="Times New Roman"/>
              </a:rPr>
              <a:t>QO‘LLANISH:  suvni tozalash  •  gazlarni ajratish  •  kataliz  •  tibbiy sorbsiya (faqat mutaxassis nazoratida)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hlinkClick action="ppaction://hlinksldjump" r:id="rId5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28" name="TextBox 27">
            <a:hlinkClick action="ppaction://hlinksldjump" r:id="rId6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955548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KEYINGI  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16 / 17</a:t>
            </a:r>
          </a:p>
        </p:txBody>
      </p:sp>
      <p:pic>
        <p:nvPicPr>
          <p:cNvPr id="32" name="Picture 31" descr="Avtomatik neon grafik: sxematik xromatografik detektor signali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4498848"/>
            <a:ext cx="3108960" cy="7498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9600" y="5285232"/>
            <a:ext cx="310896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19">
                <a:solidFill>
                  <a:srgbClr val="AABDD0"/>
                </a:solidFill>
                <a:latin typeface="Times New Roman"/>
              </a:rPr>
              <a:t>Detektor signali • sxematik, tajriba ma’lumoti emas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8" name="Picture 27" descr="Neon fon — 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0312"/>
            <a:ext cx="4754880" cy="20116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39E9F4"/>
                </a:solidFill>
                <a:latin typeface="Times New Roman"/>
              </a:rPr>
              <a:t>16  /  XULOSA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02920"/>
            <a:ext cx="493776" cy="0"/>
          </a:xfrm>
          <a:prstGeom prst="line">
            <a:avLst/>
          </a:prstGeom>
          <a:ln w="27940">
            <a:solidFill>
              <a:srgbClr val="39E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9224"/>
            <a:ext cx="10972800" cy="5029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F0F7FF"/>
                </a:solidFill>
                <a:latin typeface="Times New Roman"/>
              </a:rPr>
              <a:t>Yakun: uchta xulosa, uchta tekshiruv savoli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881360" cy="36576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AABDD0"/>
                </a:solidFill>
                <a:latin typeface="Times New Roman"/>
              </a:rPr>
              <a:t>Asosiy bo‘lim nomlarini bosing — tegishli tushuntirishga qayting.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594360" cy="34747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39E9F4"/>
                </a:solidFill>
                <a:latin typeface="Times New Roman"/>
              </a:rPr>
              <a:t>01</a:t>
            </a:r>
          </a:p>
        </p:txBody>
      </p:sp>
      <p:sp>
        <p:nvSpPr>
          <p:cNvPr id="8" name="TextBox 7">
            <a:hlinkClick action="ppaction://hlinksldjump" r:id="rId3"/>
          </p:cNvPr>
          <p:cNvSpPr txBox="1"/>
          <p:nvPr/>
        </p:nvSpPr>
        <p:spPr>
          <a:xfrm>
            <a:off x="82296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sng">
                <a:solidFill>
                  <a:srgbClr val="7EA9FF"/>
                </a:solidFill>
                <a:latin typeface="Times New Roman"/>
              </a:rPr>
              <a:t>SIRT ENERGIYASI</a:t>
            </a:r>
          </a:p>
        </p:txBody>
      </p:sp>
      <p:sp>
        <p:nvSpPr>
          <p:cNvPr id="9" name="TextBox 8">
            <a:hlinkClick action="ppaction://hlinksldjump" r:id="rId3"/>
          </p:cNvPr>
          <p:cNvSpPr txBox="1"/>
          <p:nvPr/>
        </p:nvSpPr>
        <p:spPr>
          <a:xfrm>
            <a:off x="822960" y="3072384"/>
            <a:ext cx="3063240" cy="9144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Sirt tarangligi sirt hosil qilish ishini bildiradi.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57400"/>
            <a:ext cx="594360" cy="34747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39E9F4"/>
                </a:solidFill>
                <a:latin typeface="Times New Roman"/>
              </a:rPr>
              <a:t>02</a:t>
            </a:r>
          </a:p>
        </p:txBody>
      </p:sp>
      <p:sp>
        <p:nvSpPr>
          <p:cNvPr id="11" name="TextBox 10">
            <a:hlinkClick action="ppaction://hlinksldjump" r:id="rId4"/>
          </p:cNvPr>
          <p:cNvSpPr txBox="1"/>
          <p:nvPr/>
        </p:nvSpPr>
        <p:spPr>
          <a:xfrm>
            <a:off x="452628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sng">
                <a:solidFill>
                  <a:srgbClr val="7EA9FF"/>
                </a:solidFill>
                <a:latin typeface="Times New Roman"/>
              </a:rPr>
              <a:t>MODEL SHARTI</a:t>
            </a:r>
          </a:p>
        </p:txBody>
      </p:sp>
      <p:sp>
        <p:nvSpPr>
          <p:cNvPr id="12" name="TextBox 11">
            <a:hlinkClick action="ppaction://hlinksldjump" r:id="rId4"/>
          </p:cNvPr>
          <p:cNvSpPr txBox="1"/>
          <p:nvPr/>
        </p:nvSpPr>
        <p:spPr>
          <a:xfrm>
            <a:off x="4526280" y="3072384"/>
            <a:ext cx="3063240" cy="9144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Yaxshi moslikning o‘zi mexanizmni isbotlamaydi.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594360" cy="34747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39E9F4"/>
                </a:solidFill>
                <a:latin typeface="Times New Roman"/>
              </a:rPr>
              <a:t>03</a:t>
            </a:r>
          </a:p>
        </p:txBody>
      </p:sp>
      <p:sp>
        <p:nvSpPr>
          <p:cNvPr id="14" name="TextBox 13">
            <a:hlinkClick action="ppaction://hlinksldjump" r:id="rId5"/>
          </p:cNvPr>
          <p:cNvSpPr txBox="1"/>
          <p:nvPr/>
        </p:nvSpPr>
        <p:spPr>
          <a:xfrm>
            <a:off x="822960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sng">
                <a:solidFill>
                  <a:srgbClr val="7EA9FF"/>
                </a:solidFill>
                <a:latin typeface="Times New Roman"/>
              </a:rPr>
              <a:t>ISHONCHLI DALIL</a:t>
            </a:r>
          </a:p>
        </p:txBody>
      </p:sp>
      <p:sp>
        <p:nvSpPr>
          <p:cNvPr id="15" name="TextBox 14">
            <a:hlinkClick action="ppaction://hlinksldjump" r:id="rId5"/>
          </p:cNvPr>
          <p:cNvSpPr txBox="1"/>
          <p:nvPr/>
        </p:nvSpPr>
        <p:spPr>
          <a:xfrm>
            <a:off x="8229600" y="3072384"/>
            <a:ext cx="3063240" cy="91440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 u="none">
                <a:solidFill>
                  <a:srgbClr val="E5F0FB"/>
                </a:solidFill>
                <a:latin typeface="Times New Roman"/>
              </a:rPr>
              <a:t>Xulosa o‘lchov, takror va noaniqlik bilan asoslanadi.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2011680"/>
            <a:ext cx="0" cy="214884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18120" y="2011680"/>
            <a:ext cx="0" cy="214884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4709160"/>
            <a:ext cx="7132320" cy="2743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9E9F4"/>
                </a:solidFill>
                <a:latin typeface="Times New Roman"/>
              </a:rPr>
              <a:t>O‘ZINGIZNI TEKSHIRING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65776"/>
            <a:ext cx="7315200" cy="283464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70" b="0" i="0" u="none">
                <a:solidFill>
                  <a:srgbClr val="E5F0FB"/>
                </a:solidFill>
                <a:latin typeface="Times New Roman"/>
              </a:rPr>
              <a:t>1. Sirt tarangligi nimani bildiradi?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13248"/>
            <a:ext cx="7315200" cy="283464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70" b="0" i="0" u="none">
                <a:solidFill>
                  <a:srgbClr val="E5F0FB"/>
                </a:solidFill>
                <a:latin typeface="Times New Roman"/>
              </a:rPr>
              <a:t>2. Langmuir modelining asosiy farazi nima?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60720"/>
            <a:ext cx="7315200" cy="283464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70" b="0" i="0" u="none">
                <a:solidFill>
                  <a:srgbClr val="E5F0FB"/>
                </a:solidFill>
                <a:latin typeface="Times New Roman"/>
              </a:rPr>
              <a:t>3. Adsorbsiya miqdori qanday tekshiriladi?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153912"/>
            <a:ext cx="7589520" cy="18288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0" i="1" u="none">
                <a:solidFill>
                  <a:srgbClr val="AABDD0"/>
                </a:solidFill>
                <a:latin typeface="Times New Roman"/>
              </a:rPr>
              <a:t>Javoblarni slaydlar bo‘ylab qayta ko‘rib chiqing; natijani dalil bilan asoslang.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34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action="ppaction://hlinksldjump" r:id="rId5"/>
          </p:cNvPr>
          <p:cNvSpPr txBox="1"/>
          <p:nvPr/>
        </p:nvSpPr>
        <p:spPr>
          <a:xfrm>
            <a:off x="658368" y="6537960"/>
            <a:ext cx="150876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‹  AVVALGI</a:t>
            </a:r>
          </a:p>
        </p:txBody>
      </p: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5157216" y="6537960"/>
            <a:ext cx="182880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MUNDARIJA</a:t>
            </a:r>
          </a:p>
        </p:txBody>
      </p:sp>
      <p:sp>
        <p:nvSpPr>
          <p:cNvPr id="26" name="TextBox 25">
            <a:hlinkClick action="ppaction://hlinksldjump" r:id="rId7"/>
          </p:cNvPr>
          <p:cNvSpPr txBox="1"/>
          <p:nvPr/>
        </p:nvSpPr>
        <p:spPr>
          <a:xfrm>
            <a:off x="9491472" y="6537960"/>
            <a:ext cx="155448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u="sng">
                <a:solidFill>
                  <a:srgbClr val="39E9F4"/>
                </a:solidFill>
                <a:latin typeface="Times New Roman"/>
              </a:rPr>
              <a:t>BOSH SAHIFA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91088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u="none">
                <a:solidFill>
                  <a:srgbClr val="AABDD0"/>
                </a:solidFill>
                <a:latin typeface="Times New Roman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