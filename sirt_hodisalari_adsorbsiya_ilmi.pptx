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image" Target="../media/image2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8.xml"/><Relationship Id="rId5" Type="http://schemas.openxmlformats.org/officeDocument/2006/relationships/slide" Target="slide15.xml"/><Relationship Id="rId6" Type="http://schemas.openxmlformats.org/officeDocument/2006/relationships/image" Target="../media/image25.png"/><Relationship Id="rId7" Type="http://schemas.openxmlformats.org/officeDocument/2006/relationships/slide" Target="slide1.xml"/><Relationship Id="rId8" Type="http://schemas.openxmlformats.org/officeDocument/2006/relationships/slide" Target="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6.png"/><Relationship Id="rId6" Type="http://schemas.openxmlformats.org/officeDocument/2006/relationships/slide" Target="slide2.xml"/><Relationship Id="rId7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7.png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5.xml"/><Relationship Id="rId7" Type="http://schemas.openxmlformats.org/officeDocument/2006/relationships/image" Target="../media/image4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8.png"/><Relationship Id="rId7" Type="http://schemas.openxmlformats.org/officeDocument/2006/relationships/slide" Target="slide4.xml"/><Relationship Id="rId8" Type="http://schemas.openxmlformats.org/officeDocument/2006/relationships/slide" Target="slide2.xml"/><Relationship Id="rId9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9.png"/><Relationship Id="rId4" Type="http://schemas.openxmlformats.org/officeDocument/2006/relationships/slide" Target="slide5.xml"/><Relationship Id="rId5" Type="http://schemas.openxmlformats.org/officeDocument/2006/relationships/slide" Target="slide2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slide" Target="slide6.xml"/><Relationship Id="rId4" Type="http://schemas.openxmlformats.org/officeDocument/2006/relationships/slide" Target="slide2.xml"/><Relationship Id="rId5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31.png"/><Relationship Id="rId6" Type="http://schemas.openxmlformats.org/officeDocument/2006/relationships/slide" Target="slide7.xml"/><Relationship Id="rId7" Type="http://schemas.openxmlformats.org/officeDocument/2006/relationships/slide" Target="slide2.xml"/><Relationship Id="rId8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32.png"/><Relationship Id="rId5" Type="http://schemas.openxmlformats.org/officeDocument/2006/relationships/slide" Target="slide8.xml"/><Relationship Id="rId6" Type="http://schemas.openxmlformats.org/officeDocument/2006/relationships/slide" Target="slide2.xml"/><Relationship Id="rId7" Type="http://schemas.openxmlformats.org/officeDocument/2006/relationships/slide" Target="slide10.xml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33.png"/><Relationship Id="rId5" Type="http://schemas.openxmlformats.org/officeDocument/2006/relationships/slide" Target="slide9.xml"/><Relationship Id="rId6" Type="http://schemas.openxmlformats.org/officeDocument/2006/relationships/slide" Target="slide2.xml"/><Relationship Id="rId7" Type="http://schemas.openxmlformats.org/officeDocument/2006/relationships/slide" Target="slide11.xml"/><Relationship Id="rId8" Type="http://schemas.openxmlformats.org/officeDocument/2006/relationships/image" Target="../media/image44.png"/><Relationship Id="rId9" Type="http://schemas.openxmlformats.org/officeDocument/2006/relationships/image" Target="../media/image4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4.png"/><Relationship Id="rId4" Type="http://schemas.openxmlformats.org/officeDocument/2006/relationships/slide" Target="slide10.xml"/><Relationship Id="rId5" Type="http://schemas.openxmlformats.org/officeDocument/2006/relationships/slide" Target="slide2.xml"/><Relationship Id="rId6" Type="http://schemas.openxmlformats.org/officeDocument/2006/relationships/slide" Target="slide12.xml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slide" Target="slide11.xml"/><Relationship Id="rId5" Type="http://schemas.openxmlformats.org/officeDocument/2006/relationships/slide" Target="slide2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36.png"/><Relationship Id="rId4" Type="http://schemas.openxmlformats.org/officeDocument/2006/relationships/slide" Target="slide12.xml"/><Relationship Id="rId5" Type="http://schemas.openxmlformats.org/officeDocument/2006/relationships/slide" Target="slide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2.png"/><Relationship Id="rId4" Type="http://schemas.openxmlformats.org/officeDocument/2006/relationships/image" Target="../media/image37.png"/><Relationship Id="rId5" Type="http://schemas.openxmlformats.org/officeDocument/2006/relationships/slide" Target="slide13.xml"/><Relationship Id="rId6" Type="http://schemas.openxmlformats.org/officeDocument/2006/relationships/slide" Target="slide2.xml"/><Relationship Id="rId7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38.png"/><Relationship Id="rId4" Type="http://schemas.openxmlformats.org/officeDocument/2006/relationships/slide" Target="slide14.xml"/><Relationship Id="rId5" Type="http://schemas.openxmlformats.org/officeDocument/2006/relationships/slide" Target="slide2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slide" Target="slide15.xml"/><Relationship Id="rId4" Type="http://schemas.openxmlformats.org/officeDocument/2006/relationships/slide" Target="slide2.xml"/><Relationship Id="rId5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8.xml"/><Relationship Id="rId4" Type="http://schemas.openxmlformats.org/officeDocument/2006/relationships/slide" Target="slide15.xml"/><Relationship Id="rId5" Type="http://schemas.openxmlformats.org/officeDocument/2006/relationships/image" Target="../media/image40.png"/><Relationship Id="rId6" Type="http://schemas.openxmlformats.org/officeDocument/2006/relationships/slide" Target="slide16.xml"/><Relationship Id="rId7" Type="http://schemas.openxmlformats.org/officeDocument/2006/relationships/slide" Target="slide2.xml"/><Relationship Id="rId8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8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9" name="Picture 98" descr="slide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6400800" y="640080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400800" y="1298448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00800" y="1956815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00800" y="2615184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400800" y="3273552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400800" y="3931920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400800" y="4590288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5248656"/>
            <a:ext cx="5349240" cy="0"/>
          </a:xfrm>
          <a:prstGeom prst="line">
            <a:avLst/>
          </a:prstGeom>
          <a:ln w="5715">
            <a:solidFill>
              <a:srgbClr val="1B3C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94360"/>
            <a:ext cx="521208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ACBC6"/>
                </a:solidFill>
                <a:latin typeface="Times New Roman"/>
              </a:rPr>
              <a:t>KOLLOID KIMYO  /  ILMIY TAQDIMOT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" y="1078992"/>
            <a:ext cx="512064" cy="5029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1426464"/>
            <a:ext cx="5394960" cy="1536192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3700" b="1" i="0" u="none">
                <a:solidFill>
                  <a:srgbClr val="FFFFFF"/>
                </a:solidFill>
                <a:latin typeface="Times New Roman"/>
              </a:rPr>
              <a:t>SIRT HODISALARI
VA ADSORBSIYA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154680"/>
            <a:ext cx="4983480" cy="932688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900" b="0">
                <a:solidFill>
                  <a:srgbClr val="E2E9EE"/>
                </a:solidFill>
                <a:latin typeface="Times New Roman"/>
              </a:rPr>
              <a:t>Sirt energiyasi, adsorbsiya qonuniyatlari va g‘ovakli materiallar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4370832"/>
            <a:ext cx="1828800" cy="283464"/>
          </a:xfrm>
          <a:prstGeom prst="roundRect">
            <a:avLst/>
          </a:prstGeom>
          <a:solidFill>
            <a:srgbClr val="1A485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>
            <a:hlinkClick action="ppaction://hlinksldjump" r:id="rId3"/>
          </p:cNvPr>
          <p:cNvSpPr txBox="1"/>
          <p:nvPr/>
        </p:nvSpPr>
        <p:spPr>
          <a:xfrm>
            <a:off x="795528" y="4384548"/>
            <a:ext cx="1755648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30" b="1">
                <a:solidFill>
                  <a:srgbClr val="9ACBC6"/>
                </a:solidFill>
                <a:latin typeface="Times New Roman"/>
              </a:rPr>
              <a:t>TAQDIMOTNI BOSHLASH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5074920"/>
            <a:ext cx="5029200" cy="3017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E2E9EE"/>
                </a:solidFill>
                <a:latin typeface="Times New Roman"/>
              </a:rPr>
              <a:t>Muallif: [F.I.Sh.]  •  [Tashkilot]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5532120"/>
            <a:ext cx="50292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9AB1BF"/>
                </a:solidFill>
                <a:latin typeface="Times New Roman"/>
              </a:rPr>
              <a:t>2026  |  O‘zbek tilida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40880" y="6236208"/>
            <a:ext cx="45262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AB1BF"/>
                </a:solidFill>
                <a:latin typeface="Times New Roman"/>
              </a:rPr>
              <a:t>Sxema; tajriba tasviri emas</a:t>
            </a:r>
          </a:p>
        </p:txBody>
      </p:sp>
      <p:pic>
        <p:nvPicPr>
          <p:cNvPr id="95" name="Picture 94" descr="interface_hero.png"/>
          <p:cNvPicPr>
            <a:picLocks noChangeAspect="1"/>
          </p:cNvPicPr>
          <p:nvPr/>
        </p:nvPicPr>
        <p:blipFill>
          <a:blip r:embed="rId2"/>
          <a:srcRect l="909" r="909"/>
          <a:stretch>
            <a:fillRect/>
          </a:stretch>
        </p:blipFill>
        <p:spPr>
          <a:xfrm>
            <a:off x="6537960" y="978408"/>
            <a:ext cx="4937760" cy="5029200"/>
          </a:xfrm>
          <a:prstGeom prst="rect">
            <a:avLst/>
          </a:prstGeom>
          <a:ln>
            <a:solidFill/>
          </a:ln>
        </p:spPr>
      </p:pic>
      <p:sp>
        <p:nvSpPr>
          <p:cNvPr id="96" name="Rectangle 95"/>
          <p:cNvSpPr/>
          <p:nvPr/>
        </p:nvSpPr>
        <p:spPr>
          <a:xfrm>
            <a:off x="6537960" y="5532120"/>
            <a:ext cx="4937760" cy="475488"/>
          </a:xfrm>
          <a:prstGeom prst="rect">
            <a:avLst/>
          </a:prstGeom>
          <a:solidFill>
            <a:srgbClr val="10283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766560" y="5632704"/>
            <a:ext cx="448056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40" b="1">
                <a:solidFill>
                  <a:srgbClr val="FFFFFF"/>
                </a:solidFill>
                <a:latin typeface="Times New Roman"/>
              </a:rPr>
              <a:t>SIRT-FAOL MODDANING BIR QATLAMI  •  SXEMA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37960" y="978408"/>
            <a:ext cx="4937760" cy="5029200"/>
          </a:xfrm>
          <a:prstGeom prst="rect">
            <a:avLst/>
          </a:prstGeom>
          <a:noFill/>
          <a:ln w="12700">
            <a:solidFill>
              <a:srgbClr val="315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8" name="Picture 47" descr="slide_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01 / MUNDARIJA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Sirt hodisalarini to‘rtta savol bilan tushunamiz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Bo‘lim kartasini bosing: kerakli mavzuga to‘g‘ridan-to‘g‘ri o‘ting.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685800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685800" y="1874519"/>
            <a:ext cx="50292" cy="239572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>
            <a:hlinkClick action="ppaction://hlinksldjump" r:id="rId2"/>
          </p:cNvPr>
          <p:cNvSpPr/>
          <p:nvPr/>
        </p:nvSpPr>
        <p:spPr>
          <a:xfrm>
            <a:off x="886968" y="2075688"/>
            <a:ext cx="438912" cy="438912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886968" y="2148840"/>
            <a:ext cx="438912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1435607" y="2112264"/>
            <a:ext cx="1682495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ENERGIYA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886968" y="2724912"/>
            <a:ext cx="22311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2B3A"/>
                </a:solidFill>
                <a:latin typeface="Times New Roman"/>
              </a:rPr>
              <a:t>Sirt hosil qilishga qancha energiya kerak?</a:t>
            </a:r>
          </a:p>
        </p:txBody>
      </p:sp>
      <p:cxnSp>
        <p:nvCxnSpPr>
          <p:cNvPr id="12" name="Connector 11">
            <a:hlinkClick action="ppaction://hlinksldjump" r:id="rId2"/>
          </p:cNvPr>
          <p:cNvCxnSpPr/>
          <p:nvPr/>
        </p:nvCxnSpPr>
        <p:spPr>
          <a:xfrm>
            <a:off x="886968" y="3438144"/>
            <a:ext cx="2212847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hlinkClick action="ppaction://hlinksldjump" r:id="rId2"/>
          </p:cNvPr>
          <p:cNvSpPr txBox="1"/>
          <p:nvPr/>
        </p:nvSpPr>
        <p:spPr>
          <a:xfrm>
            <a:off x="886968" y="3584448"/>
            <a:ext cx="2249424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2B5674"/>
                </a:solidFill>
                <a:latin typeface="Times New Roman"/>
              </a:rPr>
              <a:t>Birlik maydon hosil qilish ishi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816352"/>
            <a:ext cx="164592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483864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483864" y="1874519"/>
            <a:ext cx="50292" cy="2395728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hlinkClick action="ppaction://hlinksldjump" r:id="rId3"/>
          </p:cNvPr>
          <p:cNvSpPr/>
          <p:nvPr/>
        </p:nvSpPr>
        <p:spPr>
          <a:xfrm>
            <a:off x="3685032" y="2075688"/>
            <a:ext cx="438912" cy="43891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>
            <a:hlinkClick action="ppaction://hlinksldjump" r:id="rId3"/>
          </p:cNvPr>
          <p:cNvSpPr txBox="1"/>
          <p:nvPr/>
        </p:nvSpPr>
        <p:spPr>
          <a:xfrm>
            <a:off x="3685032" y="2148840"/>
            <a:ext cx="438912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9" name="TextBox 18">
            <a:hlinkClick action="ppaction://hlinksldjump" r:id="rId3"/>
          </p:cNvPr>
          <p:cNvSpPr txBox="1"/>
          <p:nvPr/>
        </p:nvSpPr>
        <p:spPr>
          <a:xfrm>
            <a:off x="4233672" y="2112264"/>
            <a:ext cx="1682495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TAQSIMOT</a:t>
            </a:r>
          </a:p>
        </p:txBody>
      </p:sp>
      <p:sp>
        <p:nvSpPr>
          <p:cNvPr id="20" name="TextBox 19">
            <a:hlinkClick action="ppaction://hlinksldjump" r:id="rId3"/>
          </p:cNvPr>
          <p:cNvSpPr txBox="1"/>
          <p:nvPr/>
        </p:nvSpPr>
        <p:spPr>
          <a:xfrm>
            <a:off x="3685032" y="2724912"/>
            <a:ext cx="22311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2B3A"/>
                </a:solidFill>
                <a:latin typeface="Times New Roman"/>
              </a:rPr>
              <a:t>Modda sirtga yig‘iladimi?</a:t>
            </a:r>
          </a:p>
        </p:txBody>
      </p:sp>
      <p:cxnSp>
        <p:nvCxnSpPr>
          <p:cNvPr id="21" name="Connector 20">
            <a:hlinkClick action="ppaction://hlinksldjump" r:id="rId3"/>
          </p:cNvPr>
          <p:cNvCxnSpPr/>
          <p:nvPr/>
        </p:nvCxnSpPr>
        <p:spPr>
          <a:xfrm>
            <a:off x="3685032" y="3438144"/>
            <a:ext cx="2212848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hlinkClick action="ppaction://hlinksldjump" r:id="rId3"/>
          </p:cNvPr>
          <p:cNvSpPr txBox="1"/>
          <p:nvPr/>
        </p:nvSpPr>
        <p:spPr>
          <a:xfrm>
            <a:off x="3685032" y="3584448"/>
            <a:ext cx="2249424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>
                <a:solidFill>
                  <a:srgbClr val="1D6D75"/>
                </a:solidFill>
                <a:latin typeface="Times New Roman"/>
              </a:rPr>
              <a:t>Sirt ortiqchasi va tarkib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7336" y="2816352"/>
            <a:ext cx="164592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24" name="Rounded Rectangle 23">
            <a:hlinkClick action="ppaction://hlinksldjump" r:id="rId4"/>
          </p:cNvPr>
          <p:cNvSpPr/>
          <p:nvPr/>
        </p:nvSpPr>
        <p:spPr>
          <a:xfrm>
            <a:off x="6281928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>
            <a:hlinkClick action="ppaction://hlinksldjump" r:id="rId4"/>
          </p:cNvPr>
          <p:cNvSpPr/>
          <p:nvPr/>
        </p:nvSpPr>
        <p:spPr>
          <a:xfrm>
            <a:off x="6281928" y="1874519"/>
            <a:ext cx="50292" cy="239572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>
            <a:hlinkClick action="ppaction://hlinksldjump" r:id="rId4"/>
          </p:cNvPr>
          <p:cNvSpPr/>
          <p:nvPr/>
        </p:nvSpPr>
        <p:spPr>
          <a:xfrm>
            <a:off x="6483096" y="2075688"/>
            <a:ext cx="438912" cy="438912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>
            <a:hlinkClick action="ppaction://hlinksldjump" r:id="rId4"/>
          </p:cNvPr>
          <p:cNvSpPr txBox="1"/>
          <p:nvPr/>
        </p:nvSpPr>
        <p:spPr>
          <a:xfrm>
            <a:off x="6483096" y="2148840"/>
            <a:ext cx="438912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28" name="TextBox 27">
            <a:hlinkClick action="ppaction://hlinksldjump" r:id="rId4"/>
          </p:cNvPr>
          <p:cNvSpPr txBox="1"/>
          <p:nvPr/>
        </p:nvSpPr>
        <p:spPr>
          <a:xfrm>
            <a:off x="7031736" y="2112264"/>
            <a:ext cx="1682495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MODEL</a:t>
            </a:r>
          </a:p>
        </p:txBody>
      </p:sp>
      <p:sp>
        <p:nvSpPr>
          <p:cNvPr id="29" name="TextBox 28">
            <a:hlinkClick action="ppaction://hlinksldjump" r:id="rId4"/>
          </p:cNvPr>
          <p:cNvSpPr txBox="1"/>
          <p:nvPr/>
        </p:nvSpPr>
        <p:spPr>
          <a:xfrm>
            <a:off x="6483096" y="2724912"/>
            <a:ext cx="22311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72B3A"/>
                </a:solidFill>
                <a:latin typeface="Times New Roman"/>
              </a:rPr>
              <a:t>Bir qavatmi yoki ko‘p qavatmi?</a:t>
            </a:r>
          </a:p>
        </p:txBody>
      </p:sp>
      <p:cxnSp>
        <p:nvCxnSpPr>
          <p:cNvPr id="30" name="Connector 29">
            <a:hlinkClick action="ppaction://hlinksldjump" r:id="rId4"/>
          </p:cNvPr>
          <p:cNvCxnSpPr/>
          <p:nvPr/>
        </p:nvCxnSpPr>
        <p:spPr>
          <a:xfrm>
            <a:off x="6483096" y="3438144"/>
            <a:ext cx="2212848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hlinkClick action="ppaction://hlinksldjump" r:id="rId4"/>
          </p:cNvPr>
          <p:cNvSpPr txBox="1"/>
          <p:nvPr/>
        </p:nvSpPr>
        <p:spPr>
          <a:xfrm>
            <a:off x="6483096" y="3584448"/>
            <a:ext cx="2249424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 u="none">
                <a:solidFill>
                  <a:srgbClr val="977742"/>
                </a:solidFill>
                <a:latin typeface="Times New Roman"/>
              </a:rPr>
              <a:t>Langmuir • Freundlich • BET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2816352"/>
            <a:ext cx="164592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 u="none">
                <a:solidFill>
                  <a:srgbClr val="536879"/>
                </a:solidFill>
                <a:latin typeface="Times New Roman"/>
              </a:rPr>
              <a:t>→</a:t>
            </a:r>
          </a:p>
        </p:txBody>
      </p:sp>
      <p:sp>
        <p:nvSpPr>
          <p:cNvPr id="33" name="Rounded Rectangle 32">
            <a:hlinkClick action="ppaction://hlinksldjump" r:id="rId5"/>
          </p:cNvPr>
          <p:cNvSpPr/>
          <p:nvPr/>
        </p:nvSpPr>
        <p:spPr>
          <a:xfrm>
            <a:off x="9079992" y="1874519"/>
            <a:ext cx="2615184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5"/>
          </p:cNvPr>
          <p:cNvSpPr/>
          <p:nvPr/>
        </p:nvSpPr>
        <p:spPr>
          <a:xfrm>
            <a:off x="9079992" y="1874519"/>
            <a:ext cx="50292" cy="2395728"/>
          </a:xfrm>
          <a:prstGeom prst="rect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>
            <a:hlinkClick action="ppaction://hlinksldjump" r:id="rId5"/>
          </p:cNvPr>
          <p:cNvSpPr/>
          <p:nvPr/>
        </p:nvSpPr>
        <p:spPr>
          <a:xfrm>
            <a:off x="9281160" y="2075688"/>
            <a:ext cx="438912" cy="438912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>
            <a:hlinkClick action="ppaction://hlinksldjump" r:id="rId5"/>
          </p:cNvPr>
          <p:cNvSpPr txBox="1"/>
          <p:nvPr/>
        </p:nvSpPr>
        <p:spPr>
          <a:xfrm>
            <a:off x="9281160" y="2148840"/>
            <a:ext cx="438912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37" name="TextBox 36">
            <a:hlinkClick action="ppaction://hlinksldjump" r:id="rId5"/>
          </p:cNvPr>
          <p:cNvSpPr txBox="1"/>
          <p:nvPr/>
        </p:nvSpPr>
        <p:spPr>
          <a:xfrm>
            <a:off x="9829800" y="2112264"/>
            <a:ext cx="1682495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DALIL</a:t>
            </a:r>
          </a:p>
        </p:txBody>
      </p:sp>
      <p:sp>
        <p:nvSpPr>
          <p:cNvPr id="38" name="TextBox 37">
            <a:hlinkClick action="ppaction://hlinksldjump" r:id="rId5"/>
          </p:cNvPr>
          <p:cNvSpPr txBox="1"/>
          <p:nvPr/>
        </p:nvSpPr>
        <p:spPr>
          <a:xfrm>
            <a:off x="9281160" y="2724912"/>
            <a:ext cx="22311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72B3A"/>
                </a:solidFill>
                <a:latin typeface="Times New Roman"/>
              </a:rPr>
              <a:t>Model ma’lumotga
mos keladimi?</a:t>
            </a:r>
          </a:p>
        </p:txBody>
      </p:sp>
      <p:cxnSp>
        <p:nvCxnSpPr>
          <p:cNvPr id="39" name="Connector 38">
            <a:hlinkClick action="ppaction://hlinksldjump" r:id="rId5"/>
          </p:cNvPr>
          <p:cNvCxnSpPr/>
          <p:nvPr/>
        </p:nvCxnSpPr>
        <p:spPr>
          <a:xfrm>
            <a:off x="9281160" y="3438144"/>
            <a:ext cx="2212847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5"/>
          </p:cNvPr>
          <p:cNvSpPr txBox="1"/>
          <p:nvPr/>
        </p:nvSpPr>
        <p:spPr>
          <a:xfrm>
            <a:off x="9281160" y="3584448"/>
            <a:ext cx="2249424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>
                <a:solidFill>
                  <a:srgbClr val="657D8E"/>
                </a:solidFill>
                <a:latin typeface="Times New Roman"/>
              </a:rPr>
              <a:t>Takroriy o‘lchov + xatolik + tekshiruv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94944" y="4617720"/>
            <a:ext cx="10835640" cy="1078992"/>
          </a:xfrm>
          <a:prstGeom prst="roundRect">
            <a:avLst/>
          </a:prstGeom>
          <a:solidFill>
            <a:srgbClr val="EFF3F6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4944" y="4617720"/>
            <a:ext cx="50292" cy="107899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6" y="4809744"/>
            <a:ext cx="1591056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5674"/>
                </a:solidFill>
                <a:latin typeface="Times New Roman"/>
              </a:rPr>
              <a:t>ASOSIY MAQSAD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80" y="4764024"/>
            <a:ext cx="8641080" cy="594360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400" b="0">
                <a:solidFill>
                  <a:srgbClr val="172B3A"/>
                </a:solidFill>
                <a:latin typeface="Times New Roman"/>
              </a:rPr>
              <a:t>Sirt hodisalarining sababini tushuntirish, adsorbsiya modellarini farqlash va o‘lchov natijalarini ehtiyotkor talqin qilish.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02 / 17</a:t>
            </a:r>
          </a:p>
        </p:txBody>
      </p:sp>
      <p:sp>
        <p:nvSpPr>
          <p:cNvPr id="49" name="TextBox 48">
            <a:hlinkClick action="ppaction://hlinksldjump" r:id="rId7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50" name="TextBox 49">
            <a:hlinkClick action="ppaction://hlinksldjump" r:id="rId8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51" name="TextBox 50">
            <a:hlinkClick action="ppaction://hlinksldjump" r:id="rId2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5" name="Picture 44" descr="slide_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02 / TERMODINAMIKA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Sirt qatlamida kuchlar muvozanati buziladi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Suyuqlik ichidagi molekulaga kuchlar deyarli teng ta’sir qiladi. Sirt molekulasini esa suyuqlik ichkarisiga kuchliroq tortadi.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673352"/>
            <a:ext cx="5166360" cy="4526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673352"/>
            <a:ext cx="50292" cy="4526280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01952"/>
            <a:ext cx="45720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B5674"/>
                </a:solidFill>
                <a:latin typeface="Times New Roman"/>
              </a:rPr>
              <a:t>MOLEKULALARARO KUCHLAR</a:t>
            </a:r>
          </a:p>
        </p:txBody>
      </p:sp>
      <p:sp>
        <p:nvSpPr>
          <p:cNvPr id="9" name="Oval 8"/>
          <p:cNvSpPr/>
          <p:nvPr/>
        </p:nvSpPr>
        <p:spPr>
          <a:xfrm>
            <a:off x="1600200" y="2962656"/>
            <a:ext cx="502920" cy="502920"/>
          </a:xfrm>
          <a:prstGeom prst="ellipse">
            <a:avLst/>
          </a:prstGeom>
          <a:solidFill>
            <a:srgbClr val="183B5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V="1">
            <a:off x="1847088" y="2719425"/>
            <a:ext cx="0" cy="490119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47088" y="3209544"/>
            <a:ext cx="0" cy="490118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356969" y="3209544"/>
            <a:ext cx="490119" cy="0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47088" y="3209544"/>
            <a:ext cx="490118" cy="0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1497878" y="2860334"/>
            <a:ext cx="349210" cy="349210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847088" y="2860334"/>
            <a:ext cx="349209" cy="349210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497878" y="3209544"/>
            <a:ext cx="349210" cy="349209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47088" y="3209544"/>
            <a:ext cx="349209" cy="349209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87552" y="3721608"/>
            <a:ext cx="16459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1">
                <a:solidFill>
                  <a:srgbClr val="10283F"/>
                </a:solidFill>
                <a:latin typeface="Times New Roman"/>
              </a:rPr>
              <a:t>HAJMDA
kuchlar tenglashadi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2624328"/>
            <a:ext cx="2423160" cy="2029968"/>
          </a:xfrm>
          <a:prstGeom prst="roundRect">
            <a:avLst/>
          </a:prstGeom>
          <a:solidFill>
            <a:srgbClr val="EFF3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2962656" y="2798064"/>
            <a:ext cx="2423160" cy="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3858768" y="2496312"/>
            <a:ext cx="475488" cy="47548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H="1" flipV="1">
            <a:off x="3529584" y="2350008"/>
            <a:ext cx="566928" cy="384048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096512" y="2350008"/>
            <a:ext cx="566928" cy="384048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456432" y="2734056"/>
            <a:ext cx="640080" cy="137160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096512" y="2734056"/>
            <a:ext cx="640080" cy="137160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096512" y="2862072"/>
            <a:ext cx="0" cy="475488"/>
          </a:xfrm>
          <a:prstGeom prst="line">
            <a:avLst/>
          </a:prstGeom>
          <a:ln w="3302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90672" y="3968496"/>
            <a:ext cx="2176272" cy="4754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1">
                <a:solidFill>
                  <a:srgbClr val="657D8E"/>
                </a:solidFill>
                <a:latin typeface="Times New Roman"/>
              </a:rPr>
              <a:t>SIRTDA
yig‘indi kuch ichkariga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4626864" cy="594360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00" b="0">
                <a:solidFill>
                  <a:srgbClr val="536879"/>
                </a:solidFill>
                <a:latin typeface="Times New Roman"/>
              </a:rPr>
              <a:t>Sirt yuzasini kengaytirish uchun erkin energiya sarflanadi.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4768" y="1673352"/>
            <a:ext cx="5349240" cy="1828800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938528"/>
            <a:ext cx="4800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ACBC6"/>
                </a:solidFill>
                <a:latin typeface="Times New Roman"/>
              </a:rPr>
              <a:t>ERKIN ENERGIYANING O‘ZGARISHI</a:t>
            </a:r>
          </a:p>
        </p:txBody>
      </p:sp>
      <p:pic>
        <p:nvPicPr>
          <p:cNvPr id="42" name="Picture 41" descr="s03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2395728"/>
            <a:ext cx="4754880" cy="457200"/>
          </a:xfrm>
          <a:prstGeom prst="rect">
            <a:avLst/>
          </a:prstGeom>
        </p:spPr>
      </p:pic>
      <p:pic>
        <p:nvPicPr>
          <p:cNvPr id="43" name="Picture 42" descr="s03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0808" y="2953512"/>
            <a:ext cx="2240280" cy="329184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144768" y="3730752"/>
            <a:ext cx="5349240" cy="2468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3730752"/>
            <a:ext cx="50292" cy="246888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3986784"/>
            <a:ext cx="47000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MUHIM TALQIN</a:t>
            </a:r>
          </a:p>
        </p:txBody>
      </p:sp>
      <p:pic>
        <p:nvPicPr>
          <p:cNvPr id="44" name="Picture 43" descr="s03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4407408"/>
            <a:ext cx="4681728" cy="603504"/>
          </a:xfrm>
          <a:prstGeom prst="rect">
            <a:avLst/>
          </a:prstGeom>
        </p:spPr>
      </p:pic>
      <p:cxnSp>
        <p:nvCxnSpPr>
          <p:cNvPr id="37" name="Connector 36"/>
          <p:cNvCxnSpPr/>
          <p:nvPr/>
        </p:nvCxnSpPr>
        <p:spPr>
          <a:xfrm>
            <a:off x="6492240" y="5138928"/>
            <a:ext cx="461772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437376" y="5330952"/>
            <a:ext cx="4663440" cy="61264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/>
            <a:r>
              <a:rPr sz="1120" b="0">
                <a:solidFill>
                  <a:srgbClr val="536879"/>
                </a:solidFill>
                <a:latin typeface="Times New Roman"/>
              </a:rPr>
              <a:t>Suyuqlik–gaz chegarasida sirt tarangligi nyuton/metr bilan o‘lchanadi; son jihatdan joul/kvadrat metrga teng.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03 / 17</a:t>
            </a:r>
          </a:p>
        </p:txBody>
      </p:sp>
      <p:sp>
        <p:nvSpPr>
          <p:cNvPr id="46" name="TextBox 45">
            <a:hlinkClick action="ppaction://hlinksldjump" r:id="rId6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7" name="TextBox 46">
            <a:hlinkClick action="ppaction://hlinksldjump" r:id="rId6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48" name="TextBox 47">
            <a:hlinkClick action="ppaction://hlinksldjump" r:id="rId7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19088" y="2944368"/>
            <a:ext cx="2240280" cy="310896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r>
              <a:rPr sz="980">
                <a:solidFill>
                  <a:srgbClr val="E2E9EE"/>
                </a:solidFill>
                <a:latin typeface="Times New Roman"/>
              </a:rPr>
              <a:t>T, P va tarkib o‘zgarmas bo‘lganda: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2" name="Picture 91" descr="slid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03 / SIRT TARANGLIGI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Yangi sirt hosil qilish uchun energiya kerak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Harorat va eritma tarkibi suyuqlik sirtining xossalarini o‘zgartiradi; qattiq jismning namlanishi esa alohida xususiyatdir.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00784"/>
            <a:ext cx="5577840" cy="4370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261872" y="5559552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5477256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1872" y="4652010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456971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61872" y="3744468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3662172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61872" y="2836926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49808" y="275463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61872" y="1929384"/>
            <a:ext cx="480974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8" y="184708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61872" y="1929384"/>
            <a:ext cx="0" cy="3630168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61872" y="5559552"/>
            <a:ext cx="4809744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61872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64308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226563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4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29000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69179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631436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71616" y="5559552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833872" y="5632704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5797296"/>
            <a:ext cx="5257800" cy="1463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>
                <a:solidFill>
                  <a:srgbClr val="536879"/>
                </a:solidFill>
                <a:latin typeface="Times New Roman"/>
              </a:rPr>
              <a:t>Harorat / kritik harorat</a:t>
            </a:r>
          </a:p>
        </p:txBody>
      </p:sp>
      <p:pic>
        <p:nvPicPr>
          <p:cNvPr id="96" name="Picture 95" descr="Matematik belgi: γ/γ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1911096"/>
            <a:ext cx="457200" cy="164592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1261872" y="1929384"/>
            <a:ext cx="117310" cy="6573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379182" y="1995114"/>
            <a:ext cx="117311" cy="6615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496493" y="2061272"/>
            <a:ext cx="117311" cy="6660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613804" y="2127873"/>
            <a:ext cx="117311" cy="6705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31115" y="2194932"/>
            <a:ext cx="117311" cy="67532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848426" y="2262464"/>
            <a:ext cx="117310" cy="6802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65736" y="2330485"/>
            <a:ext cx="117311" cy="6852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83047" y="2399013"/>
            <a:ext cx="117311" cy="69055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200358" y="2468068"/>
            <a:ext cx="117311" cy="6960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17669" y="2537668"/>
            <a:ext cx="117311" cy="7016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34980" y="2607837"/>
            <a:ext cx="117311" cy="7076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52291" y="2678597"/>
            <a:ext cx="117310" cy="71376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669601" y="2749973"/>
            <a:ext cx="117311" cy="7201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786912" y="2821992"/>
            <a:ext cx="117311" cy="7269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904223" y="2894683"/>
            <a:ext cx="117311" cy="7339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21534" y="2968077"/>
            <a:ext cx="117311" cy="74132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138845" y="3042209"/>
            <a:ext cx="117311" cy="7490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256156" y="3117117"/>
            <a:ext cx="117310" cy="75723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373466" y="3192840"/>
            <a:ext cx="117311" cy="76585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490777" y="3269425"/>
            <a:ext cx="117311" cy="77496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08088" y="3346921"/>
            <a:ext cx="117311" cy="7846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3725399" y="3425382"/>
            <a:ext cx="117311" cy="7948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2710" y="3504871"/>
            <a:ext cx="117311" cy="8058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60021" y="3585455"/>
            <a:ext cx="117310" cy="8175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077331" y="3667213"/>
            <a:ext cx="117311" cy="8301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194642" y="3750231"/>
            <a:ext cx="117311" cy="8438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311953" y="3834611"/>
            <a:ext cx="117311" cy="85856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429264" y="3920467"/>
            <a:ext cx="117311" cy="87467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546575" y="4007934"/>
            <a:ext cx="117311" cy="89236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663886" y="4097170"/>
            <a:ext cx="117310" cy="91193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781196" y="4188363"/>
            <a:ext cx="117311" cy="93377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898507" y="4281740"/>
            <a:ext cx="117311" cy="95842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015818" y="4377582"/>
            <a:ext cx="117311" cy="98658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33129" y="4476240"/>
            <a:ext cx="117311" cy="101927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250440" y="4578167"/>
            <a:ext cx="117311" cy="105799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367751" y="4683966"/>
            <a:ext cx="117310" cy="110510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5485061" y="4794476"/>
            <a:ext cx="117311" cy="11645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602372" y="4910930"/>
            <a:ext cx="117311" cy="12437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719683" y="5035304"/>
            <a:ext cx="117311" cy="135893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836994" y="5171197"/>
            <a:ext cx="117311" cy="155831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954305" y="5327028"/>
            <a:ext cx="117311" cy="232524"/>
          </a:xfrm>
          <a:prstGeom prst="line">
            <a:avLst/>
          </a:prstGeom>
          <a:ln w="355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6016752" y="5504688"/>
            <a:ext cx="109728" cy="10972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1938528"/>
            <a:ext cx="43891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36879"/>
                </a:solidFill>
                <a:latin typeface="Times New Roman"/>
              </a:rPr>
              <a:t>Sifat jihatdan ko‘rsatilgan; o‘lchov natijasi emas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47104" y="1700784"/>
            <a:ext cx="4937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47104" y="1700784"/>
            <a:ext cx="50292" cy="1024128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93992" y="1883664"/>
            <a:ext cx="440740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HARORAT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93992" y="2203704"/>
            <a:ext cx="4389120" cy="34747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72B3A"/>
                </a:solidFill>
                <a:latin typeface="Times New Roman"/>
              </a:rPr>
              <a:t>Ko‘p suyuqliklarda qizdirish sirt tarangligini kamaytiradi; kritik haroratda u nolga intiladi.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547104" y="2898648"/>
            <a:ext cx="4937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47104" y="2898648"/>
            <a:ext cx="50292" cy="102412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93992" y="3072384"/>
            <a:ext cx="440740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5674"/>
                </a:solidFill>
                <a:latin typeface="Times New Roman"/>
              </a:rPr>
              <a:t>YUNG TENGLAMASI</a:t>
            </a:r>
          </a:p>
        </p:txBody>
      </p:sp>
      <p:pic>
        <p:nvPicPr>
          <p:cNvPr id="91" name="Picture 90" descr="s04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3401568"/>
            <a:ext cx="4389120" cy="365760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6547104" y="4096512"/>
            <a:ext cx="4937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547104" y="4096512"/>
            <a:ext cx="50292" cy="102412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793992" y="4270248"/>
            <a:ext cx="440740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977742"/>
                </a:solidFill>
                <a:latin typeface="Times New Roman"/>
              </a:rPr>
              <a:t>ANTONOV QOIDASI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93992" y="4599432"/>
            <a:ext cx="4389120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172B3A"/>
                </a:solidFill>
                <a:latin typeface="Times New Roman"/>
              </a:rPr>
              <a:t>Antonov qoidasi ayrim, cheklangan aralashuvchi suyuqliklar uchun taxminiy yaqinlashuvdir; u universal qonun emas.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565392" y="5385816"/>
            <a:ext cx="4892040" cy="512064"/>
          </a:xfrm>
          <a:prstGeom prst="roundRect">
            <a:avLst/>
          </a:prstGeom>
          <a:solidFill>
            <a:srgbClr val="F3F5F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57416" y="5522976"/>
            <a:ext cx="4507992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36879"/>
                </a:solidFill>
                <a:latin typeface="Times New Roman"/>
              </a:rPr>
              <a:t>20 °C da suv–havo sirt tarangligi taxminan 72,8 mN/m.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04 / 17</a:t>
            </a:r>
          </a:p>
        </p:txBody>
      </p:sp>
      <p:sp>
        <p:nvSpPr>
          <p:cNvPr id="93" name="TextBox 92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94" name="TextBox 93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95" name="TextBox 94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9" name="Picture 38" descr="slide_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04 / EGRI SIRTLAR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Egrilik tomchi va g‘ovak ichidagi bosimga ta’sir qiladi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Egrilik bosimlar farqini yuzaga keltiradi; g‘ovak ichidagi bug‘ning kondensatsiyasi ham shu ta’sir bilan izohlanadi.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09928"/>
            <a:ext cx="4645152" cy="44622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709928"/>
            <a:ext cx="50292" cy="446227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38528"/>
            <a:ext cx="411480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5674"/>
                </a:solidFill>
                <a:latin typeface="Times New Roman"/>
              </a:rPr>
              <a:t>LAPLAS BOSIMI</a:t>
            </a:r>
          </a:p>
        </p:txBody>
      </p:sp>
      <p:pic>
        <p:nvPicPr>
          <p:cNvPr id="36" name="Picture 35" descr="s05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313432"/>
            <a:ext cx="4133087" cy="5029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1325880" y="3127248"/>
            <a:ext cx="1078992" cy="1078992"/>
          </a:xfrm>
          <a:prstGeom prst="ellipse">
            <a:avLst/>
          </a:prstGeom>
          <a:solidFill>
            <a:srgbClr val="EFF3F6"/>
          </a:solidFill>
          <a:ln w="1651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36776" y="3438144"/>
            <a:ext cx="457200" cy="457200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865376" y="3666744"/>
            <a:ext cx="621792" cy="0"/>
          </a:xfrm>
          <a:prstGeom prst="line">
            <a:avLst/>
          </a:prstGeom>
          <a:ln w="1778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79576" y="4334256"/>
            <a:ext cx="137160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30" b="1">
                <a:solidFill>
                  <a:srgbClr val="10283F"/>
                </a:solidFill>
                <a:latin typeface="Times New Roman"/>
              </a:rPr>
              <a:t>Tomchi ichida bosim katta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36976" y="3063240"/>
            <a:ext cx="1133856" cy="1572768"/>
          </a:xfrm>
          <a:prstGeom prst="rect">
            <a:avLst/>
          </a:prstGeom>
          <a:solidFill>
            <a:srgbClr val="F7F9FB"/>
          </a:solidFill>
          <a:ln w="1270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4992" y="3703320"/>
            <a:ext cx="877824" cy="804672"/>
          </a:xfrm>
          <a:prstGeom prst="rect">
            <a:avLst/>
          </a:prstGeom>
          <a:solidFill>
            <a:srgbClr val="CADDD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364992" y="3712463"/>
            <a:ext cx="155448" cy="109728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520440" y="3822191"/>
            <a:ext cx="246888" cy="54865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3767328" y="3822191"/>
            <a:ext cx="256032" cy="54865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023360" y="3712463"/>
            <a:ext cx="219456" cy="109728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08960" y="4544568"/>
            <a:ext cx="141732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0283F"/>
                </a:solidFill>
                <a:latin typeface="Times New Roman"/>
              </a:rPr>
              <a:t>Botiq menisk
kapillyar ko‘tarilish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" y="5330952"/>
            <a:ext cx="411480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0">
                <a:solidFill>
                  <a:srgbClr val="536879"/>
                </a:solidFill>
                <a:latin typeface="Times New Roman"/>
              </a:rPr>
              <a:t>Pufakda ikki sirt bor: bosim farqi tomchinikidan ikki baravar katta. Kapillyar ko‘tarilish sirt tarangligi, kontakt burchagi va naycha radiusiga bog‘liq.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1709928"/>
            <a:ext cx="5870448" cy="1947672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16168" y="1956816"/>
            <a:ext cx="53035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ACBC6"/>
                </a:solidFill>
                <a:latin typeface="Times New Roman"/>
              </a:rPr>
              <a:t>KELVIN MUNOSABATI</a:t>
            </a:r>
          </a:p>
        </p:txBody>
      </p:sp>
      <p:pic>
        <p:nvPicPr>
          <p:cNvPr id="37" name="Picture 36" descr="s05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2395728"/>
            <a:ext cx="5394960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0" y="2999232"/>
            <a:ext cx="5285232" cy="35661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E2E9EE"/>
                </a:solidFill>
                <a:latin typeface="Times New Roman"/>
              </a:rPr>
              <a:t>Sirt qavariq yoki botiq bo‘lishiga qarab bug‘ bosimi ortadi yoki kamayadi.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23560" y="3904487"/>
            <a:ext cx="5870448" cy="22677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23560" y="3904487"/>
            <a:ext cx="50292" cy="2267712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25312" y="4133087"/>
            <a:ext cx="5230368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NAMLOVCHI SILINDRSIMON G‘OVAK UCHUN</a:t>
            </a:r>
          </a:p>
        </p:txBody>
      </p:sp>
      <p:pic>
        <p:nvPicPr>
          <p:cNvPr id="38" name="Picture 37" descr="s05_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0448" y="4535424"/>
            <a:ext cx="5321808" cy="5120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0" y="5175504"/>
            <a:ext cx="5257800" cy="6035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36879"/>
                </a:solidFill>
                <a:latin typeface="Times New Roman"/>
              </a:rPr>
              <a:t>Namlanadigan silindrsimon g‘ovakda bug‘ to‘yingan bosimga yetmasdan suyuqlikka aylanishi mumkin. G‘ovak tarmog‘i murakkab bo‘lsa, to‘lish va bo‘shash yo‘llari farqlanadi.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05 / 17</a:t>
            </a:r>
          </a:p>
        </p:txBody>
      </p:sp>
      <p:pic>
        <p:nvPicPr>
          <p:cNvPr id="34" name="Picture 33" descr="curvature_wetting.png"/>
          <p:cNvPicPr>
            <a:picLocks noChangeAspect="1"/>
          </p:cNvPicPr>
          <p:nvPr/>
        </p:nvPicPr>
        <p:blipFill>
          <a:blip r:embed="rId2"/>
          <a:srcRect l="8120" r="8120"/>
          <a:stretch>
            <a:fillRect/>
          </a:stretch>
        </p:blipFill>
        <p:spPr>
          <a:xfrm>
            <a:off x="914400" y="2990088"/>
            <a:ext cx="4224528" cy="2139696"/>
          </a:xfrm>
          <a:prstGeom prst="rect">
            <a:avLst/>
          </a:prstGeom>
          <a:ln>
            <a:solidFill/>
          </a:ln>
        </p:spPr>
      </p:pic>
      <p:sp>
        <p:nvSpPr>
          <p:cNvPr id="35" name="Rectangle 34"/>
          <p:cNvSpPr/>
          <p:nvPr/>
        </p:nvSpPr>
        <p:spPr>
          <a:xfrm>
            <a:off x="914400" y="2990088"/>
            <a:ext cx="4224528" cy="2139696"/>
          </a:xfrm>
          <a:prstGeom prst="rect">
            <a:avLst/>
          </a:prstGeom>
          <a:noFill/>
          <a:ln w="1143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>
            <a:hlinkClick action="ppaction://hlinksldjump" r:id="rId7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1" name="TextBox 40">
            <a:hlinkClick action="ppaction://hlinksldjump" r:id="rId8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42" name="TextBox 41">
            <a:hlinkClick action="ppaction://hlinksldjump" r:id="rId9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69" name="Picture 68" descr="slid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05 / GIBBS ADSORBSIYASI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600" b="1">
                <a:solidFill>
                  <a:srgbClr val="10283F"/>
                </a:solidFill>
                <a:latin typeface="Times New Roman"/>
              </a:rPr>
              <a:t>Gibbs sirt ortiqchasi sirtga boyishni ko‘rsatadi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Gibbsning shartli ajratuvchi sirti bo‘yicha hisoblanadigan ortiqcha miqdor; bu adsorblangan molekulalarning mutlaq soni emas.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28216"/>
            <a:ext cx="5074920" cy="1344168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29384"/>
            <a:ext cx="45262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1">
                <a:solidFill>
                  <a:srgbClr val="9ACBC6"/>
                </a:solidFill>
                <a:latin typeface="Times New Roman"/>
              </a:rPr>
              <a:t>IONLARGA AJRALMAYDIGAN MODDA; T, p O‘ZGARMAS</a:t>
            </a:r>
          </a:p>
        </p:txBody>
      </p:sp>
      <p:pic>
        <p:nvPicPr>
          <p:cNvPr id="68" name="Picture 67" descr="s06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313432"/>
            <a:ext cx="4590288" cy="4754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3310128"/>
            <a:ext cx="5074920" cy="26974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3310128"/>
            <a:ext cx="50292" cy="269748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538728"/>
            <a:ext cx="45720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BU TENGLAMA NIMANI BILDIRADI?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3950208"/>
            <a:ext cx="4526280" cy="17373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70">
                <a:solidFill>
                  <a:srgbClr val="172B3A"/>
                </a:solidFill>
                <a:latin typeface="Times New Roman"/>
              </a:rPr>
              <a:t>•  Sirt ortiqchasi musbat bo‘lsa, modda chegarada ko‘proq bo‘ladi.
•  Sirt-faol modda ko‘payganda sirt tarangligi odatda kamayadi.
•  Suyultirilgan eritmada konsentratsiya hosilasi qo‘llanadi.
•  Tuzli eritmada ionlarning ajralishi va zaryadi hisobga olinadi.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728216"/>
            <a:ext cx="5394960" cy="4279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80760" y="1728216"/>
            <a:ext cx="50292" cy="427939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1938528"/>
            <a:ext cx="480060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7742"/>
                </a:solidFill>
                <a:latin typeface="Times New Roman"/>
              </a:rPr>
              <a:t>SIRT-FAOL MOLEKULANING TUZILISHI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55664" y="3849624"/>
            <a:ext cx="4572000" cy="1618488"/>
          </a:xfrm>
          <a:prstGeom prst="roundRect">
            <a:avLst/>
          </a:prstGeom>
          <a:solidFill>
            <a:srgbClr val="EFF4F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455664" y="3849624"/>
            <a:ext cx="4572000" cy="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858000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6967728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6858000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967728" y="3310128"/>
            <a:ext cx="109728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671816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7781544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7671816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781544" y="3310128"/>
            <a:ext cx="109727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8485632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8595360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8485632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595360" y="3310128"/>
            <a:ext cx="109728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9299448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9409176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9299448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409176" y="3310128"/>
            <a:ext cx="109727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113264" y="3822192"/>
            <a:ext cx="219456" cy="219456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10222992" y="3236976"/>
            <a:ext cx="0" cy="566928"/>
          </a:xfrm>
          <a:prstGeom prst="line">
            <a:avLst/>
          </a:prstGeom>
          <a:ln w="2794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0113264" y="3410712"/>
            <a:ext cx="109728" cy="118872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222992" y="3310128"/>
            <a:ext cx="109727" cy="109728"/>
          </a:xfrm>
          <a:prstGeom prst="line">
            <a:avLst/>
          </a:prstGeom>
          <a:ln w="1270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6726783" y="4645152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812280" y="4645152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6769531" y="4602403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694093" y="469041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70115" y="469041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H="1">
            <a:off x="7577175" y="5166360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662672" y="5166360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619923" y="5123611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544485" y="521162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720507" y="521162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H="1">
            <a:off x="8528151" y="4599432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13648" y="4599432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570899" y="4556683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495461" y="464469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671483" y="4644694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H="1">
            <a:off x="9469983" y="5138928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555480" y="5138928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9512731" y="5096179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437293" y="518419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613315" y="5184190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H="1">
            <a:off x="10420959" y="4617720"/>
            <a:ext cx="85497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0506456" y="4617720"/>
            <a:ext cx="85496" cy="60350"/>
          </a:xfrm>
          <a:prstGeom prst="line">
            <a:avLst/>
          </a:prstGeom>
          <a:ln w="1778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463707" y="4574971"/>
            <a:ext cx="85496" cy="85496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388269" y="466298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564291" y="4662982"/>
            <a:ext cx="60350" cy="60350"/>
          </a:xfrm>
          <a:prstGeom prst="ellipse">
            <a:avLst/>
          </a:prstGeom>
          <a:solidFill>
            <a:srgbClr val="FFFFFF"/>
          </a:solidFill>
          <a:ln w="6350">
            <a:solidFill>
              <a:srgbClr val="BD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47104" y="2761488"/>
            <a:ext cx="438912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>
                <a:solidFill>
                  <a:srgbClr val="172B3A"/>
                </a:solidFill>
                <a:latin typeface="Times New Roman"/>
              </a:rPr>
              <a:t>Suvga moyil bosh qism suvda qoladi, suvdan qochuvchi zanjir esa havoga qaraydi; shu bois molekula sirtga yig‘iladi.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0" y="5596128"/>
            <a:ext cx="425196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40" b="0">
                <a:solidFill>
                  <a:srgbClr val="536879"/>
                </a:solidFill>
                <a:latin typeface="Times New Roman"/>
              </a:rPr>
              <a:t>Traube qoidasi — empirik kuzatuv: gomologik qator uzaygani sayin sirt-faollik ko‘pincha ortadi.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06 / 17</a:t>
            </a:r>
          </a:p>
        </p:txBody>
      </p:sp>
      <p:sp>
        <p:nvSpPr>
          <p:cNvPr id="70" name="TextBox 69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71" name="TextBox 70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72" name="TextBox 71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4" name="Picture 53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06 / MEXANIZMLAR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Sorbsiya — sirtga yig‘ilish va hajmga yutilishni qamrab oladi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Jarayonni faqat egri chiziq shakliga qarab aniqlab bo‘lmaydi: faza, bog‘lanish va qaytarilish ham tekshiriladi.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47088"/>
            <a:ext cx="50292" cy="353872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73352" y="2139696"/>
            <a:ext cx="694944" cy="694944"/>
          </a:xfrm>
          <a:prstGeom prst="ellipse">
            <a:avLst/>
          </a:prstGeom>
          <a:solidFill>
            <a:srgbClr val="EFF3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819656" y="2532888"/>
            <a:ext cx="557784" cy="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842516" y="2359152"/>
            <a:ext cx="100584" cy="100584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61972" y="2359152"/>
            <a:ext cx="100584" cy="100584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1427" y="2359152"/>
            <a:ext cx="100584" cy="100584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2808" y="2212848"/>
            <a:ext cx="0" cy="146304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112264" y="2212848"/>
            <a:ext cx="0" cy="146304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331720" y="2212848"/>
            <a:ext cx="0" cy="146304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50392" y="3035808"/>
            <a:ext cx="2340864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0" b="1">
                <a:solidFill>
                  <a:srgbClr val="10283F"/>
                </a:solidFill>
                <a:latin typeface="Times New Roman"/>
              </a:rPr>
              <a:t>FIZIKAVIY
ADSORBSIYA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712463"/>
            <a:ext cx="2249424" cy="96012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Modda fazalar chegarasida to‘planadi. Odatda kuchsiz molekulalararo tortishishlar ustun; jarayon qaytar bo‘lishi mumkin.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" y="4892040"/>
            <a:ext cx="1892807" cy="283464"/>
          </a:xfrm>
          <a:prstGeom prst="roundRect">
            <a:avLst/>
          </a:prstGeom>
          <a:solidFill>
            <a:srgbClr val="EFF3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4905755"/>
            <a:ext cx="1819655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>
                <a:solidFill>
                  <a:srgbClr val="2B5674"/>
                </a:solidFill>
                <a:latin typeface="Times New Roman"/>
              </a:rPr>
              <a:t>Molekulalararo kuchlar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66160" y="1847088"/>
            <a:ext cx="50292" cy="353872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2139696"/>
            <a:ext cx="694944" cy="694944"/>
          </a:xfrm>
          <a:prstGeom prst="ellipse">
            <a:avLst/>
          </a:prstGeom>
          <a:solidFill>
            <a:srgbClr val="F3F5F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82312" y="2331720"/>
            <a:ext cx="164592" cy="164592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38928" y="2331720"/>
            <a:ext cx="164592" cy="164592"/>
          </a:xfrm>
          <a:prstGeom prst="ellipse">
            <a:avLst/>
          </a:prstGeom>
          <a:solidFill>
            <a:srgbClr val="183B5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937760" y="2414016"/>
            <a:ext cx="201168" cy="0"/>
          </a:xfrm>
          <a:prstGeom prst="line">
            <a:avLst/>
          </a:prstGeom>
          <a:ln w="2540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730752" y="3035808"/>
            <a:ext cx="2340864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0283F"/>
                </a:solidFill>
                <a:latin typeface="Times New Roman"/>
              </a:rPr>
              <a:t>KIMYOVIY ADSORBSIYA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712463"/>
            <a:ext cx="2249424" cy="96012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Adsorbat sirt markazi bilan kimyoviy bog‘ hosil qilishi mumkin; tanlab birikish muhim.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59352" y="4892040"/>
            <a:ext cx="1892807" cy="283464"/>
          </a:xfrm>
          <a:prstGeom prst="roundRect">
            <a:avLst/>
          </a:prstGeom>
          <a:solidFill>
            <a:srgbClr val="F3F5F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95928" y="4905755"/>
            <a:ext cx="1819655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>
                <a:solidFill>
                  <a:srgbClr val="977742"/>
                </a:solidFill>
                <a:latin typeface="Times New Roman"/>
              </a:rPr>
              <a:t>Kimyoviy bog‘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4652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1847088"/>
            <a:ext cx="50292" cy="3538728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434071" y="2139696"/>
            <a:ext cx="694944" cy="694944"/>
          </a:xfrm>
          <a:prstGeom prst="ellipse">
            <a:avLst/>
          </a:prstGeom>
          <a:solidFill>
            <a:srgbClr val="EDF4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53527" y="2359152"/>
            <a:ext cx="256032" cy="25603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27848" y="2359152"/>
            <a:ext cx="256032" cy="256032"/>
          </a:xfrm>
          <a:prstGeom prst="ellipse">
            <a:avLst/>
          </a:prstGeom>
          <a:solidFill>
            <a:srgbClr val="72AAA8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29016" y="2359152"/>
            <a:ext cx="256032" cy="256032"/>
          </a:xfrm>
          <a:prstGeom prst="ellipse">
            <a:avLst/>
          </a:prstGeom>
          <a:solidFill>
            <a:srgbClr val="A4CFC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11112" y="3035808"/>
            <a:ext cx="2340864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ABSORBSIYA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56832" y="3712463"/>
            <a:ext cx="2249424" cy="96012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Yutilayotgan modda ikkinchi fazaning ichiga kirib, hajm bo‘ylab tarqaladi.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39712" y="4892040"/>
            <a:ext cx="1892807" cy="283464"/>
          </a:xfrm>
          <a:prstGeom prst="roundRect">
            <a:avLst/>
          </a:prstGeom>
          <a:solidFill>
            <a:srgbClr val="EDF4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76288" y="4905755"/>
            <a:ext cx="1819655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>
                <a:solidFill>
                  <a:srgbClr val="1D6D75"/>
                </a:solidFill>
                <a:latin typeface="Times New Roman"/>
              </a:rPr>
              <a:t>Hajm bo‘ylab yutilish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26880" y="1847088"/>
            <a:ext cx="2670048" cy="3538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26880" y="1847088"/>
            <a:ext cx="50292" cy="3538728"/>
          </a:xfrm>
          <a:prstGeom prst="rect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314432" y="2139696"/>
            <a:ext cx="694944" cy="694944"/>
          </a:xfrm>
          <a:prstGeom prst="ellipse">
            <a:avLst/>
          </a:prstGeom>
          <a:solidFill>
            <a:srgbClr val="F1F3F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506455" y="2286000"/>
            <a:ext cx="384048" cy="301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57D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25328" y="2359152"/>
            <a:ext cx="146304" cy="146304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91472" y="3035808"/>
            <a:ext cx="2340864" cy="53035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KAPILLYAR
KONDENSATSIYA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37192" y="3712463"/>
            <a:ext cx="2249424" cy="96012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30" b="0">
                <a:solidFill>
                  <a:srgbClr val="536879"/>
                </a:solidFill>
                <a:latin typeface="Times New Roman"/>
              </a:rPr>
              <a:t>Bug‘ g‘ovak ichida suyuqlikka aylanib, bo‘shliqni to‘ldiradi; egrilik va g‘ovak o‘lchami muhim.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20072" y="4892040"/>
            <a:ext cx="1892807" cy="283464"/>
          </a:xfrm>
          <a:prstGeom prst="roundRect">
            <a:avLst/>
          </a:prstGeom>
          <a:solidFill>
            <a:srgbClr val="F1F3F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6647" y="4905755"/>
            <a:ext cx="1819655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9" b="1">
                <a:solidFill>
                  <a:srgbClr val="657D8E"/>
                </a:solidFill>
                <a:latin typeface="Times New Roman"/>
              </a:rPr>
              <a:t>G‘ovakni suyuqlik to‘ldiradi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2376" y="5660136"/>
            <a:ext cx="10771632" cy="438912"/>
          </a:xfrm>
          <a:prstGeom prst="roundRect">
            <a:avLst/>
          </a:prstGeom>
          <a:solidFill>
            <a:srgbClr val="EFF3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769864"/>
            <a:ext cx="10378440" cy="18288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40" b="1">
                <a:solidFill>
                  <a:srgbClr val="10283F"/>
                </a:solidFill>
                <a:latin typeface="Times New Roman"/>
              </a:rPr>
              <a:t>Farqi: kimyoviy adsorbsiya sirtning o‘zida sodir bo‘ladi; absorbsiya esa moddaning faza ichiga kirishidir.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07 / 17</a:t>
            </a:r>
          </a:p>
        </p:txBody>
      </p:sp>
      <p:sp>
        <p:nvSpPr>
          <p:cNvPr id="55" name="TextBox 54">
            <a:hlinkClick action="ppaction://hlinksldjump" r:id="rId3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56" name="TextBox 55">
            <a:hlinkClick action="ppaction://hlinksldjump" r:id="rId4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57" name="TextBox 56">
            <a:hlinkClick action="ppaction://hlinksldjump" r:id="rId5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8" name="Picture 37" descr="slide_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07 / ADSORBSIYA MODELLARI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Izoterma adsorblangan miqdorni konsentratsiyaga bog‘laydi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Harorat o‘zgarmaganda adsorblangan miqdorning eritma konsentratsiyasi yoki nisbiy bosimga bog‘liqligi izoterma deyiladi.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141732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67128" y="1828800"/>
            <a:ext cx="274320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FIZIK TASAVVUR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1828800"/>
            <a:ext cx="274320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ASOSIY SHAKL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1828800"/>
            <a:ext cx="192024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FOYDA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3768" y="1828800"/>
            <a:ext cx="1965960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536879"/>
                </a:solidFill>
                <a:latin typeface="Times New Roman"/>
              </a:rPr>
              <a:t>CHEKLOV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10808208" cy="90525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50008"/>
            <a:ext cx="129844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B5674"/>
                </a:solidFill>
                <a:latin typeface="Times New Roman"/>
              </a:rPr>
              <a:t>LANGMUIR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350008"/>
            <a:ext cx="2615184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Chegaralangan faol markazlar;
bir molekula qavati</a:t>
            </a:r>
          </a:p>
        </p:txBody>
      </p:sp>
      <p:pic>
        <p:nvPicPr>
          <p:cNvPr id="35" name="Picture 34" descr="s08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350008"/>
            <a:ext cx="2706624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589519" y="2350008"/>
            <a:ext cx="184708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D6D75"/>
                </a:solidFill>
                <a:latin typeface="Times New Roman"/>
              </a:rPr>
              <a:t>Bir qavatning eng yuqori sig‘imi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39" y="2350008"/>
            <a:ext cx="1920240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536879"/>
                </a:solidFill>
                <a:latin typeface="Times New Roman"/>
              </a:rPr>
              <a:t>Teng markazlar; raqobatsiz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246120"/>
            <a:ext cx="10808208" cy="905256"/>
          </a:xfrm>
          <a:prstGeom prst="roundRect">
            <a:avLst/>
          </a:prstGeom>
          <a:solidFill>
            <a:srgbClr val="F0F4F6"/>
          </a:solidFill>
          <a:ln w="6985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383279"/>
            <a:ext cx="129844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B5674"/>
                </a:solidFill>
                <a:latin typeface="Times New Roman"/>
              </a:rPr>
              <a:t>FREUNDLICH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3383279"/>
            <a:ext cx="2615184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Energetik jihatdan turli sirtlar;
tajriba ma’lumotiga mos model</a:t>
            </a:r>
          </a:p>
        </p:txBody>
      </p:sp>
      <p:pic>
        <p:nvPicPr>
          <p:cNvPr id="36" name="Picture 35" descr="s08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3383279"/>
            <a:ext cx="2706624" cy="6126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89519" y="3383279"/>
            <a:ext cx="184708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D6D75"/>
                </a:solidFill>
                <a:latin typeface="Times New Roman"/>
              </a:rPr>
              <a:t>Faqat o‘rganilgan oraliqda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39" y="3383279"/>
            <a:ext cx="1920240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536879"/>
                </a:solidFill>
                <a:latin typeface="Times New Roman"/>
              </a:rPr>
              <a:t>To‘yinish chegarasi yo‘q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4279392"/>
            <a:ext cx="10808208" cy="905256"/>
          </a:xfrm>
          <a:prstGeom prst="roundRect">
            <a:avLst/>
          </a:prstGeom>
          <a:solidFill>
            <a:srgbClr val="FFFFFF"/>
          </a:solidFill>
          <a:ln w="6985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416552"/>
            <a:ext cx="129844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1" i="0" u="none">
                <a:solidFill>
                  <a:srgbClr val="2B5674"/>
                </a:solidFill>
                <a:latin typeface="Times New Roman"/>
              </a:rPr>
              <a:t>BET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4416552"/>
            <a:ext cx="2615184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72B3A"/>
                </a:solidFill>
                <a:latin typeface="Times New Roman"/>
              </a:rPr>
              <a:t>Gazning ko‘p qavati;
sirt maydonini baholash</a:t>
            </a:r>
          </a:p>
        </p:txBody>
      </p:sp>
      <p:pic>
        <p:nvPicPr>
          <p:cNvPr id="37" name="Picture 36" descr="s08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464" y="4416552"/>
            <a:ext cx="2706624" cy="61264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89519" y="4416552"/>
            <a:ext cx="1847088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>
                <a:solidFill>
                  <a:srgbClr val="1D6D75"/>
                </a:solidFill>
                <a:latin typeface="Times New Roman"/>
              </a:rPr>
              <a:t>Bir qavatga mos gaz hajmi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39" y="4416552"/>
            <a:ext cx="1920240" cy="612648"/>
          </a:xfrm>
          <a:prstGeom prst="rect">
            <a:avLst/>
          </a:prstGeom>
          <a:noFill/>
          <a:ln>
            <a:solidFill/>
          </a:ln>
        </p:spPr>
        <p:txBody>
          <a:bodyPr wrap="square" lIns="22860" rIns="22860" tIns="22860" bIns="22860" anchor="ctr">
            <a:spAutoFit/>
          </a:bodyPr>
          <a:lstStyle/>
          <a:p>
            <a:pPr algn="l"/>
            <a:r>
              <a:rPr sz="1120" b="0" i="0" u="none">
                <a:solidFill>
                  <a:srgbClr val="536879"/>
                </a:solidFill>
                <a:latin typeface="Times New Roman"/>
              </a:rPr>
              <a:t>G‘ovak turi va diapazon muhim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248656"/>
            <a:ext cx="10789920" cy="758952"/>
          </a:xfrm>
          <a:prstGeom prst="roundRect">
            <a:avLst/>
          </a:prstGeom>
          <a:solidFill>
            <a:srgbClr val="F3F5F7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248656"/>
            <a:ext cx="50292" cy="75895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" y="5413248"/>
            <a:ext cx="10241280" cy="4297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172B3A"/>
                </a:solidFill>
                <a:latin typeface="Times New Roman"/>
              </a:rPr>
              <a:t>Model farazlari, o‘lchov sharoiti, qoldiq xatolari va mustaqil tekshiruvni birgalikda baholang. Moslik ko‘rsatkichi yolg‘iz o‘zi yetarli dalil emas.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08 / 17</a:t>
            </a:r>
          </a:p>
        </p:txBody>
      </p:sp>
      <p:sp>
        <p:nvSpPr>
          <p:cNvPr id="39" name="TextBox 38">
            <a:hlinkClick action="ppaction://hlinksldjump" r:id="rId6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0" name="TextBox 39">
            <a:hlinkClick action="ppaction://hlinksldjump" r:id="rId7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41" name="TextBox 40">
            <a:hlinkClick action="ppaction://hlinksldjump" r:id="rId8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0" name="Picture 109" descr="slide_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08 / BIR QAVAT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Langmuir: sirt markazlarida bir molekula qavati hosil bo‘ladi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Model dastlab gazlar uchun yaratilgan. Eritmada esa erituvchi, pH va raqobatdosh moddalar ham ta’sir qiladi.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19072"/>
            <a:ext cx="5074920" cy="1298448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92807"/>
            <a:ext cx="45720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9ACBC6"/>
                </a:solidFill>
                <a:latin typeface="Times New Roman"/>
              </a:rPr>
              <a:t>LANGMUIR IZOTERMASI</a:t>
            </a:r>
          </a:p>
        </p:txBody>
      </p:sp>
      <p:pic>
        <p:nvPicPr>
          <p:cNvPr id="108" name="Picture 107" descr="s09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67712"/>
            <a:ext cx="4590288" cy="502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" y="3273552"/>
            <a:ext cx="5084064" cy="2670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271016" y="5431536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58952" y="534924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71016" y="4949190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8952" y="486689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71016" y="4466844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58952" y="438454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71016" y="3984498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8952" y="3902202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71016" y="3502152"/>
            <a:ext cx="4315968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58952" y="3419856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71016" y="3502152"/>
            <a:ext cx="0" cy="1929384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71016" y="5431536"/>
            <a:ext cx="4315968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71016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33272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50008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112264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429000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91256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507992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270248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3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586984" y="5431536"/>
            <a:ext cx="0" cy="41147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349240" y="5504688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4</a:t>
            </a:r>
          </a:p>
        </p:txBody>
      </p:sp>
      <p:pic>
        <p:nvPicPr>
          <p:cNvPr id="114" name="Picture 113" descr="Matematik belgi: b*C_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2456" y="5669280"/>
            <a:ext cx="4764024" cy="146304"/>
          </a:xfrm>
          <a:prstGeom prst="rect">
            <a:avLst/>
          </a:prstGeom>
        </p:spPr>
      </p:pic>
      <p:pic>
        <p:nvPicPr>
          <p:cNvPr id="115" name="Picture 114" descr="Matematik belgi: q_e/q_m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0664" y="3483864"/>
            <a:ext cx="713232" cy="164592"/>
          </a:xfrm>
          <a:prstGeom prst="rect">
            <a:avLst/>
          </a:prstGeom>
        </p:spPr>
      </p:pic>
      <p:cxnSp>
        <p:nvCxnSpPr>
          <p:cNvPr id="34" name="Connector 33"/>
          <p:cNvCxnSpPr/>
          <p:nvPr/>
        </p:nvCxnSpPr>
        <p:spPr>
          <a:xfrm flipV="1">
            <a:off x="1271016" y="5270754"/>
            <a:ext cx="98090" cy="160782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369106" y="5134707"/>
            <a:ext cx="98090" cy="13604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467196" y="5018096"/>
            <a:ext cx="98090" cy="116611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565286" y="4917033"/>
            <a:ext cx="98090" cy="10106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663376" y="4828603"/>
            <a:ext cx="98090" cy="8843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761466" y="4750576"/>
            <a:ext cx="98091" cy="7802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859557" y="4681220"/>
            <a:ext cx="98090" cy="69356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957647" y="4619163"/>
            <a:ext cx="98090" cy="6205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055737" y="4563313"/>
            <a:ext cx="98090" cy="5585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53827" y="4512781"/>
            <a:ext cx="98090" cy="50532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251917" y="4466844"/>
            <a:ext cx="98091" cy="4593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350008" y="4424900"/>
            <a:ext cx="98090" cy="41944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448098" y="4386453"/>
            <a:ext cx="98090" cy="3844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546188" y="4351080"/>
            <a:ext cx="98090" cy="3537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644278" y="4318429"/>
            <a:ext cx="98090" cy="32651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42368" y="4288197"/>
            <a:ext cx="98090" cy="30232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840458" y="4260124"/>
            <a:ext cx="98091" cy="2807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938549" y="4233987"/>
            <a:ext cx="98090" cy="2613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036639" y="4209592"/>
            <a:ext cx="98090" cy="2439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134729" y="4186772"/>
            <a:ext cx="98090" cy="2282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232819" y="4165377"/>
            <a:ext cx="98090" cy="2139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3330909" y="4145280"/>
            <a:ext cx="98091" cy="2009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429000" y="4126364"/>
            <a:ext cx="98090" cy="18916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527090" y="4108529"/>
            <a:ext cx="98090" cy="1783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625180" y="4091686"/>
            <a:ext cx="98090" cy="1684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723270" y="4075752"/>
            <a:ext cx="98090" cy="15934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21360" y="4060657"/>
            <a:ext cx="98090" cy="1509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3919450" y="4046337"/>
            <a:ext cx="98091" cy="1432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017541" y="4032732"/>
            <a:ext cx="98090" cy="1360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115631" y="4019791"/>
            <a:ext cx="98090" cy="12941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13721" y="4007466"/>
            <a:ext cx="98090" cy="12325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311811" y="3995715"/>
            <a:ext cx="98090" cy="11751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409901" y="3984498"/>
            <a:ext cx="98091" cy="1121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507992" y="3973779"/>
            <a:ext cx="98090" cy="10719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606082" y="3963526"/>
            <a:ext cx="98090" cy="1025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704172" y="3953709"/>
            <a:ext cx="98090" cy="981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802262" y="3944302"/>
            <a:ext cx="98090" cy="94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900352" y="3935279"/>
            <a:ext cx="98090" cy="902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998442" y="3926616"/>
            <a:ext cx="98091" cy="866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5096533" y="3918293"/>
            <a:ext cx="98090" cy="832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5194623" y="3910290"/>
            <a:ext cx="98090" cy="8003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5292713" y="3902590"/>
            <a:ext cx="98090" cy="7700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5390803" y="3895174"/>
            <a:ext cx="98090" cy="7416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488893" y="3888028"/>
            <a:ext cx="98091" cy="7146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6099048" y="1719072"/>
            <a:ext cx="5404104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099048" y="1719072"/>
            <a:ext cx="50292" cy="130759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55080" y="1883664"/>
            <a:ext cx="4800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977742"/>
                </a:solidFill>
                <a:latin typeface="Times New Roman"/>
              </a:rPr>
              <a:t>SIRT TO‘LISH DARAJASI</a:t>
            </a:r>
          </a:p>
        </p:txBody>
      </p:sp>
      <p:pic>
        <p:nvPicPr>
          <p:cNvPr id="109" name="Picture 108" descr="s09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231136"/>
            <a:ext cx="4837176" cy="429768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6099048" y="3264408"/>
            <a:ext cx="5404104" cy="12710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099048" y="3264408"/>
            <a:ext cx="50292" cy="1271016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64224" y="3438144"/>
            <a:ext cx="4754880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u="none">
                <a:solidFill>
                  <a:srgbClr val="1D6D75"/>
                </a:solidFill>
                <a:latin typeface="Times New Roman"/>
              </a:rPr>
              <a:t>FAOL MARKAZLAR: BO‘SH VA EGALLANGAN</a:t>
            </a:r>
          </a:p>
        </p:txBody>
      </p:sp>
      <p:sp>
        <p:nvSpPr>
          <p:cNvPr id="85" name="Oval 84"/>
          <p:cNvSpPr/>
          <p:nvPr/>
        </p:nvSpPr>
        <p:spPr>
          <a:xfrm>
            <a:off x="6455664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894575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 flipV="1">
            <a:off x="6995159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7333488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7434071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7772400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211312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V="1">
            <a:off x="8311896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8650224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089136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9189719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/>
          <p:cNvSpPr/>
          <p:nvPr/>
        </p:nvSpPr>
        <p:spPr>
          <a:xfrm>
            <a:off x="9528048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 flipV="1">
            <a:off x="9628632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9966959" y="3968496"/>
            <a:ext cx="201168" cy="201168"/>
          </a:xfrm>
          <a:prstGeom prst="ellipse">
            <a:avLst/>
          </a:prstGeom>
          <a:solidFill>
            <a:srgbClr val="FFFFFF"/>
          </a:solidFill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405872" y="3968496"/>
            <a:ext cx="201168" cy="20116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0506455" y="3749039"/>
            <a:ext cx="0" cy="219457"/>
          </a:xfrm>
          <a:prstGeom prst="line">
            <a:avLst/>
          </a:prstGeom>
          <a:ln w="1905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6437376" y="4736592"/>
            <a:ext cx="4727448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536879"/>
                </a:solidFill>
                <a:latin typeface="Times New Roman"/>
              </a:rPr>
              <a:t>b — muvozanat doimiysi; uning birligi konsentratsiya birligiga teskari.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099048" y="5138928"/>
            <a:ext cx="5404104" cy="786384"/>
          </a:xfrm>
          <a:prstGeom prst="roundRect">
            <a:avLst/>
          </a:prstGeom>
          <a:solidFill>
            <a:srgbClr val="EFF3F6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99048" y="5138928"/>
            <a:ext cx="50292" cy="786384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36792" y="5294376"/>
            <a:ext cx="4882896" cy="4297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172B3A"/>
                </a:solidFill>
                <a:latin typeface="Times New Roman"/>
              </a:rPr>
              <a:t>Farazlar: faol markazlar teng, o‘zaro mustaqil va faqat bir qavat hosil qiladi. Notekis sirtlarda bu shartlar bajarilmasligi mumkin.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09 / 17</a:t>
            </a:r>
          </a:p>
        </p:txBody>
      </p:sp>
      <p:sp>
        <p:nvSpPr>
          <p:cNvPr id="111" name="TextBox 110">
            <a:hlinkClick action="ppaction://hlinksldjump" r:id="rId5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112" name="TextBox 111">
            <a:hlinkClick action="ppaction://hlinksldjump" r:id="rId6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113" name="TextBox 112">
            <a:hlinkClick action="ppaction://hlinksldjump" r:id="rId7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3" name="Picture 132" descr="slide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09 / GETEROGEN SIRT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Freundlich: sirt xossalari bir xil bo‘lmaganda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Bu tajribaviy tenglama notekis sirtlar uchun muayyan konsentratsiya oralig‘ida qo‘llanadi; parametrlar shu oraliq va birliklar bilan beriladi.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755648"/>
            <a:ext cx="3950208" cy="1316736"/>
          </a:xfrm>
          <a:prstGeom prst="roundRect">
            <a:avLst/>
          </a:prstGeom>
          <a:solidFill>
            <a:srgbClr val="EDF4F3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088" y="1755648"/>
            <a:ext cx="50292" cy="1316736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947672"/>
            <a:ext cx="3456432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1D6D75"/>
                </a:solidFill>
                <a:latin typeface="Times New Roman"/>
              </a:rPr>
              <a:t>FREUNDLICH IZOTERMASI</a:t>
            </a:r>
          </a:p>
        </p:txBody>
      </p:sp>
      <p:pic>
        <p:nvPicPr>
          <p:cNvPr id="131" name="Picture 130" descr="s10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13432"/>
            <a:ext cx="3493008" cy="457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4088" y="3337560"/>
            <a:ext cx="3950208" cy="2487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" y="3337560"/>
            <a:ext cx="50292" cy="248716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575304"/>
            <a:ext cx="3410712" cy="21031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1">
                <a:solidFill>
                  <a:srgbClr val="2B5674"/>
                </a:solidFill>
                <a:latin typeface="Times New Roman"/>
              </a:rPr>
              <a:t>LOGARIFMLANGAN KO‘RINISH</a:t>
            </a:r>
          </a:p>
        </p:txBody>
      </p:sp>
      <p:pic>
        <p:nvPicPr>
          <p:cNvPr id="132" name="Picture 131" descr="s10_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913632"/>
            <a:ext cx="3465576" cy="420624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987552" y="4526280"/>
            <a:ext cx="338328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87552" y="4709160"/>
            <a:ext cx="3401568" cy="8595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990" b="0">
                <a:solidFill>
                  <a:srgbClr val="536879"/>
                </a:solidFill>
                <a:latin typeface="Times New Roman"/>
              </a:rPr>
              <a:t>•  Daraja ko‘rsatkichi tajribadan aniqlanadi.
•  Sig‘im koeffitsiyentining birligi konsentratsiya birligiga bog‘liq.
•  Tenglama to‘yinish chegarasini bermaydi.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65192" y="1755648"/>
            <a:ext cx="6501384" cy="40690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532120" y="5312664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0055" y="523036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32120" y="4480560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0055" y="439826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32120" y="3648456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0055" y="356616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32120" y="2816352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0055" y="2734056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532120" y="1984248"/>
            <a:ext cx="5733287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0055" y="1901952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32120" y="1984248"/>
            <a:ext cx="0" cy="3328416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532120" y="5312664"/>
            <a:ext cx="5733287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2120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94376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65442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727698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98763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161019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832085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9594341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265407" y="531266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27663" y="538581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pic>
        <p:nvPicPr>
          <p:cNvPr id="137" name="Picture 136" descr="Matematik belgi: C_e/C_ref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3559" y="5550408"/>
            <a:ext cx="6181344" cy="146304"/>
          </a:xfrm>
          <a:prstGeom prst="rect">
            <a:avLst/>
          </a:prstGeom>
        </p:spPr>
      </p:pic>
      <p:pic>
        <p:nvPicPr>
          <p:cNvPr id="138" name="Picture 137" descr="Matematik belgi: q_e/q_re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1768" y="1965960"/>
            <a:ext cx="713232" cy="164592"/>
          </a:xfrm>
          <a:prstGeom prst="rect">
            <a:avLst/>
          </a:prstGeom>
        </p:spPr>
      </p:pic>
      <p:cxnSp>
        <p:nvCxnSpPr>
          <p:cNvPr id="41" name="Connector 40"/>
          <p:cNvCxnSpPr/>
          <p:nvPr/>
        </p:nvCxnSpPr>
        <p:spPr>
          <a:xfrm flipV="1">
            <a:off x="5532120" y="5090769"/>
            <a:ext cx="139836" cy="22189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671956" y="4887307"/>
            <a:ext cx="139836" cy="203462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811792" y="4700072"/>
            <a:ext cx="139836" cy="18723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5951628" y="4527197"/>
            <a:ext cx="139837" cy="17287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091465" y="4367091"/>
            <a:ext cx="139836" cy="16010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31301" y="4218390"/>
            <a:ext cx="139836" cy="148701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71137" y="4079917"/>
            <a:ext cx="139837" cy="138473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6510974" y="3950652"/>
            <a:ext cx="139836" cy="12926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6650810" y="3829706"/>
            <a:ext cx="139836" cy="12094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790646" y="3716301"/>
            <a:ext cx="139836" cy="11340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6930482" y="3609753"/>
            <a:ext cx="139837" cy="106548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070319" y="3509458"/>
            <a:ext cx="139836" cy="10029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210155" y="3414882"/>
            <a:ext cx="139836" cy="9457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349991" y="3325549"/>
            <a:ext cx="139837" cy="89333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489828" y="3241035"/>
            <a:ext cx="139836" cy="84514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629664" y="3160960"/>
            <a:ext cx="139836" cy="80075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7769500" y="3084984"/>
            <a:ext cx="139836" cy="7597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909336" y="3012798"/>
            <a:ext cx="139837" cy="7218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049173" y="2944128"/>
            <a:ext cx="139836" cy="68670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8189009" y="2878721"/>
            <a:ext cx="139836" cy="65407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28845" y="2816351"/>
            <a:ext cx="139837" cy="62370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468682" y="2756812"/>
            <a:ext cx="139836" cy="5953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608518" y="2699914"/>
            <a:ext cx="139836" cy="56898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748354" y="2645485"/>
            <a:ext cx="139837" cy="5442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888191" y="2593369"/>
            <a:ext cx="139836" cy="5211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028027" y="2543421"/>
            <a:ext cx="139836" cy="49948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167863" y="2495509"/>
            <a:ext cx="139836" cy="47912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307699" y="2449510"/>
            <a:ext cx="139837" cy="4599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447536" y="2405312"/>
            <a:ext cx="139836" cy="44198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9587372" y="2362812"/>
            <a:ext cx="139836" cy="42500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9727208" y="2321913"/>
            <a:ext cx="139837" cy="4089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867045" y="2282527"/>
            <a:ext cx="139836" cy="3938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0006881" y="2244571"/>
            <a:ext cx="139836" cy="3795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0146717" y="2207968"/>
            <a:ext cx="139836" cy="36603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286553" y="2172648"/>
            <a:ext cx="139837" cy="35320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426390" y="2138545"/>
            <a:ext cx="139836" cy="34103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566226" y="2105596"/>
            <a:ext cx="139836" cy="3294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0706062" y="2073744"/>
            <a:ext cx="139837" cy="31852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0845899" y="2042935"/>
            <a:ext cx="139836" cy="30809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0985735" y="2013119"/>
            <a:ext cx="139836" cy="29816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1125571" y="1984248"/>
            <a:ext cx="139836" cy="28871"/>
          </a:xfrm>
          <a:prstGeom prst="line">
            <a:avLst/>
          </a:prstGeom>
          <a:ln w="29209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5532120" y="4792852"/>
            <a:ext cx="139836" cy="51981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671956" y="4577539"/>
            <a:ext cx="139836" cy="21531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811792" y="4412324"/>
            <a:ext cx="139836" cy="165215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5951628" y="4273041"/>
            <a:ext cx="139837" cy="13928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6091465" y="4150330"/>
            <a:ext cx="139836" cy="12271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6231301" y="4039391"/>
            <a:ext cx="139836" cy="110939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6371137" y="3937372"/>
            <a:ext cx="139837" cy="102019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6510974" y="3842415"/>
            <a:ext cx="139836" cy="94957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6650810" y="3753230"/>
            <a:ext cx="139836" cy="89185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6790646" y="3668876"/>
            <a:ext cx="139836" cy="8435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6930482" y="3588645"/>
            <a:ext cx="139837" cy="8023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7070319" y="3511985"/>
            <a:ext cx="139836" cy="76660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7210155" y="3438457"/>
            <a:ext cx="139836" cy="73528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7349991" y="3367708"/>
            <a:ext cx="139837" cy="70749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7489828" y="3299443"/>
            <a:ext cx="139836" cy="68265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7629664" y="3233419"/>
            <a:ext cx="139836" cy="6602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7769500" y="3169427"/>
            <a:ext cx="139836" cy="6399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7909336" y="3107291"/>
            <a:ext cx="139837" cy="62136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8049173" y="3046859"/>
            <a:ext cx="139836" cy="6043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8189009" y="2987997"/>
            <a:ext cx="139836" cy="5886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8328845" y="2930589"/>
            <a:ext cx="139837" cy="57408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8468682" y="2874533"/>
            <a:ext cx="139836" cy="56056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8608518" y="2819736"/>
            <a:ext cx="139836" cy="54797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8748354" y="2766119"/>
            <a:ext cx="139837" cy="53617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8888191" y="2713607"/>
            <a:ext cx="139836" cy="5251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9028027" y="2662136"/>
            <a:ext cx="139836" cy="5147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9167863" y="2611645"/>
            <a:ext cx="139836" cy="5049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9307699" y="2562081"/>
            <a:ext cx="139837" cy="4956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9447536" y="2513394"/>
            <a:ext cx="139836" cy="48687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9587372" y="2465540"/>
            <a:ext cx="139836" cy="4785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9727208" y="2418477"/>
            <a:ext cx="139837" cy="4706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9867045" y="2372167"/>
            <a:ext cx="139836" cy="46310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10006881" y="2326575"/>
            <a:ext cx="139836" cy="45592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10146717" y="2281669"/>
            <a:ext cx="139836" cy="44906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10286553" y="2237419"/>
            <a:ext cx="139837" cy="44250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0426390" y="2193796"/>
            <a:ext cx="139836" cy="4362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0566226" y="2150775"/>
            <a:ext cx="139836" cy="4302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10706062" y="2108332"/>
            <a:ext cx="139837" cy="42443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10845899" y="2066443"/>
            <a:ext cx="139836" cy="41889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10985735" y="2025089"/>
            <a:ext cx="139836" cy="41354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11125571" y="1984248"/>
            <a:ext cx="139836" cy="40841"/>
          </a:xfrm>
          <a:prstGeom prst="line">
            <a:avLst/>
          </a:prstGeom>
          <a:ln w="29209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8321040" y="2084831"/>
            <a:ext cx="402336" cy="0"/>
          </a:xfrm>
          <a:prstGeom prst="line">
            <a:avLst/>
          </a:prstGeom>
          <a:ln w="2794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/>
          <p:cNvSpPr txBox="1"/>
          <p:nvPr/>
        </p:nvSpPr>
        <p:spPr>
          <a:xfrm>
            <a:off x="8787384" y="1993392"/>
            <a:ext cx="114300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2B5674"/>
                </a:solidFill>
                <a:latin typeface="Times New Roman"/>
              </a:rPr>
              <a:t>Langmuir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9893808" y="2084831"/>
            <a:ext cx="402336" cy="0"/>
          </a:xfrm>
          <a:prstGeom prst="line">
            <a:avLst/>
          </a:prstGeom>
          <a:ln w="2794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10341864" y="1993392"/>
            <a:ext cx="877824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977742"/>
                </a:solidFill>
                <a:latin typeface="Times New Roman"/>
              </a:rPr>
              <a:t>Freundlich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59552" y="5477256"/>
            <a:ext cx="530352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0" b="0">
                <a:solidFill>
                  <a:srgbClr val="536879"/>
                </a:solidFill>
                <a:latin typeface="Times New Roman"/>
              </a:rPr>
              <a:t>Model shakllari ko‘rsatilgan; o‘lchov natijalari emas.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10 / 17</a:t>
            </a:r>
          </a:p>
        </p:txBody>
      </p:sp>
      <p:sp>
        <p:nvSpPr>
          <p:cNvPr id="134" name="TextBox 133">
            <a:hlinkClick action="ppaction://hlinksldjump" r:id="rId5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135" name="TextBox 134">
            <a:hlinkClick action="ppaction://hlinksldjump" r:id="rId6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136" name="TextBox 135">
            <a:hlinkClick action="ppaction://hlinksldjump" r:id="rId7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86" name="Picture 85" descr="slide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10 / KO‘P QATLAM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BET: ko‘p molekula qavati va sirt maydoni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BET modelida birinchi qavat adsorbent bilan ta’sirlashadi; keyingi qavatlar suyuqlikdagi kabi kondensatsiyalanadi.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719072"/>
            <a:ext cx="5541264" cy="1389888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92807"/>
            <a:ext cx="5047488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ACBC6"/>
                </a:solidFill>
                <a:latin typeface="Times New Roman"/>
              </a:rPr>
              <a:t>BET IZOTERMASI  •  NISBIY BOSIM</a:t>
            </a:r>
          </a:p>
        </p:txBody>
      </p:sp>
      <p:pic>
        <p:nvPicPr>
          <p:cNvPr id="85" name="Picture 84" descr="s11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67712"/>
            <a:ext cx="5138928" cy="5029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" y="3337560"/>
            <a:ext cx="5541264" cy="25786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3337560"/>
            <a:ext cx="50292" cy="2578608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547872"/>
            <a:ext cx="50292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BET CHIZIQLI KO‘RINISHI</a:t>
            </a:r>
          </a:p>
        </p:txBody>
      </p:sp>
      <p:pic>
        <p:nvPicPr>
          <p:cNvPr id="91" name="Picture 90" descr="BET chiziqli tenglamasi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3922776"/>
            <a:ext cx="5093208" cy="50292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996696" y="4553712"/>
            <a:ext cx="4937760" cy="0"/>
          </a:xfrm>
          <a:prstGeom prst="line">
            <a:avLst/>
          </a:prstGeom>
          <a:ln w="10160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87552" y="4754880"/>
            <a:ext cx="4919472" cy="868680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50" b="0">
                <a:solidFill>
                  <a:srgbClr val="536879"/>
                </a:solidFill>
                <a:latin typeface="Times New Roman"/>
              </a:rPr>
              <a:t>Chiziqli grafikdan model parametrlari olinadi; bir qavatga to‘g‘ri keladigan gaz miqdori orqali sirt maydoni hisoblanadi. 77 K da azot uchun molekula kesimining qabul qilingan qiymati 0,162 kvadrat nanometr.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8816" y="1719072"/>
            <a:ext cx="4956048" cy="419709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095744" y="5404104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79" y="532180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95744" y="4539996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79" y="445770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95744" y="3675887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79" y="3593591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2811780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79" y="272948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95744" y="1947672"/>
            <a:ext cx="4187951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79" y="1865376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95744" y="1947672"/>
            <a:ext cx="0" cy="3456432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095744" y="5404104"/>
            <a:ext cx="4187951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0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42731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04988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0.25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89719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51976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236707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998963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0.75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283695" y="5404104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45951" y="5477256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pic>
        <p:nvPicPr>
          <p:cNvPr id="90" name="Picture 89" descr="Matematik belgi: x = p/p_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87183" y="5641848"/>
            <a:ext cx="4636008" cy="146304"/>
          </a:xfrm>
          <a:prstGeom prst="rect">
            <a:avLst/>
          </a:prstGeom>
        </p:spPr>
      </p:pic>
      <p:pic>
        <p:nvPicPr>
          <p:cNvPr id="92" name="Picture 91" descr="BET grafigining y koordinatasi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7880" y="1929384"/>
            <a:ext cx="502920" cy="164592"/>
          </a:xfrm>
          <a:prstGeom prst="rect">
            <a:avLst/>
          </a:prstGeom>
        </p:spPr>
      </p:pic>
      <p:cxnSp>
        <p:nvCxnSpPr>
          <p:cNvPr id="40" name="Connector 39"/>
          <p:cNvCxnSpPr/>
          <p:nvPr/>
        </p:nvCxnSpPr>
        <p:spPr>
          <a:xfrm flipV="1">
            <a:off x="7095744" y="4891860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250853" y="4828953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7405962" y="4766046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7561071" y="4703139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716181" y="4640232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871290" y="4577325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026399" y="4514418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8181509" y="4451511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336618" y="4388604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491727" y="4325697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8646837" y="4262790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8801946" y="4199883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8957055" y="4136976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9112165" y="4074068"/>
            <a:ext cx="155109" cy="62908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67274" y="4011161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422383" y="3948254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577493" y="3885347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732602" y="3822440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887712" y="3759533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0042821" y="3696626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197930" y="3633719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0353039" y="3570812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508149" y="3507905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663258" y="3444998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0818367" y="3382091"/>
            <a:ext cx="155110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0973477" y="3319184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1128586" y="3256277"/>
            <a:ext cx="155109" cy="62907"/>
          </a:xfrm>
          <a:prstGeom prst="line">
            <a:avLst/>
          </a:prstGeom>
          <a:ln w="330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095744" y="3209131"/>
            <a:ext cx="380722" cy="47146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476466" y="3154796"/>
            <a:ext cx="380723" cy="54335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857189" y="3093271"/>
            <a:ext cx="380723" cy="61525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8237912" y="3024557"/>
            <a:ext cx="380723" cy="68714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8618635" y="2948654"/>
            <a:ext cx="380723" cy="75903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999358" y="2865562"/>
            <a:ext cx="380723" cy="83092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9380081" y="2775280"/>
            <a:ext cx="380723" cy="90282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9760804" y="2677808"/>
            <a:ext cx="380723" cy="97472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0141527" y="2573147"/>
            <a:ext cx="380723" cy="104661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522250" y="2461297"/>
            <a:ext cx="380723" cy="111850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0902973" y="2342258"/>
            <a:ext cx="380723" cy="119039"/>
          </a:xfrm>
          <a:prstGeom prst="line">
            <a:avLst/>
          </a:prstGeom>
          <a:ln w="3048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168896" y="2176272"/>
            <a:ext cx="2194560" cy="310896"/>
          </a:xfrm>
          <a:prstGeom prst="roundRect">
            <a:avLst/>
          </a:prstGeom>
          <a:solidFill>
            <a:srgbClr val="EDF4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32904" y="2249424"/>
            <a:ext cx="2066543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 u="none">
                <a:solidFill>
                  <a:srgbClr val="1D6D75"/>
                </a:solidFill>
                <a:latin typeface="Times New Roman"/>
              </a:rPr>
              <a:t>tanlangan chiziqli soha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07424" y="4425696"/>
            <a:ext cx="182880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1" i="0" u="none">
                <a:solidFill>
                  <a:srgbClr val="657D8E"/>
                </a:solidFill>
                <a:latin typeface="Times New Roman"/>
              </a:rPr>
              <a:t>yuqori x da og‘ish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76288" y="5605272"/>
            <a:ext cx="416052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90" b="0">
                <a:solidFill>
                  <a:srgbClr val="536879"/>
                </a:solidFill>
                <a:latin typeface="Times New Roman"/>
              </a:rPr>
              <a:t>BET tenglamasining sxematik ko‘rinishi; tajriba ma’lumoti emas.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11 / 17</a:t>
            </a:r>
          </a:p>
        </p:txBody>
      </p:sp>
      <p:sp>
        <p:nvSpPr>
          <p:cNvPr id="87" name="TextBox 86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88" name="TextBox 87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89" name="TextBox 88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71" name="Picture 70" descr="slide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11 / G‘OVAKLAR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 i="0" u="none">
                <a:solidFill>
                  <a:srgbClr val="10283F"/>
                </a:solidFill>
                <a:latin typeface="Times New Roman"/>
              </a:rPr>
              <a:t>G‘ovak o‘lchami adsorbsiya mexanizmini belgilaydi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536879"/>
                </a:solidFill>
                <a:latin typeface="Times New Roman"/>
              </a:rPr>
              <a:t>IUPAC tasnifi g‘ovak kengligiga asoslanadi; ko‘ndalang kesimlar sxematik, masshtabda emas.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12 / 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" y="1682496"/>
            <a:ext cx="1056132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36879"/>
                </a:solidFill>
                <a:latin typeface="Times New Roman"/>
              </a:rPr>
              <a:t>IUPAC TASNIFI  •  G‘OVAK KENGLIGI, w (nm)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" y="2002536"/>
            <a:ext cx="3182112" cy="512064"/>
          </a:xfrm>
          <a:prstGeom prst="round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2084831"/>
            <a:ext cx="3035808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MIKROG‘OVAK  &lt; 2 nm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32504" y="2002536"/>
            <a:ext cx="3529584" cy="512064"/>
          </a:xfrm>
          <a:prstGeom prst="round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05656" y="2084831"/>
            <a:ext cx="3383279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MEZOG‘OVAK  2–50 nm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26096" y="2002536"/>
            <a:ext cx="3621024" cy="512064"/>
          </a:xfrm>
          <a:prstGeom prst="round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084831"/>
            <a:ext cx="3474720" cy="31089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MAKROG‘OVAK  &gt; 50 nm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6384" y="2734056"/>
            <a:ext cx="6583680" cy="2889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42415" y="2916936"/>
            <a:ext cx="384048" cy="384048"/>
          </a:xfrm>
          <a:prstGeom prst="round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2415" y="2962656"/>
            <a:ext cx="384048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1912" y="2889504"/>
            <a:ext cx="5468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2B5674"/>
                </a:solidFill>
                <a:latin typeface="Times New Roman"/>
              </a:rPr>
              <a:t>MIKROG‘OVAK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81912" y="3145536"/>
            <a:ext cx="5468112" cy="484632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Qarama-qarshi devorlarning potensial maydonlari ustma-ust tushadi; g‘ovakni to‘ldirish muhim.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3271" y="3675888"/>
            <a:ext cx="6080760" cy="10972"/>
          </a:xfrm>
          <a:prstGeom prst="rect">
            <a:avLst/>
          </a:prstGeom>
          <a:solidFill>
            <a:srgbClr val="D8E2E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42415" y="3813048"/>
            <a:ext cx="384048" cy="384048"/>
          </a:xfrm>
          <a:prstGeom prst="round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2415" y="3858768"/>
            <a:ext cx="384048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81912" y="3785615"/>
            <a:ext cx="5468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1D6D75"/>
                </a:solidFill>
                <a:latin typeface="Times New Roman"/>
              </a:rPr>
              <a:t>MEZOG‘OVAK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81912" y="4041648"/>
            <a:ext cx="5468112" cy="484632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Menisk va kapillyar kondensatsiya yuz berishi mumkin; Kelvin egriligi muhim.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3271" y="4572000"/>
            <a:ext cx="6080760" cy="10972"/>
          </a:xfrm>
          <a:prstGeom prst="rect">
            <a:avLst/>
          </a:prstGeom>
          <a:solidFill>
            <a:srgbClr val="D8E2E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42415" y="4709159"/>
            <a:ext cx="384048" cy="384048"/>
          </a:xfrm>
          <a:prstGeom prst="round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2415" y="4754879"/>
            <a:ext cx="384048" cy="23774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81912" y="4681727"/>
            <a:ext cx="5468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19" b="1" i="0">
                <a:solidFill>
                  <a:srgbClr val="977742"/>
                </a:solidFill>
                <a:latin typeface="Times New Roman"/>
              </a:rPr>
              <a:t>MAKROG‘OVAK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81912" y="4937759"/>
            <a:ext cx="5468112" cy="484632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ctr">
            <a:spAutoFit/>
          </a:bodyPr>
          <a:lstStyle/>
          <a:p>
            <a:pPr algn="l"/>
            <a:r>
              <a:rPr sz="1010" b="0" i="0">
                <a:solidFill>
                  <a:srgbClr val="172B3A"/>
                </a:solidFill>
                <a:latin typeface="Times New Roman"/>
              </a:rPr>
              <a:t>Yirik kanallar oqim va massa uzatish yo‘llarini ta’minlaydi.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89520" y="2734056"/>
            <a:ext cx="3675887" cy="28895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porous_adsorbent.png"/>
          <p:cNvPicPr>
            <a:picLocks noChangeAspect="1"/>
          </p:cNvPicPr>
          <p:nvPr/>
        </p:nvPicPr>
        <p:blipFill>
          <a:blip r:embed="rId2"/>
          <a:srcRect t="3704" b="3704"/>
          <a:stretch>
            <a:fillRect/>
          </a:stretch>
        </p:blipFill>
        <p:spPr>
          <a:xfrm>
            <a:off x="7946136" y="2816352"/>
            <a:ext cx="2962656" cy="2743200"/>
          </a:xfrm>
          <a:prstGeom prst="rect">
            <a:avLst/>
          </a:prstGeom>
          <a:ln>
            <a:solidFill/>
          </a:ln>
        </p:spPr>
      </p:pic>
      <p:sp>
        <p:nvSpPr>
          <p:cNvPr id="67" name="Rectangle 66"/>
          <p:cNvSpPr/>
          <p:nvPr/>
        </p:nvSpPr>
        <p:spPr>
          <a:xfrm>
            <a:off x="7946136" y="5202936"/>
            <a:ext cx="2962656" cy="356616"/>
          </a:xfrm>
          <a:prstGeom prst="rect">
            <a:avLst/>
          </a:prstGeom>
          <a:solidFill>
            <a:srgbClr val="10283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074152" y="5276088"/>
            <a:ext cx="2706624" cy="18288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80" b="1">
                <a:solidFill>
                  <a:srgbClr val="FFFFFF"/>
                </a:solidFill>
                <a:latin typeface="Times New Roman"/>
              </a:rPr>
              <a:t>3D SXEMA  •  HAQIQIY MIKROSKOP SURATI EMAS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6384" y="5760720"/>
            <a:ext cx="10479024" cy="384048"/>
          </a:xfrm>
          <a:prstGeom prst="roundRect">
            <a:avLst/>
          </a:prstGeom>
          <a:solidFill>
            <a:srgbClr val="F3F5F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0976" y="5843016"/>
            <a:ext cx="1014984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9" b="0" i="0">
                <a:solidFill>
                  <a:srgbClr val="172B3A"/>
                </a:solidFill>
                <a:latin typeface="Times New Roman"/>
              </a:rPr>
              <a:t>BET sirt maydoni adsorbtiv, model va o‘lchash sharoitiga bog‘liq; barcha g‘ovakli materiallarga bir xil talqin qo‘llanmaydi.</a:t>
            </a:r>
          </a:p>
        </p:txBody>
      </p:sp>
      <p:sp>
        <p:nvSpPr>
          <p:cNvPr id="72" name="TextBox 71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73" name="TextBox 72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74" name="TextBox 73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9" name="Picture 38" descr="slide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12 / SIRT KIMYOSI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Sirt zaryadi va namlanish tanlab yutilishga ta’sir qiladi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Suvli eritmada yutilish pH, tuz miqdori, sirt guruhlari va raqobatdosh ionlarga bog‘liq.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46504"/>
            <a:ext cx="5102352" cy="4233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4944" y="1746504"/>
            <a:ext cx="50292" cy="423367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5720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B5674"/>
                </a:solidFill>
                <a:latin typeface="Times New Roman"/>
              </a:rPr>
              <a:t>NAMLANISH VA TOMCHI SHAKLI</a:t>
            </a:r>
          </a:p>
        </p:txBody>
      </p:sp>
      <p:sp>
        <p:nvSpPr>
          <p:cNvPr id="9" name="Oval 8"/>
          <p:cNvSpPr/>
          <p:nvPr/>
        </p:nvSpPr>
        <p:spPr>
          <a:xfrm>
            <a:off x="2377440" y="2697480"/>
            <a:ext cx="1591056" cy="1591056"/>
          </a:xfrm>
          <a:prstGeom prst="ellipse">
            <a:avLst/>
          </a:prstGeom>
          <a:solidFill>
            <a:srgbClr val="C7DAD7"/>
          </a:solidFill>
          <a:ln w="13970">
            <a:solidFill>
              <a:srgbClr val="1D6D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98448" y="3465576"/>
            <a:ext cx="3776472" cy="384048"/>
          </a:xfrm>
          <a:prstGeom prst="rect">
            <a:avLst/>
          </a:prstGeom>
          <a:solidFill>
            <a:srgbClr val="183B5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377440" y="3465576"/>
            <a:ext cx="1591056" cy="0"/>
          </a:xfrm>
          <a:prstGeom prst="line">
            <a:avLst/>
          </a:prstGeom>
          <a:ln w="1397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865376" y="3904487"/>
            <a:ext cx="25603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1">
                <a:solidFill>
                  <a:srgbClr val="977742"/>
                </a:solidFill>
                <a:latin typeface="Times New Roman"/>
              </a:rPr>
              <a:t>Kontakt burchagi</a:t>
            </a:r>
          </a:p>
        </p:txBody>
      </p:sp>
      <p:pic>
        <p:nvPicPr>
          <p:cNvPr id="38" name="Picture 37" descr="s13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5" y="4379976"/>
            <a:ext cx="4443984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" y="4846320"/>
            <a:ext cx="4480560" cy="57607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60" b="0">
                <a:solidFill>
                  <a:srgbClr val="536879"/>
                </a:solidFill>
                <a:latin typeface="Times New Roman"/>
              </a:rPr>
              <a:t>Sirtning suv bilan ho‘llanishi kimyoviy tarkib va kontakt burchagiga bog‘liq.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1746504"/>
            <a:ext cx="5394960" cy="42336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9904" y="1746504"/>
            <a:ext cx="50292" cy="4233672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965960"/>
            <a:ext cx="48463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>
                <a:solidFill>
                  <a:srgbClr val="1D6D75"/>
                </a:solidFill>
                <a:latin typeface="Times New Roman"/>
              </a:rPr>
              <a:t>QATTIQ–SUYUQLIK CHEGARASIDAGI ELEKTR QO‘SH QAVAT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3977639"/>
            <a:ext cx="4663440" cy="1106424"/>
          </a:xfrm>
          <a:prstGeom prst="roundRect">
            <a:avLst/>
          </a:prstGeom>
          <a:solidFill>
            <a:srgbClr val="EBF0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3145536"/>
            <a:ext cx="4663440" cy="832104"/>
          </a:xfrm>
          <a:prstGeom prst="rect">
            <a:avLst/>
          </a:prstGeom>
          <a:solidFill>
            <a:srgbClr val="E1E9E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2843784"/>
            <a:ext cx="1033271" cy="30175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2898648"/>
            <a:ext cx="86868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Times New Roman"/>
              </a:rPr>
              <a:t>MANFIY SIRT</a:t>
            </a:r>
          </a:p>
        </p:txBody>
      </p:sp>
      <p:sp>
        <p:nvSpPr>
          <p:cNvPr id="22" name="Oval 21"/>
          <p:cNvSpPr/>
          <p:nvPr/>
        </p:nvSpPr>
        <p:spPr>
          <a:xfrm>
            <a:off x="7662672" y="2880360"/>
            <a:ext cx="182880" cy="182880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936992" y="2880360"/>
            <a:ext cx="182880" cy="182880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0456" y="2880360"/>
            <a:ext cx="182880" cy="182880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68512" y="3364992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354312" y="3611880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32720" y="3282696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735056" y="3767328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75904" y="4133087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47504" y="4261104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60736" y="4480560"/>
            <a:ext cx="164592" cy="16459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2962656"/>
            <a:ext cx="160020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>
                <a:solidFill>
                  <a:srgbClr val="10283F"/>
                </a:solidFill>
                <a:latin typeface="Times New Roman"/>
              </a:rPr>
              <a:t>Stern qatlami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5984" y="3182112"/>
            <a:ext cx="178308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1">
                <a:solidFill>
                  <a:srgbClr val="10283F"/>
                </a:solidFill>
                <a:latin typeface="Times New Roman"/>
              </a:rPr>
              <a:t>tarqoq qatlam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330952"/>
            <a:ext cx="4498848" cy="41148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536879"/>
                </a:solidFill>
                <a:latin typeface="Times New Roman"/>
              </a:rPr>
              <a:t>Panet–Fayans qoidasi tarixiy yo‘riqdir; ionlarning tanlab birikishi pH, gidratlanish va sirt tarkibiga ham bog‘liq.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13 / 17</a:t>
            </a:r>
          </a:p>
        </p:txBody>
      </p:sp>
      <p:sp>
        <p:nvSpPr>
          <p:cNvPr id="40" name="TextBox 39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1" name="TextBox 40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42" name="TextBox 41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22" name="Picture 121" descr="slide_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13 / AJRATISH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600" b="1">
                <a:solidFill>
                  <a:srgbClr val="10283F"/>
                </a:solidFill>
                <a:latin typeface="Times New Roman"/>
              </a:rPr>
              <a:t>Xromatografiya moddalarning fazalararo taqsimlanish farqiga asoslanadi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Moddaning erituvchi oqimi va ustun sirtiga moyilligi uning chiqish vaqtini o‘zgartiradi.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46504"/>
            <a:ext cx="5065776" cy="43159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46504"/>
            <a:ext cx="50292" cy="4315968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65960"/>
            <a:ext cx="45262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B5674"/>
                </a:solidFill>
                <a:latin typeface="Times New Roman"/>
              </a:rPr>
              <a:t>USTUN ICHIDAGI AJRALISH (SXEMA)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16736" y="2496312"/>
            <a:ext cx="1060704" cy="2871216"/>
          </a:xfrm>
          <a:prstGeom prst="roundRect">
            <a:avLst/>
          </a:prstGeom>
          <a:solidFill>
            <a:srgbClr val="F7F9FB"/>
          </a:solidFill>
          <a:ln w="15240">
            <a:solidFill>
              <a:srgbClr val="18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2816352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38528" y="2944368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55064" y="3319272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9112" y="3593592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54480" y="3941063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947672" y="4315968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45920" y="4663440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048256" y="4992624"/>
            <a:ext cx="155448" cy="155448"/>
          </a:xfrm>
          <a:prstGeom prst="ellipse">
            <a:avLst/>
          </a:prstGeom>
          <a:solidFill>
            <a:srgbClr val="C8D8E0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591056" y="3246120"/>
            <a:ext cx="109728" cy="109728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28800" y="3310128"/>
            <a:ext cx="109728" cy="109728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36776" y="4297680"/>
            <a:ext cx="109728" cy="10972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01952" y="4325112"/>
            <a:ext cx="109728" cy="10972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64208" y="4937760"/>
            <a:ext cx="109728" cy="109728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20240" y="4965192"/>
            <a:ext cx="109728" cy="109728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1856231" y="2249424"/>
            <a:ext cx="0" cy="201168"/>
          </a:xfrm>
          <a:prstGeom prst="line">
            <a:avLst/>
          </a:prstGeom>
          <a:ln w="2032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32888" y="2743200"/>
            <a:ext cx="2487168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57D8E"/>
                </a:solidFill>
                <a:latin typeface="Times New Roman"/>
              </a:rPr>
              <a:t>C — sirtga kuchliroq birikadi
kechroq chiqadi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32888" y="3749039"/>
            <a:ext cx="2487168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7742"/>
                </a:solidFill>
                <a:latin typeface="Times New Roman"/>
              </a:rPr>
              <a:t>B — o‘rtacha ushlanadi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32888" y="4663440"/>
            <a:ext cx="2487168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D6D75"/>
                </a:solidFill>
                <a:latin typeface="Times New Roman"/>
              </a:rPr>
              <a:t>A — sirtga kuchsizroq birikadi
tezroq chiqadi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9048" y="1746504"/>
            <a:ext cx="5376672" cy="1965960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1984248"/>
            <a:ext cx="482803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ACBC6"/>
                </a:solidFill>
                <a:latin typeface="Times New Roman"/>
              </a:rPr>
              <a:t>USHLANISH OMILI</a:t>
            </a:r>
          </a:p>
        </p:txBody>
      </p:sp>
      <p:pic>
        <p:nvPicPr>
          <p:cNvPr id="121" name="Picture 120" descr="s14_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2395728"/>
            <a:ext cx="4919472" cy="5120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3035808"/>
            <a:ext cx="4773168" cy="3931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19" b="0">
                <a:solidFill>
                  <a:srgbClr val="E2E9EE"/>
                </a:solidFill>
                <a:latin typeface="Times New Roman"/>
              </a:rPr>
              <a:t>Ushlanish vaqti — komponent ustundan chiqish vaqti; o‘lik vaqt — moddaning ushlanmay o‘tish vaqti.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99048" y="3941063"/>
            <a:ext cx="5376672" cy="2121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99048" y="3941063"/>
            <a:ext cx="50292" cy="212140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3368" y="4160520"/>
            <a:ext cx="47731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77742"/>
                </a:solidFill>
                <a:latin typeface="Times New Roman"/>
              </a:rPr>
              <a:t>DETEKTOR JAVOBI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5936" y="4480560"/>
            <a:ext cx="4800600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6912864" y="5276088"/>
            <a:ext cx="403250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00800" y="5193792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912864" y="4992624"/>
            <a:ext cx="403250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0800" y="4910328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0.5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912864" y="4709160"/>
            <a:ext cx="4032504" cy="0"/>
          </a:xfrm>
          <a:prstGeom prst="line">
            <a:avLst/>
          </a:prstGeom>
          <a:ln w="8255">
            <a:solidFill>
              <a:srgbClr val="E6EC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00800" y="4626864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69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912864" y="4709160"/>
            <a:ext cx="0" cy="566928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912864" y="5276088"/>
            <a:ext cx="4032504" cy="0"/>
          </a:xfrm>
          <a:prstGeom prst="line">
            <a:avLst/>
          </a:prstGeom>
          <a:ln w="14604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912864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675120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0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0990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3246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929116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691372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937242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699498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3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945368" y="5276088"/>
            <a:ext cx="0" cy="41148"/>
          </a:xfrm>
          <a:prstGeom prst="line">
            <a:avLst/>
          </a:prstGeom>
          <a:ln w="889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707624" y="5349240"/>
            <a:ext cx="475488" cy="17373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60" b="0" i="0" u="none">
                <a:solidFill>
                  <a:srgbClr val="536879"/>
                </a:solidFill>
                <a:latin typeface="Times New Roman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04304" y="5513832"/>
            <a:ext cx="4480560" cy="1463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19" b="0" i="0" u="none">
                <a:solidFill>
                  <a:srgbClr val="536879"/>
                </a:solidFill>
                <a:latin typeface="Times New Roman"/>
              </a:rPr>
              <a:t>Vaqt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06440" y="4690872"/>
            <a:ext cx="502920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>
                <a:solidFill>
                  <a:srgbClr val="536879"/>
                </a:solidFill>
                <a:latin typeface="Times New Roman"/>
              </a:rPr>
              <a:t>Javob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6912864" y="5276086"/>
            <a:ext cx="68347" cy="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6981211" y="5276083"/>
            <a:ext cx="68348" cy="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049559" y="5276074"/>
            <a:ext cx="68347" cy="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117906" y="5276049"/>
            <a:ext cx="68348" cy="2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186254" y="5275982"/>
            <a:ext cx="68347" cy="6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254601" y="5275813"/>
            <a:ext cx="68348" cy="16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322949" y="5275413"/>
            <a:ext cx="68347" cy="40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391296" y="5274526"/>
            <a:ext cx="68348" cy="88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459644" y="5272676"/>
            <a:ext cx="68347" cy="185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7527991" y="5269058"/>
            <a:ext cx="68348" cy="361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596339" y="5262429"/>
            <a:ext cx="68347" cy="662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7664686" y="5251059"/>
            <a:ext cx="68348" cy="1137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7733034" y="5232837"/>
            <a:ext cx="68347" cy="1822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7801381" y="5205604"/>
            <a:ext cx="68348" cy="2723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7869729" y="5167764"/>
            <a:ext cx="68347" cy="3784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938076" y="5119088"/>
            <a:ext cx="68348" cy="48676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8006424" y="5061493"/>
            <a:ext cx="68347" cy="5759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8074771" y="4999465"/>
            <a:ext cx="68348" cy="6202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143119" y="4939800"/>
            <a:ext cx="68347" cy="5966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8211466" y="4890513"/>
            <a:ext cx="68348" cy="4928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8279814" y="4859107"/>
            <a:ext cx="68348" cy="31406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8348162" y="4850676"/>
            <a:ext cx="68347" cy="843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416509" y="4850676"/>
            <a:ext cx="68348" cy="1581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484857" y="4866495"/>
            <a:ext cx="68347" cy="3711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553204" y="4903606"/>
            <a:ext cx="68348" cy="5195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8621552" y="4955556"/>
            <a:ext cx="68347" cy="5843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8689899" y="5013995"/>
            <a:ext cx="68348" cy="5654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758247" y="5070543"/>
            <a:ext cx="68347" cy="47784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8826594" y="5118327"/>
            <a:ext cx="68348" cy="34476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8894942" y="5152803"/>
            <a:ext cx="68347" cy="1901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963289" y="5171816"/>
            <a:ext cx="68348" cy="332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9031637" y="5163854"/>
            <a:ext cx="68347" cy="11289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9099984" y="5139791"/>
            <a:ext cx="68348" cy="2406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168332" y="5105287"/>
            <a:ext cx="68347" cy="34504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236679" y="5063114"/>
            <a:ext cx="68348" cy="4217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9305027" y="5016526"/>
            <a:ext cx="68347" cy="4658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9373374" y="4969256"/>
            <a:ext cx="68348" cy="4727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9441722" y="4925361"/>
            <a:ext cx="68347" cy="4389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9510069" y="4888889"/>
            <a:ext cx="68348" cy="3647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9578417" y="4863418"/>
            <a:ext cx="68348" cy="2547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9646765" y="4851561"/>
            <a:ext cx="68347" cy="1185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715112" y="4851561"/>
            <a:ext cx="68348" cy="3006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783460" y="4854567"/>
            <a:ext cx="68347" cy="1756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9851807" y="4872132"/>
            <a:ext cx="68348" cy="3032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920155" y="4902453"/>
            <a:ext cx="68347" cy="4008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988502" y="4942540"/>
            <a:ext cx="68348" cy="4616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0056850" y="4988701"/>
            <a:ext cx="68347" cy="4840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0125197" y="5037101"/>
            <a:ext cx="68348" cy="47174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0193545" y="5084275"/>
            <a:ext cx="68347" cy="43227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261892" y="5127502"/>
            <a:ext cx="68348" cy="37495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10330240" y="5164997"/>
            <a:ext cx="68347" cy="3092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0398587" y="5195925"/>
            <a:ext cx="68348" cy="24333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466935" y="5220258"/>
            <a:ext cx="68347" cy="1830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535282" y="5238560"/>
            <a:ext cx="68348" cy="1318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603630" y="5251741"/>
            <a:ext cx="68347" cy="9101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671977" y="5260842"/>
            <a:ext cx="68348" cy="603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740325" y="5266874"/>
            <a:ext cx="68347" cy="3840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808672" y="5270714"/>
            <a:ext cx="68348" cy="2348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877020" y="5273062"/>
            <a:ext cx="68348" cy="1382"/>
          </a:xfrm>
          <a:prstGeom prst="line">
            <a:avLst/>
          </a:prstGeom>
          <a:ln w="2413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6519672" y="5852160"/>
            <a:ext cx="4434840" cy="1463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80" b="0">
                <a:solidFill>
                  <a:srgbClr val="536879"/>
                </a:solidFill>
                <a:latin typeface="Times New Roman"/>
              </a:rPr>
              <a:t>Chiqish tartibi moddalarning ikki fazaga moyilligiga bog‘liq.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14 / 17</a:t>
            </a:r>
          </a:p>
        </p:txBody>
      </p:sp>
      <p:pic>
        <p:nvPicPr>
          <p:cNvPr id="119" name="Picture 118" descr="chromatography_column.png"/>
          <p:cNvPicPr>
            <a:picLocks noChangeAspect="1"/>
          </p:cNvPicPr>
          <p:nvPr/>
        </p:nvPicPr>
        <p:blipFill>
          <a:blip r:embed="rId2"/>
          <a:srcRect l="11525" r="11525"/>
          <a:stretch>
            <a:fillRect/>
          </a:stretch>
        </p:blipFill>
        <p:spPr>
          <a:xfrm>
            <a:off x="1179576" y="2487168"/>
            <a:ext cx="1225296" cy="2852928"/>
          </a:xfrm>
          <a:prstGeom prst="rect">
            <a:avLst/>
          </a:prstGeom>
          <a:ln>
            <a:solidFill/>
          </a:ln>
        </p:spPr>
      </p:pic>
      <p:sp>
        <p:nvSpPr>
          <p:cNvPr id="120" name="Rectangle 119"/>
          <p:cNvSpPr/>
          <p:nvPr/>
        </p:nvSpPr>
        <p:spPr>
          <a:xfrm>
            <a:off x="1179576" y="2487168"/>
            <a:ext cx="1225296" cy="2852928"/>
          </a:xfrm>
          <a:prstGeom prst="rect">
            <a:avLst/>
          </a:prstGeom>
          <a:noFill/>
          <a:ln w="1143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>
            <a:hlinkClick action="ppaction://hlinksldjump" r:id="rId5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124" name="TextBox 123">
            <a:hlinkClick action="ppaction://hlinksldjump" r:id="rId6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125" name="TextBox 124">
            <a:hlinkClick action="ppaction://hlinksldjump" r:id="rId7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3" name="Picture 52" descr="slide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14 / METODIKA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Ishonchli izoterma uchun tajriba shart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Harorat, pH, muvozanat vaqti, takrorlar soni hamda o‘lchash usulini oldindan belgilang.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1929384"/>
            <a:ext cx="384048" cy="384048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11679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53896" y="1874519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53896" y="1874519"/>
            <a:ext cx="50292" cy="594360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4208" y="1965960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TIZIMNI TANLANG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965960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Yutuvchi jism, yutiluvchi modda va erituvchini belgilang; pH, harorat, tuz miqdorini qayd eting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78992" y="2331720"/>
            <a:ext cx="0" cy="265176"/>
          </a:xfrm>
          <a:prstGeom prst="line">
            <a:avLst/>
          </a:prstGeom>
          <a:ln w="13970">
            <a:solidFill>
              <a:srgbClr val="BC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86968" y="2679191"/>
            <a:ext cx="384048" cy="384048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761487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53896" y="2624327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2624327"/>
            <a:ext cx="50292" cy="59436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4208" y="2715768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MUVOZANATNI TEKSHIRING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715768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Konsentratsiya vaqt o‘tishi bilan o‘zgarmasligini tekshiring; nazorat namunasi qo‘ying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78992" y="3081527"/>
            <a:ext cx="0" cy="265176"/>
          </a:xfrm>
          <a:prstGeom prst="line">
            <a:avLst/>
          </a:prstGeom>
          <a:ln w="13970">
            <a:solidFill>
              <a:srgbClr val="BC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86968" y="3428999"/>
            <a:ext cx="384048" cy="384048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3511295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3896" y="3374135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53896" y="3374135"/>
            <a:ext cx="50292" cy="594360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64208" y="3465575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 i="0" u="none">
                <a:solidFill>
                  <a:srgbClr val="10283F"/>
                </a:solidFill>
                <a:latin typeface="Times New Roman"/>
              </a:rPr>
              <a:t>MASSA BALANSI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3465575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30" b="0">
                <a:solidFill>
                  <a:srgbClr val="536879"/>
                </a:solidFill>
                <a:latin typeface="Times New Roman"/>
              </a:rPr>
              <a:t>Yutilgan miqdorni massa balansidan hisoblang; birliklarni aniq ko‘rsating.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78992" y="3831335"/>
            <a:ext cx="0" cy="265176"/>
          </a:xfrm>
          <a:prstGeom prst="line">
            <a:avLst/>
          </a:prstGeom>
          <a:ln w="13970">
            <a:solidFill>
              <a:srgbClr val="BC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886968" y="4178807"/>
            <a:ext cx="384048" cy="384048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261104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53896" y="4123944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53896" y="4123944"/>
            <a:ext cx="50292" cy="594360"/>
          </a:xfrm>
          <a:prstGeom prst="rect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4215383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MODELNI TANLANG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4215383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Tenglamani o‘lchovlarga moslang; qoldiq va noaniqlikni tekshiring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78992" y="4581144"/>
            <a:ext cx="0" cy="265176"/>
          </a:xfrm>
          <a:prstGeom prst="line">
            <a:avLst/>
          </a:prstGeom>
          <a:ln w="13970">
            <a:solidFill>
              <a:srgbClr val="BC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886968" y="4928616"/>
            <a:ext cx="384048" cy="384048"/>
          </a:xfrm>
          <a:prstGeom prst="ellipse">
            <a:avLst/>
          </a:prstGeom>
          <a:solidFill>
            <a:srgbClr val="183B5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010912"/>
            <a:ext cx="384048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53896" y="4873752"/>
            <a:ext cx="594360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53896" y="4873752"/>
            <a:ext cx="50292" cy="594360"/>
          </a:xfrm>
          <a:prstGeom prst="rect">
            <a:avLst/>
          </a:prstGeom>
          <a:solidFill>
            <a:srgbClr val="183B5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64208" y="4965192"/>
            <a:ext cx="187451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" b="1">
                <a:solidFill>
                  <a:srgbClr val="10283F"/>
                </a:solidFill>
                <a:latin typeface="Times New Roman"/>
              </a:rPr>
              <a:t>MUSTAQIL TEKSHIRUV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4965192"/>
            <a:ext cx="3675887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36879"/>
                </a:solidFill>
                <a:latin typeface="Times New Roman"/>
              </a:rPr>
              <a:t>Takroriy tajriba va boshqa sharoitda tekshirish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4968" y="1865376"/>
            <a:ext cx="3694176" cy="1965960"/>
          </a:xfrm>
          <a:prstGeom prst="roundRect">
            <a:avLst/>
          </a:prstGeom>
          <a:solidFill>
            <a:srgbClr val="EFF3F6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44968" y="1865376"/>
            <a:ext cx="50292" cy="1965960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2084831"/>
            <a:ext cx="3182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2B5674"/>
                </a:solidFill>
                <a:latin typeface="Times New Roman"/>
              </a:rPr>
              <a:t>DAVRIY TAJRIBA UCHUN</a:t>
            </a:r>
          </a:p>
        </p:txBody>
      </p:sp>
      <p:pic>
        <p:nvPicPr>
          <p:cNvPr id="52" name="Picture 51" descr="s15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68" y="2505456"/>
            <a:ext cx="3218688" cy="44805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01000" y="3127248"/>
            <a:ext cx="3145536" cy="4297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40" b="0">
                <a:solidFill>
                  <a:srgbClr val="536879"/>
                </a:solidFill>
                <a:latin typeface="Times New Roman"/>
              </a:rPr>
              <a:t>Yutilgan modda miqdorini adsorbent massasiga nisbatan ifodalang; nazorat namunasi va hajm o‘zgarishini hisobga oling.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44968" y="4041648"/>
            <a:ext cx="3694176" cy="1764792"/>
          </a:xfrm>
          <a:prstGeom prst="roundRect">
            <a:avLst/>
          </a:prstGeom>
          <a:solidFill>
            <a:srgbClr val="F3F5F7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44968" y="4041648"/>
            <a:ext cx="50292" cy="176479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01000" y="4261104"/>
            <a:ext cx="3182112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977742"/>
                </a:solidFill>
                <a:latin typeface="Times New Roman"/>
              </a:rPr>
              <a:t>NATIJANI HISOBOT QILISH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4626864"/>
            <a:ext cx="3145536" cy="9326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19" b="0">
                <a:solidFill>
                  <a:srgbClr val="172B3A"/>
                </a:solidFill>
                <a:latin typeface="Times New Roman"/>
              </a:rPr>
              <a:t>•  dastlabki o‘lchovlar va birliklar
•  takrorlar soni, o‘rtacha qiymat va tarqalish
•  qoldiq va ishonch oralig‘i
•  muvozanat va tezlikni ajrating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15 / 17</a:t>
            </a:r>
          </a:p>
        </p:txBody>
      </p:sp>
      <p:sp>
        <p:nvSpPr>
          <p:cNvPr id="54" name="TextBox 53">
            <a:hlinkClick action="ppaction://hlinksldjump" r:id="rId4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55" name="TextBox 54">
            <a:hlinkClick action="ppaction://hlinksldjump" r:id="rId5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56" name="TextBox 55">
            <a:hlinkClick action="ppaction://hlinksldjump" r:id="rId6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48" name="Picture 47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15 / QO‘LLANISH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Adsorbsiya amalda: suv, gaz va kataliz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536879"/>
                </a:solidFill>
                <a:latin typeface="Times New Roman"/>
              </a:rPr>
              <a:t>Natija yutilish sig‘imidan tashqari tanlab yutish, tezlik, qayta tiklash va raqobatdosh moddalarga ham bog‘liq.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47088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47088"/>
            <a:ext cx="50292" cy="1627632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2093976"/>
            <a:ext cx="420624" cy="420624"/>
          </a:xfrm>
          <a:prstGeom prst="ellipse">
            <a:avLst/>
          </a:prstGeom>
          <a:solidFill>
            <a:srgbClr val="EFF3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78992" y="2194560"/>
            <a:ext cx="0" cy="219456"/>
          </a:xfrm>
          <a:prstGeom prst="line">
            <a:avLst/>
          </a:prstGeom>
          <a:ln w="2286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8720" y="2194560"/>
            <a:ext cx="0" cy="219456"/>
          </a:xfrm>
          <a:prstGeom prst="line">
            <a:avLst/>
          </a:prstGeom>
          <a:ln w="2286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527048" y="2130552"/>
            <a:ext cx="40873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B5674"/>
                </a:solidFill>
                <a:latin typeface="Times New Roman"/>
              </a:rPr>
              <a:t>SUVNI TOZALASH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450592"/>
            <a:ext cx="4041648" cy="557784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Faollashtirilgan ko‘mir va boshqa yutuvchilar suvdagi bo‘yoq, organik moddalar yoki ionlarni ushlaydi.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27048" y="3072384"/>
            <a:ext cx="2267712" cy="283464"/>
          </a:xfrm>
          <a:prstGeom prst="roundRect">
            <a:avLst/>
          </a:prstGeom>
          <a:solidFill>
            <a:srgbClr val="EFF3F6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63624" y="3086100"/>
            <a:ext cx="219456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2B5674"/>
                </a:solidFill>
                <a:latin typeface="Times New Roman"/>
              </a:rPr>
              <a:t>Raqobatdosh moddalar + qayta tiklash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50292" cy="1627632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55664" y="2093976"/>
            <a:ext cx="420624" cy="420624"/>
          </a:xfrm>
          <a:prstGeom prst="ellipse">
            <a:avLst/>
          </a:prstGeom>
          <a:solidFill>
            <a:srgbClr val="EDF4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47104" y="2231136"/>
            <a:ext cx="91440" cy="91440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47688" y="2231136"/>
            <a:ext cx="91440" cy="91440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748272" y="2231136"/>
            <a:ext cx="91440" cy="91440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31736" y="2130552"/>
            <a:ext cx="40873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GAZ VA HAVO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1736" y="2450592"/>
            <a:ext cx="4041648" cy="557784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Molekulyar elak va g‘ovak uglerod gazni quritish hamda ajratishda ishlatiladi.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31736" y="3072384"/>
            <a:ext cx="2267712" cy="283464"/>
          </a:xfrm>
          <a:prstGeom prst="roundRect">
            <a:avLst/>
          </a:prstGeom>
          <a:solidFill>
            <a:srgbClr val="EDF4F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68312" y="3086100"/>
            <a:ext cx="219456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1D6D75"/>
                </a:solidFill>
                <a:latin typeface="Times New Roman"/>
              </a:rPr>
              <a:t>Namlik + foydalanish muddati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785616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785616"/>
            <a:ext cx="50292" cy="1627632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0976" y="4032504"/>
            <a:ext cx="420624" cy="420624"/>
          </a:xfrm>
          <a:prstGeom prst="ellipse">
            <a:avLst/>
          </a:prstGeom>
          <a:solidFill>
            <a:srgbClr val="F3F5F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51560" y="4133088"/>
            <a:ext cx="164592" cy="164592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197864" y="4215384"/>
            <a:ext cx="73152" cy="0"/>
          </a:xfrm>
          <a:prstGeom prst="line">
            <a:avLst/>
          </a:prstGeom>
          <a:ln w="20320">
            <a:solidFill>
              <a:srgbClr val="183B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527048" y="4069080"/>
            <a:ext cx="40873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977742"/>
                </a:solidFill>
                <a:latin typeface="Times New Roman"/>
              </a:rPr>
              <a:t>KATALIZ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7048" y="4389120"/>
            <a:ext cx="4041648" cy="557784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Reaksiyaga kirishuvchi moddaning katalizator sirtiga birikishi katalitik jarayonning muhim bosqichidir.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27048" y="5010912"/>
            <a:ext cx="2267712" cy="283464"/>
          </a:xfrm>
          <a:prstGeom prst="roundRect">
            <a:avLst/>
          </a:prstGeom>
          <a:solidFill>
            <a:srgbClr val="F3F5F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63624" y="5024628"/>
            <a:ext cx="219456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977742"/>
                </a:solidFill>
                <a:latin typeface="Times New Roman"/>
              </a:rPr>
              <a:t>Faol markazlar + reaksiya tezligi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785616"/>
            <a:ext cx="5193792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785616"/>
            <a:ext cx="50292" cy="1627632"/>
          </a:xfrm>
          <a:prstGeom prst="rect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55664" y="4032504"/>
            <a:ext cx="420624" cy="420624"/>
          </a:xfrm>
          <a:prstGeom prst="ellipse">
            <a:avLst/>
          </a:prstGeom>
          <a:solidFill>
            <a:srgbClr val="F1F3F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74536" y="4133088"/>
            <a:ext cx="192024" cy="192024"/>
          </a:xfrm>
          <a:prstGeom prst="ellipse">
            <a:avLst/>
          </a:prstGeom>
          <a:solidFill>
            <a:srgbClr val="657D8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670548" y="4325112"/>
            <a:ext cx="96011" cy="82296"/>
          </a:xfrm>
          <a:prstGeom prst="line">
            <a:avLst/>
          </a:prstGeom>
          <a:ln w="20320">
            <a:solidFill>
              <a:srgbClr val="657D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031736" y="4069080"/>
            <a:ext cx="4087368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657D8E"/>
                </a:solidFill>
                <a:latin typeface="Times New Roman"/>
              </a:rPr>
              <a:t>TIBBIYOTDA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1736" y="4389120"/>
            <a:ext cx="4041648" cy="557784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070" b="0">
                <a:solidFill>
                  <a:srgbClr val="172B3A"/>
                </a:solidFill>
                <a:latin typeface="Times New Roman"/>
              </a:rPr>
              <a:t>Ayrim yutuvchilar faqat aniq tibbiy ko‘rsatma va mutaxassis nazorati ostida qo‘llanadi.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31736" y="5010912"/>
            <a:ext cx="2267712" cy="283464"/>
          </a:xfrm>
          <a:prstGeom prst="roundRect">
            <a:avLst/>
          </a:prstGeom>
          <a:solidFill>
            <a:srgbClr val="F1F3F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68312" y="5024628"/>
            <a:ext cx="2194560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>
                <a:solidFill>
                  <a:srgbClr val="657D8E"/>
                </a:solidFill>
                <a:latin typeface="Times New Roman"/>
              </a:rPr>
              <a:t>Shifokor nazorati zarur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49808" y="5852160"/>
            <a:ext cx="10634472" cy="320040"/>
          </a:xfrm>
          <a:prstGeom prst="roundRect">
            <a:avLst/>
          </a:prstGeom>
          <a:solidFill>
            <a:srgbClr val="F3F5F7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934456"/>
            <a:ext cx="10222992" cy="14630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1">
                <a:solidFill>
                  <a:srgbClr val="172B3A"/>
                </a:solidFill>
                <a:latin typeface="Times New Roman"/>
              </a:rPr>
              <a:t>Ko‘p yutish doim ham yaxshi natija emas: tanlab yutish, yutuvchini qayta ishlatish va chiqindini boshqarish ham muhim.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16 / 17</a:t>
            </a:r>
          </a:p>
        </p:txBody>
      </p:sp>
      <p:sp>
        <p:nvSpPr>
          <p:cNvPr id="49" name="TextBox 48">
            <a:hlinkClick action="ppaction://hlinksldjump" r:id="rId3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50" name="TextBox 49">
            <a:hlinkClick action="ppaction://hlinksldjump" r:id="rId4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51" name="TextBox 50">
            <a:hlinkClick action="ppaction://hlinksldjump" r:id="rId5"/>
          </p:cNvPr>
          <p:cNvSpPr txBox="1"/>
          <p:nvPr/>
        </p:nvSpPr>
        <p:spPr>
          <a:xfrm>
            <a:off x="9491472" y="653796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1" name="Picture 30" descr="slide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228600"/>
            <a:ext cx="5029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16 / ILMIY XULOSA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521207"/>
            <a:ext cx="438912" cy="41148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30936"/>
            <a:ext cx="11018520" cy="493776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2700" b="1">
                <a:solidFill>
                  <a:srgbClr val="10283F"/>
                </a:solidFill>
                <a:latin typeface="Times New Roman"/>
              </a:rPr>
              <a:t>Yakun: uchta ilmiy qoida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" y="1152144"/>
            <a:ext cx="10972800" cy="283464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536879"/>
                </a:solidFill>
                <a:latin typeface="Times New Roman"/>
              </a:rPr>
              <a:t>Kartani bosing — shu qoida batafsil tushuntirilgan slaydga qayting.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722376" y="1828800"/>
            <a:ext cx="3456432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2"/>
          </p:cNvPr>
          <p:cNvSpPr/>
          <p:nvPr/>
        </p:nvSpPr>
        <p:spPr>
          <a:xfrm>
            <a:off x="722376" y="1828800"/>
            <a:ext cx="50292" cy="2240280"/>
          </a:xfrm>
          <a:prstGeom prst="rect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>
            <a:hlinkClick action="ppaction://hlinksldjump" r:id="rId2"/>
          </p:cNvPr>
          <p:cNvSpPr/>
          <p:nvPr/>
        </p:nvSpPr>
        <p:spPr>
          <a:xfrm>
            <a:off x="950976" y="2057400"/>
            <a:ext cx="438912" cy="438912"/>
          </a:xfrm>
          <a:prstGeom prst="ellipse">
            <a:avLst/>
          </a:prstGeom>
          <a:solidFill>
            <a:srgbClr val="2B5674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950976" y="214884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1545336" y="2121408"/>
            <a:ext cx="23317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>
                <a:solidFill>
                  <a:srgbClr val="2B5674"/>
                </a:solidFill>
                <a:latin typeface="Times New Roman"/>
              </a:rPr>
              <a:t>SIRT ENERGIYASI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78408" y="2761488"/>
            <a:ext cx="292608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>
                <a:solidFill>
                  <a:srgbClr val="172B3A"/>
                </a:solidFill>
                <a:latin typeface="Times New Roman"/>
              </a:rPr>
              <a:t>Sirt tarangligi yangi sirt hosil qilish ishini ko‘rsatadi; Gibbs ortiqchasi esa chegarada modda ko‘payganini bildiradi.</a:t>
            </a:r>
          </a:p>
        </p:txBody>
      </p:sp>
      <p:sp>
        <p:nvSpPr>
          <p:cNvPr id="12" name="Rounded Rectangle 11">
            <a:hlinkClick action="ppaction://hlinksldjump" r:id="rId3"/>
          </p:cNvPr>
          <p:cNvSpPr/>
          <p:nvPr/>
        </p:nvSpPr>
        <p:spPr>
          <a:xfrm>
            <a:off x="4398264" y="1828800"/>
            <a:ext cx="3456432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action="ppaction://hlinksldjump" r:id="rId3"/>
          </p:cNvPr>
          <p:cNvSpPr/>
          <p:nvPr/>
        </p:nvSpPr>
        <p:spPr>
          <a:xfrm>
            <a:off x="4398264" y="1828800"/>
            <a:ext cx="50292" cy="2240280"/>
          </a:xfrm>
          <a:prstGeom prst="rect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>
            <a:hlinkClick action="ppaction://hlinksldjump" r:id="rId3"/>
          </p:cNvPr>
          <p:cNvSpPr/>
          <p:nvPr/>
        </p:nvSpPr>
        <p:spPr>
          <a:xfrm>
            <a:off x="4626864" y="2057400"/>
            <a:ext cx="438912" cy="438912"/>
          </a:xfrm>
          <a:prstGeom prst="ellipse">
            <a:avLst/>
          </a:prstGeom>
          <a:solidFill>
            <a:srgbClr val="1D6D7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action="ppaction://hlinksldjump" r:id="rId3"/>
          </p:cNvPr>
          <p:cNvSpPr txBox="1"/>
          <p:nvPr/>
        </p:nvSpPr>
        <p:spPr>
          <a:xfrm>
            <a:off x="4626864" y="214884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6" name="TextBox 15">
            <a:hlinkClick action="ppaction://hlinksldjump" r:id="rId3"/>
          </p:cNvPr>
          <p:cNvSpPr txBox="1"/>
          <p:nvPr/>
        </p:nvSpPr>
        <p:spPr>
          <a:xfrm>
            <a:off x="5221224" y="2121408"/>
            <a:ext cx="23317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>
                <a:solidFill>
                  <a:srgbClr val="1D6D75"/>
                </a:solidFill>
                <a:latin typeface="Times New Roman"/>
              </a:rPr>
              <a:t>MODEL CHEGARASI</a:t>
            </a:r>
          </a:p>
        </p:txBody>
      </p:sp>
      <p:sp>
        <p:nvSpPr>
          <p:cNvPr id="17" name="TextBox 16">
            <a:hlinkClick action="ppaction://hlinksldjump" r:id="rId3"/>
          </p:cNvPr>
          <p:cNvSpPr txBox="1"/>
          <p:nvPr/>
        </p:nvSpPr>
        <p:spPr>
          <a:xfrm>
            <a:off x="4654296" y="2761488"/>
            <a:ext cx="292608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>
                <a:solidFill>
                  <a:srgbClr val="172B3A"/>
                </a:solidFill>
                <a:latin typeface="Times New Roman"/>
              </a:rPr>
              <a:t>Langmuir, Freundlich va BET turli shartlarga asoslanadi. Yaxshi moslikning o‘zi mexanizmni isbotlamaydi.</a:t>
            </a:r>
          </a:p>
        </p:txBody>
      </p:sp>
      <p:sp>
        <p:nvSpPr>
          <p:cNvPr id="18" name="Rounded Rectangle 17">
            <a:hlinkClick action="ppaction://hlinksldjump" r:id="rId4"/>
          </p:cNvPr>
          <p:cNvSpPr/>
          <p:nvPr/>
        </p:nvSpPr>
        <p:spPr>
          <a:xfrm>
            <a:off x="8074151" y="1828800"/>
            <a:ext cx="3456432" cy="22402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action="ppaction://hlinksldjump" r:id="rId4"/>
          </p:cNvPr>
          <p:cNvSpPr/>
          <p:nvPr/>
        </p:nvSpPr>
        <p:spPr>
          <a:xfrm>
            <a:off x="8074151" y="1828800"/>
            <a:ext cx="50292" cy="2240280"/>
          </a:xfrm>
          <a:prstGeom prst="rect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>
            <a:hlinkClick action="ppaction://hlinksldjump" r:id="rId4"/>
          </p:cNvPr>
          <p:cNvSpPr/>
          <p:nvPr/>
        </p:nvSpPr>
        <p:spPr>
          <a:xfrm>
            <a:off x="8302751" y="2057400"/>
            <a:ext cx="438912" cy="438912"/>
          </a:xfrm>
          <a:prstGeom prst="ellipse">
            <a:avLst/>
          </a:prstGeom>
          <a:solidFill>
            <a:srgbClr val="97774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>
            <a:hlinkClick action="ppaction://hlinksldjump" r:id="rId4"/>
          </p:cNvPr>
          <p:cNvSpPr txBox="1"/>
          <p:nvPr/>
        </p:nvSpPr>
        <p:spPr>
          <a:xfrm>
            <a:off x="8302751" y="2148840"/>
            <a:ext cx="438912" cy="164592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22" name="TextBox 21">
            <a:hlinkClick action="ppaction://hlinksldjump" r:id="rId4"/>
          </p:cNvPr>
          <p:cNvSpPr txBox="1"/>
          <p:nvPr/>
        </p:nvSpPr>
        <p:spPr>
          <a:xfrm>
            <a:off x="8897111" y="2121408"/>
            <a:ext cx="233172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>
                <a:solidFill>
                  <a:srgbClr val="977742"/>
                </a:solidFill>
                <a:latin typeface="Times New Roman"/>
              </a:rPr>
              <a:t>ISHONCHLI DALIL</a:t>
            </a:r>
          </a:p>
        </p:txBody>
      </p:sp>
      <p:sp>
        <p:nvSpPr>
          <p:cNvPr id="23" name="TextBox 22">
            <a:hlinkClick action="ppaction://hlinksldjump" r:id="rId4"/>
          </p:cNvPr>
          <p:cNvSpPr txBox="1"/>
          <p:nvPr/>
        </p:nvSpPr>
        <p:spPr>
          <a:xfrm>
            <a:off x="8330183" y="2761488"/>
            <a:ext cx="2926080" cy="914400"/>
          </a:xfrm>
          <a:prstGeom prst="rect">
            <a:avLst/>
          </a:prstGeom>
          <a:noFill/>
          <a:ln>
            <a:solidFill/>
          </a:ln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10" b="0">
                <a:solidFill>
                  <a:srgbClr val="172B3A"/>
                </a:solidFill>
                <a:latin typeface="Times New Roman"/>
              </a:rPr>
              <a:t>Muvozanat, birlik, takror, o‘lchov xatosi va qayta tekshiruvni ko‘rsatmasdan sig‘im haqida qat’iy xulosa qilib bo‘lmaydi.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407408"/>
            <a:ext cx="10762488" cy="1417320"/>
          </a:xfrm>
          <a:prstGeom prst="roundRect">
            <a:avLst/>
          </a:prstGeom>
          <a:solidFill>
            <a:srgbClr val="10283F"/>
          </a:solidFill>
          <a:ln w="1016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608576"/>
            <a:ext cx="20574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9ACBC6"/>
                </a:solidFill>
                <a:latin typeface="Times New Roman"/>
              </a:rPr>
              <a:t>ESLAB QOLING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983480"/>
            <a:ext cx="10003536" cy="566928"/>
          </a:xfrm>
          <a:prstGeom prst="rect">
            <a:avLst/>
          </a:prstGeom>
          <a:noFill/>
          <a:ln>
            <a:solidFill/>
          </a:ln>
        </p:spPr>
        <p:txBody>
          <a:bodyPr wrap="square" lIns="9144" rIns="9144" tIns="9144" bIns="9144" anchor="t">
            <a:spAutoFit/>
          </a:bodyPr>
          <a:lstStyle/>
          <a:p>
            <a:pPr algn="l"/>
            <a:r>
              <a:rPr sz="1220" b="0">
                <a:solidFill>
                  <a:srgbClr val="FFFFFF"/>
                </a:solidFill>
                <a:latin typeface="Times New Roman"/>
              </a:rPr>
              <a:t>Sirt xossasini aniq o‘lchang → mos adsorbsiya modelini tanlang → o‘lchov xatosini tekshiring → xulosani faqat dalil ko‘rsatgan doirada bering.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6089904"/>
            <a:ext cx="1014984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69" b="0">
                <a:solidFill>
                  <a:srgbClr val="536879"/>
                </a:solidFill>
                <a:latin typeface="Times New Roman"/>
              </a:rPr>
              <a:t>Taqdimot yakuni: har bir ilmiy xulosa o‘lchov va manba bilan asoslanishi kerak.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519672"/>
            <a:ext cx="11064240" cy="0"/>
          </a:xfrm>
          <a:prstGeom prst="line">
            <a:avLst/>
          </a:prstGeom>
          <a:ln w="9525">
            <a:solidFill>
              <a:srgbClr val="D8E2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018520" y="6547104"/>
            <a:ext cx="59436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36879"/>
                </a:solidFill>
                <a:latin typeface="Times New Roman"/>
              </a:rPr>
              <a:t>17 / 17</a:t>
            </a:r>
          </a:p>
        </p:txBody>
      </p:sp>
      <p:sp>
        <p:nvSpPr>
          <p:cNvPr id="32" name="TextBox 31">
            <a:hlinkClick action="ppaction://hlinksldjump" r:id="rId6"/>
          </p:cNvPr>
          <p:cNvSpPr txBox="1"/>
          <p:nvPr/>
        </p:nvSpPr>
        <p:spPr>
          <a:xfrm>
            <a:off x="621792" y="6537960"/>
            <a:ext cx="129844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33" name="TextBox 32">
            <a:hlinkClick action="ppaction://hlinksldjump" r:id="rId7"/>
          </p:cNvPr>
          <p:cNvSpPr txBox="1"/>
          <p:nvPr/>
        </p:nvSpPr>
        <p:spPr>
          <a:xfrm>
            <a:off x="5212080" y="6537960"/>
            <a:ext cx="1691640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0283F"/>
                </a:solidFill>
                <a:latin typeface="Times New Roman"/>
              </a:rPr>
              <a:t>MUNDARIJA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418320" y="6537960"/>
            <a:ext cx="1481328" cy="20116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>
            <a:spAutoFit/>
          </a:bodyPr>
          <a:lstStyle/>
          <a:p>
            <a:pPr algn="ctr"/>
            <a:r>
              <a:rPr sz="830" b="1" u="sng">
                <a:solidFill>
                  <a:srgbClr val="1D6D75"/>
                </a:solidFill>
                <a:latin typeface="Times New Roman"/>
              </a:rPr>
              <a:t>BOSH SAHIFA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Sirt hodisalari va adsorbsiya — ilmiy sharh</dc:title>
  <dc:subject>Kolloid kimyo: sirt termodinamikasi, adsorbsiya izotermalari, BET va g‘ovaklar</dc:subject>
  <dc:creator>Muallif: tahrir uchun to‘ldiring</dc:creator>
  <cp:keywords>adsorbsiya, Gibbs, Langmuir, Freundlich, BET, sirt hodisalari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